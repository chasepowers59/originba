
<file path=[Content_Types].xml><?xml version="1.0" encoding="utf-8"?>
<Types xmlns="http://schemas.openxmlformats.org/package/2006/content-types">
  <Default Extension="jpg" ContentType="image/jpeg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2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</p:sldIdLst>
  <p:sldSz cx="20104100" cy="11309350"/>
  <p:notesSz cx="20104100" cy="11309350"/>
  <p:embeddedFontLst>
    <p:embeddedFont>
      <p:font typeface="Delight Medium" panose="020B0604020202020204" charset="0"/>
      <p:regular r:id="rId12"/>
      <p:bold r:id="rId13"/>
    </p:embeddedFont>
    <p:embeddedFont>
      <p:font typeface="Delight Regular" panose="020B0604020202020204" charset="0"/>
      <p:regular r:id="rId14"/>
    </p:embeddedFont>
    <p:embeddedFont>
      <p:font typeface="Delight Semi Bold" panose="020B0604020202020204" charset="0"/>
      <p:regular r:id="rId15"/>
      <p:bold r:id="rId16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ECA242-63C1-4819-718C-03DD82C4675D}" name="Matthew Chaump" initials="MC" userId="S::mchaump@originutility.com::b3d42fe6-670a-4966-b5bf-3a36d66e83c8" providerId="AD"/>
  <p188:author id="{1DC4F756-B5AF-C2D4-9316-CD972CDD5EB3}" name="Jim Andrews" initials="JA" userId="S::jandrews@originconsults.com::a05dfb70-bfc1-430f-b538-55d430ac6b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23"/>
    <a:srgbClr val="F5EFE9"/>
    <a:srgbClr val="FFFFFF"/>
    <a:srgbClr val="006DA7"/>
    <a:srgbClr val="103F7C"/>
    <a:srgbClr val="000000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88D44-8111-45FC-9CA5-005E2963CEF0}" v="3" dt="2026-09-24T23:17:50.549"/>
    <p1510:client id="{EFAEBEA1-CE80-4756-ACF3-B164209B0570}" v="2" dt="2026-09-24T15:34:27.15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37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ed Navara" userId="c24476df-5543-40c4-aff2-f9b37b4e2199" providerId="ADAL" clId="{DE4EBD87-7713-4937-BB2F-40F61ABFC847}"/>
    <pc:docChg chg="custSel addSld modSld sldOrd">
      <pc:chgData name="Reed Navara" userId="c24476df-5543-40c4-aff2-f9b37b4e2199" providerId="ADAL" clId="{DE4EBD87-7713-4937-BB2F-40F61ABFC847}" dt="2026-09-25T00:07:49.632" v="466" actId="1076"/>
      <pc:docMkLst>
        <pc:docMk/>
      </pc:docMkLst>
      <pc:sldChg chg="modSp mod">
        <pc:chgData name="Reed Navara" userId="c24476df-5543-40c4-aff2-f9b37b4e2199" providerId="ADAL" clId="{DE4EBD87-7713-4937-BB2F-40F61ABFC847}" dt="2026-09-24T15:13:37.621" v="9" actId="20577"/>
        <pc:sldMkLst>
          <pc:docMk/>
          <pc:sldMk cId="1423065503" sldId="268"/>
        </pc:sldMkLst>
        <pc:spChg chg="mod">
          <ac:chgData name="Reed Navara" userId="c24476df-5543-40c4-aff2-f9b37b4e2199" providerId="ADAL" clId="{DE4EBD87-7713-4937-BB2F-40F61ABFC847}" dt="2026-09-24T15:13:37.621" v="9" actId="20577"/>
          <ac:spMkLst>
            <pc:docMk/>
            <pc:sldMk cId="1423065503" sldId="268"/>
            <ac:spMk id="3" creationId="{E11F4AC8-907D-0D9B-3EC1-080B36B5BD90}"/>
          </ac:spMkLst>
        </pc:spChg>
      </pc:sldChg>
      <pc:sldChg chg="addSp delSp modSp mod ord">
        <pc:chgData name="Reed Navara" userId="c24476df-5543-40c4-aff2-f9b37b4e2199" providerId="ADAL" clId="{DE4EBD87-7713-4937-BB2F-40F61ABFC847}" dt="2026-09-25T00:07:49.632" v="466" actId="1076"/>
        <pc:sldMkLst>
          <pc:docMk/>
          <pc:sldMk cId="4080643058" sldId="305"/>
        </pc:sldMkLst>
        <pc:spChg chg="mod">
          <ac:chgData name="Reed Navara" userId="c24476df-5543-40c4-aff2-f9b37b4e2199" providerId="ADAL" clId="{DE4EBD87-7713-4937-BB2F-40F61ABFC847}" dt="2026-09-24T23:30:16.792" v="239" actId="20577"/>
          <ac:spMkLst>
            <pc:docMk/>
            <pc:sldMk cId="4080643058" sldId="305"/>
            <ac:spMk id="1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9:32.248" v="458" actId="20577"/>
          <ac:spMkLst>
            <pc:docMk/>
            <pc:sldMk cId="4080643058" sldId="305"/>
            <ac:spMk id="1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9:53.112" v="459" actId="478"/>
          <ac:spMkLst>
            <pc:docMk/>
            <pc:sldMk cId="4080643058" sldId="305"/>
            <ac:spMk id="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39.040" v="464" actId="1076"/>
          <ac:spMkLst>
            <pc:docMk/>
            <pc:sldMk cId="4080643058" sldId="305"/>
            <ac:spMk id="2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3.953" v="465" actId="1076"/>
          <ac:spMkLst>
            <pc:docMk/>
            <pc:sldMk cId="4080643058" sldId="305"/>
            <ac:spMk id="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9.632" v="466" actId="1076"/>
          <ac:spMkLst>
            <pc:docMk/>
            <pc:sldMk cId="4080643058" sldId="305"/>
            <ac:spMk id="22" creationId="{00000000-0000-0000-0000-000000000000}"/>
          </ac:spMkLst>
        </pc:spChg>
      </pc:sldChg>
      <pc:sldChg chg="addSp modSp">
        <pc:chgData name="Reed Navara" userId="c24476df-5543-40c4-aff2-f9b37b4e2199" providerId="ADAL" clId="{DE4EBD87-7713-4937-BB2F-40F61ABFC847}" dt="2026-09-21T17:48:56.572" v="7" actId="767"/>
        <pc:sldMkLst>
          <pc:docMk/>
          <pc:sldMk cId="2577594116" sldId="2147327721"/>
        </pc:sldMkLst>
      </pc:sldChg>
      <pc:sldChg chg="addSp modSp mod">
        <pc:chgData name="Reed Navara" userId="c24476df-5543-40c4-aff2-f9b37b4e2199" providerId="ADAL" clId="{DE4EBD87-7713-4937-BB2F-40F61ABFC847}" dt="2026-09-24T23:17:15.811" v="171" actId="1076"/>
        <pc:sldMkLst>
          <pc:docMk/>
          <pc:sldMk cId="832659428" sldId="2147327722"/>
        </pc:sldMkLst>
        <pc:spChg chg="add mod">
          <ac:chgData name="Reed Navara" userId="c24476df-5543-40c4-aff2-f9b37b4e2199" providerId="ADAL" clId="{DE4EBD87-7713-4937-BB2F-40F61ABFC847}" dt="2026-09-21T17:33:20.045" v="4" actId="767"/>
          <ac:spMkLst>
            <pc:docMk/>
            <pc:sldMk cId="832659428" sldId="2147327722"/>
            <ac:spMk id="2" creationId="{07614073-3D00-D5C1-B916-B7FA95B3EE55}"/>
          </ac:spMkLst>
        </pc:spChg>
        <pc:spChg chg="add mod">
          <ac:chgData name="Reed Navara" userId="c24476df-5543-40c4-aff2-f9b37b4e2199" providerId="ADAL" clId="{DE4EBD87-7713-4937-BB2F-40F61ABFC847}" dt="2026-09-24T23:17:15.811" v="171" actId="1076"/>
          <ac:spMkLst>
            <pc:docMk/>
            <pc:sldMk cId="832659428" sldId="2147327722"/>
            <ac:spMk id="3" creationId="{475E2A8C-B58E-4DCF-6869-25D6C75F772F}"/>
          </ac:spMkLst>
        </pc:spChg>
      </pc:sldChg>
      <pc:sldChg chg="addSp delSp modSp add mod ord modNotesTx">
        <pc:chgData name="Reed Navara" userId="c24476df-5543-40c4-aff2-f9b37b4e2199" providerId="ADAL" clId="{DE4EBD87-7713-4937-BB2F-40F61ABFC847}" dt="2026-09-24T23:29:27.208" v="227" actId="478"/>
        <pc:sldMkLst>
          <pc:docMk/>
          <pc:sldMk cId="0" sldId="2147327723"/>
        </pc:sldMkLst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1.055" v="97" actId="478"/>
          <ac:spMkLst>
            <pc:docMk/>
            <pc:sldMk cId="0" sldId="2147327723"/>
            <ac:spMk id="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4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17:23.615" v="173" actId="478"/>
          <ac:spMkLst>
            <pc:docMk/>
            <pc:sldMk cId="0" sldId="2147327723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3:46.838" v="70" actId="20577"/>
          <ac:spMkLst>
            <pc:docMk/>
            <pc:sldMk cId="0" sldId="2147327723"/>
            <ac:spMk id="90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06.118" v="80" actId="20577"/>
          <ac:spMkLst>
            <pc:docMk/>
            <pc:sldMk cId="0" sldId="2147327723"/>
            <ac:spMk id="90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9:15.986" v="225" actId="20577"/>
          <ac:spMkLst>
            <pc:docMk/>
            <pc:sldMk cId="0" sldId="2147327723"/>
            <ac:spMk id="91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14.703" v="81" actId="20577"/>
          <ac:spMkLst>
            <pc:docMk/>
            <pc:sldMk cId="0" sldId="2147327723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27.610" v="94" actId="20577"/>
          <ac:spMkLst>
            <pc:docMk/>
            <pc:sldMk cId="0" sldId="2147327723"/>
            <ac:spMk id="915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37.130" v="95" actId="478"/>
          <ac:spMkLst>
            <pc:docMk/>
            <pc:sldMk cId="0" sldId="2147327723"/>
            <ac:spMk id="919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0.065" v="96" actId="478"/>
          <ac:spMkLst>
            <pc:docMk/>
            <pc:sldMk cId="0" sldId="2147327723"/>
            <ac:spMk id="920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55.180" v="99" actId="478"/>
          <ac:spMkLst>
            <pc:docMk/>
            <pc:sldMk cId="0" sldId="2147327723"/>
            <ac:spMk id="9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8:32.529" v="198" actId="20577"/>
          <ac:spMkLst>
            <pc:docMk/>
            <pc:sldMk cId="0" sldId="2147327723"/>
            <ac:spMk id="928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1.721" v="200" actId="478"/>
          <ac:spMkLst>
            <pc:docMk/>
            <pc:sldMk cId="0" sldId="2147327723"/>
            <ac:spMk id="93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7.208" v="227" actId="478"/>
          <ac:spMkLst>
            <pc:docMk/>
            <pc:sldMk cId="0" sldId="2147327723"/>
            <ac:spMk id="933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5.318" v="226" actId="478"/>
          <ac:spMkLst>
            <pc:docMk/>
            <pc:sldMk cId="0" sldId="2147327723"/>
            <ac:spMk id="934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5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8.888" v="205" actId="478"/>
          <ac:spMkLst>
            <pc:docMk/>
            <pc:sldMk cId="0" sldId="2147327723"/>
            <ac:spMk id="936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9:00.029" v="206" actId="478"/>
          <ac:spMkLst>
            <pc:docMk/>
            <pc:sldMk cId="0" sldId="2147327723"/>
            <ac:spMk id="93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9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7.065" v="203" actId="478"/>
          <ac:spMkLst>
            <pc:docMk/>
            <pc:sldMk cId="0" sldId="2147327723"/>
            <ac:spMk id="940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41:40.284" v="68" actId="478"/>
          <ac:spMkLst>
            <pc:docMk/>
            <pc:sldMk cId="0" sldId="2147327723"/>
            <ac:spMk id="948" creationId="{00000000-0000-0000-0000-000000000000}"/>
          </ac:spMkLst>
        </pc:spChg>
        <pc:cxnChg chg="add mod">
          <ac:chgData name="Reed Navara" userId="c24476df-5543-40c4-aff2-f9b37b4e2199" providerId="ADAL" clId="{DE4EBD87-7713-4937-BB2F-40F61ABFC847}" dt="2026-09-24T23:15:39.985" v="103" actId="1076"/>
          <ac:cxnSpMkLst>
            <pc:docMk/>
            <pc:sldMk cId="0" sldId="2147327723"/>
            <ac:cxnSpMk id="6" creationId="{BEB60A8F-C93B-AC7B-D6D4-DCC85505D9A0}"/>
          </ac:cxnSpMkLst>
        </pc:cxnChg>
        <pc:cxnChg chg="add mod">
          <ac:chgData name="Reed Navara" userId="c24476df-5543-40c4-aff2-f9b37b4e2199" providerId="ADAL" clId="{DE4EBD87-7713-4937-BB2F-40F61ABFC847}" dt="2026-09-24T23:15:47.531" v="105" actId="1076"/>
          <ac:cxnSpMkLst>
            <pc:docMk/>
            <pc:sldMk cId="0" sldId="2147327723"/>
            <ac:cxnSpMk id="7" creationId="{2462D4BF-95F9-8B56-61ED-8C1DFDA4FC54}"/>
          </ac:cxnSpMkLst>
        </pc:cxnChg>
        <pc:cxnChg chg="mod">
          <ac:chgData name="Reed Navara" userId="c24476df-5543-40c4-aff2-f9b37b4e2199" providerId="ADAL" clId="{DE4EBD87-7713-4937-BB2F-40F61ABFC847}" dt="2026-09-24T23:29:05.016" v="207" actId="1076"/>
          <ac:cxnSpMkLst>
            <pc:docMk/>
            <pc:sldMk cId="0" sldId="2147327723"/>
            <ac:cxnSpMk id="912" creationId="{00000000-0000-0000-0000-000000000000}"/>
          </ac:cxnSpMkLst>
        </pc:cxnChg>
      </pc:sldChg>
      <pc:sldChg chg="delSp modSp add mod ord">
        <pc:chgData name="Reed Navara" userId="c24476df-5543-40c4-aff2-f9b37b4e2199" providerId="ADAL" clId="{DE4EBD87-7713-4937-BB2F-40F61ABFC847}" dt="2026-09-24T23:47:40.576" v="414" actId="20577"/>
        <pc:sldMkLst>
          <pc:docMk/>
          <pc:sldMk cId="0" sldId="2147327724"/>
        </pc:sldMkLst>
        <pc:spChg chg="mod">
          <ac:chgData name="Reed Navara" userId="c24476df-5543-40c4-aff2-f9b37b4e2199" providerId="ADAL" clId="{DE4EBD87-7713-4937-BB2F-40F61ABFC847}" dt="2026-09-24T15:35:50.223" v="59" actId="20577"/>
          <ac:spMkLst>
            <pc:docMk/>
            <pc:sldMk cId="0" sldId="2147327724"/>
            <ac:spMk id="2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35:57.631" v="61" actId="478"/>
          <ac:spMkLst>
            <pc:docMk/>
            <pc:sldMk cId="0" sldId="2147327724"/>
            <ac:spMk id="90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6:30.121" v="367" actId="20577"/>
          <ac:spMkLst>
            <pc:docMk/>
            <pc:sldMk cId="0" sldId="2147327724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6:40.616" v="373" actId="20577"/>
          <ac:spMkLst>
            <pc:docMk/>
            <pc:sldMk cId="0" sldId="2147327724"/>
            <ac:spMk id="90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15:36:10.817" v="63" actId="14100"/>
          <ac:spMkLst>
            <pc:docMk/>
            <pc:sldMk cId="0" sldId="2147327724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3.568" v="168" actId="20577"/>
          <ac:spMkLst>
            <pc:docMk/>
            <pc:sldMk cId="0" sldId="2147327724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0.333" v="166" actId="20577"/>
          <ac:spMkLst>
            <pc:docMk/>
            <pc:sldMk cId="0" sldId="2147327724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7.239" v="170" actId="20577"/>
          <ac:spMkLst>
            <pc:docMk/>
            <pc:sldMk cId="0" sldId="2147327724"/>
            <ac:spMk id="91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37.639" v="133" actId="20577"/>
          <ac:spMkLst>
            <pc:docMk/>
            <pc:sldMk cId="0" sldId="2147327724"/>
            <ac:spMk id="9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51.954" v="164" actId="20577"/>
          <ac:spMkLst>
            <pc:docMk/>
            <pc:sldMk cId="0" sldId="2147327724"/>
            <ac:spMk id="92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4:33.729" v="278" actId="20577"/>
          <ac:spMkLst>
            <pc:docMk/>
            <pc:sldMk cId="0" sldId="2147327724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4:45.716" v="306" actId="20577"/>
          <ac:spMkLst>
            <pc:docMk/>
            <pc:sldMk cId="0" sldId="2147327724"/>
            <ac:spMk id="92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7:40.576" v="414" actId="20577"/>
          <ac:spMkLst>
            <pc:docMk/>
            <pc:sldMk cId="0" sldId="2147327724"/>
            <ac:spMk id="92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15:36:01.676" v="62" actId="478"/>
          <ac:spMkLst>
            <pc:docMk/>
            <pc:sldMk cId="0" sldId="2147327724"/>
            <ac:spMk id="931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D3FFB-ECF6-4148-B895-0C2C3FEFEFB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6CCB5-C92D-914A-9E84-276068BE15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77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–Blue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45294" y="4283075"/>
            <a:ext cx="11593156" cy="311846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11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1789" y="1291981"/>
            <a:ext cx="11593156" cy="150519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8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D0D04F6-CE8F-4B3D-254C-16C3EA7CEFE5}"/>
              </a:ext>
            </a:extLst>
          </p:cNvPr>
          <p:cNvSpPr txBox="1"/>
          <p:nvPr userDrawn="1"/>
        </p:nvSpPr>
        <p:spPr>
          <a:xfrm>
            <a:off x="709791" y="10379138"/>
            <a:ext cx="823594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AGENDA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83AC1B9-1309-ED25-3E3B-C1B0AAD47B71}"/>
              </a:ext>
            </a:extLst>
          </p:cNvPr>
          <p:cNvSpPr txBox="1"/>
          <p:nvPr userDrawn="1"/>
        </p:nvSpPr>
        <p:spPr>
          <a:xfrm>
            <a:off x="3945294" y="676911"/>
            <a:ext cx="366395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</a:t>
            </a:r>
            <a:r>
              <a:rPr sz="1150" b="1" i="0" spc="-5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PT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CDC16121-AF0E-C344-65B6-08416D0DF56E}"/>
              </a:ext>
            </a:extLst>
          </p:cNvPr>
          <p:cNvSpPr txBox="1"/>
          <p:nvPr userDrawn="1"/>
        </p:nvSpPr>
        <p:spPr>
          <a:xfrm>
            <a:off x="17337453" y="10379138"/>
            <a:ext cx="2077720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5"/>
              </a:spcBef>
            </a:pPr>
            <a:r>
              <a:rPr sz="1150" b="1" i="0" spc="13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DEVELOPED</a:t>
            </a:r>
            <a:r>
              <a:rPr sz="1150" b="1" i="0" spc="31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BY</a:t>
            </a:r>
            <a:r>
              <a:rPr sz="1150" b="1" i="0" spc="3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END</a:t>
            </a:r>
            <a:r>
              <a:rPr sz="1150" b="1" i="0" spc="8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URE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B89F71E-AD1B-9C7E-5F24-DFE3AA2CCC0E}"/>
              </a:ext>
            </a:extLst>
          </p:cNvPr>
          <p:cNvSpPr/>
          <p:nvPr userDrawn="1"/>
        </p:nvSpPr>
        <p:spPr>
          <a:xfrm>
            <a:off x="744693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22CC6CA9-7B09-4B71-5C99-F1322A3F34FC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003550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5B41249-52B9-058C-A2D2-AEFA307C6ECB}"/>
              </a:ext>
            </a:extLst>
          </p:cNvPr>
          <p:cNvSpPr/>
          <p:nvPr userDrawn="1"/>
        </p:nvSpPr>
        <p:spPr>
          <a:xfrm>
            <a:off x="744693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229941AD-2968-47FA-B8A4-CF2ACDB0D8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003550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6ADB498-948E-374B-63FC-885671A1FFD9}"/>
              </a:ext>
            </a:extLst>
          </p:cNvPr>
          <p:cNvSpPr/>
          <p:nvPr userDrawn="1"/>
        </p:nvSpPr>
        <p:spPr>
          <a:xfrm>
            <a:off x="744693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15AE6D7C-A5A6-259A-EFEA-23C86FF2135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003550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F5E01BF-5917-E579-7B1E-8DAB57D96E96}"/>
              </a:ext>
            </a:extLst>
          </p:cNvPr>
          <p:cNvSpPr/>
          <p:nvPr userDrawn="1"/>
        </p:nvSpPr>
        <p:spPr>
          <a:xfrm>
            <a:off x="7602538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6" name="Holder 3">
            <a:extLst>
              <a:ext uri="{FF2B5EF4-FFF2-40B4-BE49-F238E27FC236}">
                <a16:creationId xmlns:a16="http://schemas.microsoft.com/office/drawing/2014/main" id="{C5E9CA3F-F89A-9C4C-9663-A0DE4E38420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9861395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9721468-036B-85EC-F925-B83D2B669D62}"/>
              </a:ext>
            </a:extLst>
          </p:cNvPr>
          <p:cNvSpPr/>
          <p:nvPr userDrawn="1"/>
        </p:nvSpPr>
        <p:spPr>
          <a:xfrm>
            <a:off x="7602538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BE575A3A-82D0-F43B-DB49-F447FB4E0D9D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861395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D7883A9-0CD2-7CA9-7F76-79FDE3EBC7A0}"/>
              </a:ext>
            </a:extLst>
          </p:cNvPr>
          <p:cNvSpPr/>
          <p:nvPr userDrawn="1"/>
        </p:nvSpPr>
        <p:spPr>
          <a:xfrm>
            <a:off x="7575550" y="78263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6CB859BD-8FE4-FA28-DFA1-58B21F48AA10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9861395" y="85307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262CAD7-8638-E927-F611-CF9EA4BFF046}"/>
              </a:ext>
            </a:extLst>
          </p:cNvPr>
          <p:cNvSpPr/>
          <p:nvPr userDrawn="1"/>
        </p:nvSpPr>
        <p:spPr>
          <a:xfrm>
            <a:off x="14179339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7D201DB3-6A91-4680-EFC7-A03DBD654C9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6438196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768C2C-9089-2398-6178-9746C1C79C8A}"/>
              </a:ext>
            </a:extLst>
          </p:cNvPr>
          <p:cNvSpPr/>
          <p:nvPr userDrawn="1"/>
        </p:nvSpPr>
        <p:spPr>
          <a:xfrm>
            <a:off x="14179339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B37A72DE-1C60-CB94-EA8C-A15D50FF757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16438196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868D2E0-2E25-5BAA-A59F-3B032EEF30AD}"/>
              </a:ext>
            </a:extLst>
          </p:cNvPr>
          <p:cNvSpPr/>
          <p:nvPr userDrawn="1"/>
        </p:nvSpPr>
        <p:spPr>
          <a:xfrm>
            <a:off x="14179339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9C005CB6-4F18-D26E-F95F-E84676E93107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6438196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66217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-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1265"/>
            <a:ext cx="20104099" cy="112980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5974E6-2DAC-AE5E-212D-D23385994A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8874" y="255592"/>
            <a:ext cx="19486349" cy="1079816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55470" y="5186510"/>
            <a:ext cx="11593156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1000"/>
              </a:lnSpc>
              <a:defRPr sz="11000" b="0" i="0">
                <a:solidFill>
                  <a:schemeClr val="tx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05B7FC25-FD76-8528-9670-3C67F94EBFD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053726" y="4304730"/>
            <a:ext cx="1996643" cy="576258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2561555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2760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6B57680-2E7C-5E3A-5960-B4592A08B5B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44A785A1-950B-8C77-5E6A-01939DCEDD1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88632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2EB4CD6A-60E0-7874-92C3-2B8B65BC2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453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70ACE302-95B3-911F-AB83-273E008E5DB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989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42C6BB06-0E8B-702B-4085-BF8215AAC54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02810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73A66E9F-7C0F-B1DF-F5EF-43EB7FBDDF8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6453461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Picture Placeholder 11">
            <a:extLst>
              <a:ext uri="{FF2B5EF4-FFF2-40B4-BE49-F238E27FC236}">
                <a16:creationId xmlns:a16="http://schemas.microsoft.com/office/drawing/2014/main" id="{E25B2D14-543F-FB2C-CCCB-6BDBF377E44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331167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9E418B74-8E5F-9A17-57D1-E1763CBEBE3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741964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1" name="Holder 3">
            <a:extLst>
              <a:ext uri="{FF2B5EF4-FFF2-40B4-BE49-F238E27FC236}">
                <a16:creationId xmlns:a16="http://schemas.microsoft.com/office/drawing/2014/main" id="{1F264448-CA6F-C43B-A1CE-FE78D413A732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883749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AB5A724C-73F9-0363-7489-306BD50D8D0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7025533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3" name="Holder 3">
            <a:extLst>
              <a:ext uri="{FF2B5EF4-FFF2-40B4-BE49-F238E27FC236}">
                <a16:creationId xmlns:a16="http://schemas.microsoft.com/office/drawing/2014/main" id="{2154B34E-ECD4-73B9-B325-D58CEB385D47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0167318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43B8CAE3-21D2-8123-547B-CBB7EA334720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13309102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5" name="Holder 3">
            <a:extLst>
              <a:ext uri="{FF2B5EF4-FFF2-40B4-BE49-F238E27FC236}">
                <a16:creationId xmlns:a16="http://schemas.microsoft.com/office/drawing/2014/main" id="{19B10D4D-8F9D-DD06-1735-1514DCD73278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6450887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FE34137D-ACAD-06D0-CE12-5391A7401E3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79560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7" name="Holder 3">
            <a:extLst>
              <a:ext uri="{FF2B5EF4-FFF2-40B4-BE49-F238E27FC236}">
                <a16:creationId xmlns:a16="http://schemas.microsoft.com/office/drawing/2014/main" id="{FBAB60A6-0E50-C96F-04E2-DDB8405119C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21345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8" name="Holder 3">
            <a:extLst>
              <a:ext uri="{FF2B5EF4-FFF2-40B4-BE49-F238E27FC236}">
                <a16:creationId xmlns:a16="http://schemas.microsoft.com/office/drawing/2014/main" id="{EEFA4546-85D7-FC0B-F300-41A78A6A0AB1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7363129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9" name="Holder 3">
            <a:extLst>
              <a:ext uri="{FF2B5EF4-FFF2-40B4-BE49-F238E27FC236}">
                <a16:creationId xmlns:a16="http://schemas.microsoft.com/office/drawing/2014/main" id="{03898B82-DD93-74CE-6D15-3F13CA7B2E68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0504914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0" name="Holder 3">
            <a:extLst>
              <a:ext uri="{FF2B5EF4-FFF2-40B4-BE49-F238E27FC236}">
                <a16:creationId xmlns:a16="http://schemas.microsoft.com/office/drawing/2014/main" id="{099ECA2E-429A-280F-5DFB-9263E8697DF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3646698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1" name="Holder 3">
            <a:extLst>
              <a:ext uri="{FF2B5EF4-FFF2-40B4-BE49-F238E27FC236}">
                <a16:creationId xmlns:a16="http://schemas.microsoft.com/office/drawing/2014/main" id="{C22C5E4D-2DAA-B000-969B-561E453EA17E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16788483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</p:spTree>
    <p:extLst>
      <p:ext uri="{BB962C8B-B14F-4D97-AF65-F5344CB8AC3E}">
        <p14:creationId xmlns:p14="http://schemas.microsoft.com/office/powerpoint/2010/main" val="282699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3749675"/>
            <a:ext cx="20104100" cy="7559040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txBody>
          <a:bodyPr wrap="none" lIns="0" tIns="0" rIns="0" bIns="0" rtlCol="0"/>
          <a:lstStyle/>
          <a:p>
            <a:endParaRPr/>
          </a:p>
        </p:txBody>
      </p:sp>
      <p:sp>
        <p:nvSpPr>
          <p:cNvPr id="4" name="Holder 2">
            <a:extLst>
              <a:ext uri="{FF2B5EF4-FFF2-40B4-BE49-F238E27FC236}">
                <a16:creationId xmlns:a16="http://schemas.microsoft.com/office/drawing/2014/main" id="{24F22982-C7A9-20ED-6AC5-491666638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1617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CA6491BE-8854-7189-828D-5C72467E103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64D7073E-CD35-2745-71B7-D4F04DEC22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41450" y="701676"/>
            <a:ext cx="2743199" cy="533400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8AE1BC8D-BE96-7269-7ECB-3D596DC5002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3210F118-55CD-500F-F228-601C33A8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44281" y="10531475"/>
            <a:ext cx="10015538" cy="601662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62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2356" y="3280434"/>
            <a:ext cx="10714193" cy="2362200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7200"/>
              </a:lnSpc>
              <a:defRPr sz="72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47A53557-AE03-2084-6047-D3D9E2E59DAF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642350" y="2429071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DE177557-72B5-0B7D-5C61-39F7D120577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01007" y="2407963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E0848FF-CDF3-C3CC-36EC-611638477EC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4616" y="2407964"/>
            <a:ext cx="7460534" cy="6154332"/>
          </a:xfrm>
          <a:prstGeom prst="roundRect">
            <a:avLst>
              <a:gd name="adj" fmla="val 2427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F0DC79B5-FB6E-6753-9A09-F18B49FABC1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66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5A4B8CD-2206-BF17-16E0-300313D9676F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672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7F6CB32-0F57-875F-B6E6-5A7D926912AD}"/>
              </a:ext>
            </a:extLst>
          </p:cNvPr>
          <p:cNvCxnSpPr>
            <a:cxnSpLocks/>
          </p:cNvCxnSpPr>
          <p:nvPr userDrawn="1"/>
        </p:nvCxnSpPr>
        <p:spPr>
          <a:xfrm>
            <a:off x="8666007" y="6988175"/>
            <a:ext cx="10720543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Holder 3">
            <a:extLst>
              <a:ext uri="{FF2B5EF4-FFF2-40B4-BE49-F238E27FC236}">
                <a16:creationId xmlns:a16="http://schemas.microsoft.com/office/drawing/2014/main" id="{5A52CAFA-01C6-C31D-2C9D-13CA6660AFE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342655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7" name="Holder 3">
            <a:extLst>
              <a:ext uri="{FF2B5EF4-FFF2-40B4-BE49-F238E27FC236}">
                <a16:creationId xmlns:a16="http://schemas.microsoft.com/office/drawing/2014/main" id="{EA5AAD78-A9A9-AC5C-DB63-E3ECE3225BC6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12349006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02</a:t>
            </a:r>
          </a:p>
        </p:txBody>
      </p:sp>
      <p:sp>
        <p:nvSpPr>
          <p:cNvPr id="11" name="Holder 3">
            <a:extLst>
              <a:ext uri="{FF2B5EF4-FFF2-40B4-BE49-F238E27FC236}">
                <a16:creationId xmlns:a16="http://schemas.microsoft.com/office/drawing/2014/main" id="{F8483C8D-121F-7158-C0DE-431C181DBBB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6032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8484FB8D-31B9-69BC-D174-965C8ABDB1E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6038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03</a:t>
            </a:r>
          </a:p>
        </p:txBody>
      </p:sp>
    </p:spTree>
    <p:extLst>
      <p:ext uri="{BB962C8B-B14F-4D97-AF65-F5344CB8AC3E}">
        <p14:creationId xmlns:p14="http://schemas.microsoft.com/office/powerpoint/2010/main" val="4097486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08610E84-6F6D-9211-9DFC-1C03020A2CE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5150" y="282575"/>
            <a:ext cx="11620500" cy="10706100"/>
          </a:xfrm>
          <a:prstGeom prst="roundRect">
            <a:avLst>
              <a:gd name="adj" fmla="val 1894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7104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33704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B545B6F-8A16-4470-1FFE-CE5291C6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5771" y="10656765"/>
            <a:ext cx="10015538" cy="601662"/>
          </a:xfrm>
        </p:spPr>
        <p:txBody>
          <a:bodyPr/>
          <a:lstStyle>
            <a:lvl1pPr>
              <a:defRPr sz="1200"/>
            </a:lvl1pPr>
          </a:lstStyle>
          <a:p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984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103E7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099" cy="1129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744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wer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logo  AI-generated content may be incorrect.">
            <a:extLst>
              <a:ext uri="{FF2B5EF4-FFF2-40B4-BE49-F238E27FC236}">
                <a16:creationId xmlns:a16="http://schemas.microsoft.com/office/drawing/2014/main" id="{BA9809BA-C40D-CD53-FB7A-4B6286BF70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19769" y="-715963"/>
            <a:ext cx="27543638" cy="12741275"/>
          </a:xfrm>
          <a:prstGeom prst="rect">
            <a:avLst/>
          </a:prstGeom>
        </p:spPr>
      </p:pic>
      <p:sp>
        <p:nvSpPr>
          <p:cNvPr id="6" name="Holder 2">
            <a:extLst>
              <a:ext uri="{FF2B5EF4-FFF2-40B4-BE49-F238E27FC236}">
                <a16:creationId xmlns:a16="http://schemas.microsoft.com/office/drawing/2014/main" id="{E15183D9-D1DB-385D-678F-DCD262335E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5185" y="4677571"/>
            <a:ext cx="16013730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6500"/>
              </a:lnSpc>
              <a:defRPr sz="48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Add Power Statement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7865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0594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0DD213-5353-21AD-09CC-1925F60E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38A62-45C0-5967-7362-BDD0D0418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A5F3-11FB-A9AE-7E80-7FF0675D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0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F3B2C66-5CCD-5234-0C52-97267551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3009900"/>
            <a:ext cx="17338675" cy="7177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E262EE1D-5419-1607-C90B-A603F6BF1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3"/>
            <a:ext cx="17338675" cy="218598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9">
            <a:extLst>
              <a:ext uri="{FF2B5EF4-FFF2-40B4-BE49-F238E27FC236}">
                <a16:creationId xmlns:a16="http://schemas.microsoft.com/office/drawing/2014/main" id="{90C5EA89-0E1C-524E-1418-A4C325BDE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713" y="10482263"/>
            <a:ext cx="4522787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747DA8CB-9EC9-067D-D3BE-B8A2D9047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563" y="10482263"/>
            <a:ext cx="6784975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93039B6-5B1F-C342-CAC2-4E3C97B67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600" y="10482263"/>
            <a:ext cx="4522788" cy="60166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4" r:id="rId2"/>
    <p:sldLayoutId id="2147483679" r:id="rId3"/>
    <p:sldLayoutId id="2147483680" r:id="rId4"/>
    <p:sldLayoutId id="2147483676" r:id="rId5"/>
    <p:sldLayoutId id="2147483681" r:id="rId6"/>
    <p:sldLayoutId id="2147483682" r:id="rId7"/>
    <p:sldLayoutId id="2147483683" r:id="rId8"/>
    <p:sldLayoutId id="2147483672" r:id="rId9"/>
    <p:sldLayoutId id="2147483673" r:id="rId10"/>
    <p:sldLayoutId id="2147483678" r:id="rId11"/>
    <p:sldLayoutId id="2147483684" r:id="rId12"/>
    <p:sldLayoutId id="2147483675" r:id="rId13"/>
    <p:sldLayoutId id="2147483685" r:id="rId14"/>
  </p:sldLayoutIdLst>
  <p:hf hdr="0" ftr="0" dt="0"/>
  <p:txStyles>
    <p:titleStyle>
      <a:lvl1pPr eaLnBrk="1" hangingPunct="1">
        <a:lnSpc>
          <a:spcPts val="7200"/>
        </a:lnSpc>
        <a:defRPr sz="9000" b="0" i="0">
          <a:solidFill>
            <a:schemeClr val="tx1"/>
          </a:solidFill>
          <a:latin typeface="Delight Medium" pitchFamily="2" charset="77"/>
          <a:ea typeface="+mj-ea"/>
          <a:cs typeface="+mj-cs"/>
        </a:defRPr>
      </a:lvl1pPr>
    </p:titleStyle>
    <p:bodyStyle>
      <a:lvl1pPr marL="0" algn="just" eaLnBrk="1" hangingPunct="1">
        <a:lnSpc>
          <a:spcPts val="2800"/>
        </a:lnSpc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1pPr>
      <a:lvl2pPr marL="7429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2pPr>
      <a:lvl3pPr marL="12001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bg2"/>
          </a:solidFill>
          <a:latin typeface="Delight Regular" pitchFamily="2" charset="77"/>
          <a:ea typeface="+mn-ea"/>
          <a:cs typeface="+mn-cs"/>
        </a:defRPr>
      </a:lvl3pPr>
      <a:lvl4pPr marL="16573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2"/>
          </a:solidFill>
          <a:latin typeface="Delight Regular" pitchFamily="2" charset="77"/>
          <a:ea typeface="+mn-ea"/>
          <a:cs typeface="+mn-cs"/>
        </a:defRPr>
      </a:lvl4pPr>
      <a:lvl5pPr marL="21145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5"/>
          </a:solidFill>
          <a:latin typeface="Delight Regular" pitchFamily="2" charset="77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42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6634" userDrawn="1">
          <p15:clr>
            <a:srgbClr val="F26B43"/>
          </p15:clr>
        </p15:guide>
        <p15:guide id="4" pos="12212" userDrawn="1">
          <p15:clr>
            <a:srgbClr val="F26B43"/>
          </p15:clr>
        </p15:guide>
        <p15:guide id="5" orient="horz" pos="6298" userDrawn="1">
          <p15:clr>
            <a:srgbClr val="F26B43"/>
          </p15:clr>
        </p15:guide>
        <p15:guide id="6" orient="horz" pos="778" userDrawn="1">
          <p15:clr>
            <a:srgbClr val="F26B43"/>
          </p15:clr>
        </p15:guide>
        <p15:guide id="7" pos="5444" userDrawn="1">
          <p15:clr>
            <a:srgbClr val="F26B43"/>
          </p15:clr>
        </p15:guide>
        <p15:guide id="8" pos="5156" userDrawn="1">
          <p15:clr>
            <a:srgbClr val="F26B43"/>
          </p15:clr>
        </p15:guide>
        <p15:guide id="9" pos="4868" userDrawn="1">
          <p15:clr>
            <a:srgbClr val="F26B43"/>
          </p15:clr>
        </p15:guide>
        <p15:guide id="10" pos="6332" userDrawn="1">
          <p15:clr>
            <a:srgbClr val="5ACBF0"/>
          </p15:clr>
        </p15:guide>
        <p15:guide id="11" orient="horz" pos="3562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Standard Offering Release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41063" y="7589520"/>
            <a:ext cx="11594592" cy="9144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Two step-by-step visuals: the Standard Offering inside Jaspersoft Server, and the database deployment of the snapshots and the objects the domains depend on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Standard Offering Deployment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Origin_DEV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authoring, the internal server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77256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41848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Origin_TEST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proving, before any client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13848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78440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Client test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the client's own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950440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115032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Client prod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read-only until the prod flag is given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8549640"/>
            <a:ext cx="18653760" cy="16916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8595360"/>
            <a:ext cx="18324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After go-live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every change is a tool run with the same proofs, never a hand edit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251460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Workstreams tree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domains, Ad Hoc views, reports and dashboards: the only content edited by hand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3865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" y="35661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Export the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one API export task, polled, downloaded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4381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" y="4434840"/>
            <a:ext cx="4114800" cy="14173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Build the package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inventory and classify the export; keep the offering list; one copy of each domain in one home; carry the datasource; rewrite every path; strip print wrappers; narrow the import index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30682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21" name="Diamond 20"/>
          <p:cNvSpPr/>
          <p:nvPr/>
        </p:nvSpPr>
        <p:spPr>
          <a:xfrm>
            <a:off x="2185415" y="6080760"/>
            <a:ext cx="155448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package verifies?</a:t>
            </a:r>
          </a:p>
        </p:txBody>
      </p:sp>
      <p:sp>
        <p:nvSpPr>
          <p:cNvPr id="22" name="Oval 21"/>
          <p:cNvSpPr/>
          <p:nvPr/>
        </p:nvSpPr>
        <p:spPr>
          <a:xfrm>
            <a:off x="2057399" y="59527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" y="6286500"/>
            <a:ext cx="1051560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no: stop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41848" y="25146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Import, update in place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polled; an importer warning counts as a failure</a:t>
            </a:r>
          </a:p>
        </p:txBody>
      </p:sp>
      <p:sp>
        <p:nvSpPr>
          <p:cNvPr id="25" name="Oval 24"/>
          <p:cNvSpPr/>
          <p:nvPr/>
        </p:nvSpPr>
        <p:spPr>
          <a:xfrm>
            <a:off x="5513832" y="23865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41848" y="34290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Re-export and compare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byte-equal inside the scope, importer stamps ignored</a:t>
            </a:r>
          </a:p>
        </p:txBody>
      </p:sp>
      <p:sp>
        <p:nvSpPr>
          <p:cNvPr id="27" name="Oval 26"/>
          <p:cNvSpPr/>
          <p:nvPr/>
        </p:nvSpPr>
        <p:spPr>
          <a:xfrm>
            <a:off x="5513832" y="3300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41848" y="434340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Execute everything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views by query, reports as PDF, domains by metadata and probe</a:t>
            </a:r>
          </a:p>
        </p:txBody>
      </p:sp>
      <p:sp>
        <p:nvSpPr>
          <p:cNvPr id="29" name="Oval 28"/>
          <p:cNvSpPr/>
          <p:nvPr/>
        </p:nvSpPr>
        <p:spPr>
          <a:xfrm>
            <a:off x="5513832" y="42153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7</a:t>
            </a:r>
          </a:p>
        </p:txBody>
      </p:sp>
      <p:sp>
        <p:nvSpPr>
          <p:cNvPr id="30" name="Diamond 29"/>
          <p:cNvSpPr/>
          <p:nvPr/>
        </p:nvSpPr>
        <p:spPr>
          <a:xfrm>
            <a:off x="6922008" y="5394960"/>
            <a:ext cx="155448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seven proofs pass?</a:t>
            </a:r>
          </a:p>
        </p:txBody>
      </p:sp>
      <p:sp>
        <p:nvSpPr>
          <p:cNvPr id="31" name="Oval 30"/>
          <p:cNvSpPr/>
          <p:nvPr/>
        </p:nvSpPr>
        <p:spPr>
          <a:xfrm>
            <a:off x="6793992" y="52669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49640" y="5600700"/>
            <a:ext cx="1188720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no: stop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41848" y="64008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Proven offering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package every client promotion starts from</a:t>
            </a:r>
          </a:p>
        </p:txBody>
      </p:sp>
      <p:sp>
        <p:nvSpPr>
          <p:cNvPr id="34" name="Oval 33"/>
          <p:cNvSpPr/>
          <p:nvPr/>
        </p:nvSpPr>
        <p:spPr>
          <a:xfrm>
            <a:off x="5513832" y="62727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78440" y="251460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datasource: the client's own export, carried byte for byte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78440" y="31089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Inventory snapshot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every resource on the org before anything changes</a:t>
            </a:r>
          </a:p>
        </p:txBody>
      </p:sp>
      <p:sp>
        <p:nvSpPr>
          <p:cNvPr id="37" name="Oval 36"/>
          <p:cNvSpPr/>
          <p:nvPr/>
        </p:nvSpPr>
        <p:spPr>
          <a:xfrm>
            <a:off x="10250424" y="29809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78440" y="3977639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Rebuild for the client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client's datasource carried; org path, folder, alias and tenant root rewritten by tested replacements</a:t>
            </a:r>
          </a:p>
        </p:txBody>
      </p:sp>
      <p:sp>
        <p:nvSpPr>
          <p:cNvPr id="39" name="Oval 38"/>
          <p:cNvSpPr/>
          <p:nvPr/>
        </p:nvSpPr>
        <p:spPr>
          <a:xfrm>
            <a:off x="10250424" y="384962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11</a:t>
            </a:r>
          </a:p>
        </p:txBody>
      </p:sp>
      <p:sp>
        <p:nvSpPr>
          <p:cNvPr id="40" name="Diamond 39"/>
          <p:cNvSpPr/>
          <p:nvPr/>
        </p:nvSpPr>
        <p:spPr>
          <a:xfrm>
            <a:off x="11247119" y="5212080"/>
            <a:ext cx="2377440" cy="96012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verified? no source strings, references exist, fields resolve</a:t>
            </a:r>
          </a:p>
        </p:txBody>
      </p:sp>
      <p:sp>
        <p:nvSpPr>
          <p:cNvPr id="41" name="Oval 40"/>
          <p:cNvSpPr/>
          <p:nvPr/>
        </p:nvSpPr>
        <p:spPr>
          <a:xfrm>
            <a:off x="11119103" y="5084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697711" y="5486400"/>
            <a:ext cx="777240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no: stop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378440" y="63093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Import, compare, execute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same three proofs as Origin_TEST</a:t>
            </a:r>
          </a:p>
        </p:txBody>
      </p:sp>
      <p:sp>
        <p:nvSpPr>
          <p:cNvPr id="44" name="Oval 43"/>
          <p:cNvSpPr/>
          <p:nvPr/>
        </p:nvSpPr>
        <p:spPr>
          <a:xfrm>
            <a:off x="10250424" y="61813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78440" y="717804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Sweep and sign off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PASS, EMPTY, SLOW or FAIL per resource with timing; one document per org</a:t>
            </a:r>
          </a:p>
        </p:txBody>
      </p:sp>
      <p:sp>
        <p:nvSpPr>
          <p:cNvPr id="46" name="Oval 45"/>
          <p:cNvSpPr/>
          <p:nvPr/>
        </p:nvSpPr>
        <p:spPr>
          <a:xfrm>
            <a:off x="10250424" y="705002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5115032" y="251460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B3D7A"/>
                </a:solidFill>
              </a:rPr>
              <a:t>explicit prod flag required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115032" y="3108960"/>
            <a:ext cx="4114800" cy="6858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Inventory snapshot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rollback baseline</a:t>
            </a:r>
          </a:p>
        </p:txBody>
      </p:sp>
      <p:sp>
        <p:nvSpPr>
          <p:cNvPr id="49" name="Oval 48"/>
          <p:cNvSpPr/>
          <p:nvPr/>
        </p:nvSpPr>
        <p:spPr>
          <a:xfrm>
            <a:off x="14987016" y="29809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115032" y="3931920"/>
            <a:ext cx="4114800" cy="10058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Same promotion, same proofs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target datasource carried; rewritten; verified; imported; compared; executed</a:t>
            </a:r>
          </a:p>
        </p:txBody>
      </p:sp>
      <p:sp>
        <p:nvSpPr>
          <p:cNvPr id="51" name="Oval 50"/>
          <p:cNvSpPr/>
          <p:nvPr/>
        </p:nvSpPr>
        <p:spPr>
          <a:xfrm>
            <a:off x="14987016" y="380390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16</a:t>
            </a:r>
          </a:p>
        </p:txBody>
      </p:sp>
      <p:sp>
        <p:nvSpPr>
          <p:cNvPr id="52" name="Diamond 51"/>
          <p:cNvSpPr/>
          <p:nvPr/>
        </p:nvSpPr>
        <p:spPr>
          <a:xfrm>
            <a:off x="16395192" y="5074920"/>
            <a:ext cx="155448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seven proofs pass?</a:t>
            </a:r>
          </a:p>
        </p:txBody>
      </p:sp>
      <p:sp>
        <p:nvSpPr>
          <p:cNvPr id="53" name="Oval 52"/>
          <p:cNvSpPr/>
          <p:nvPr/>
        </p:nvSpPr>
        <p:spPr>
          <a:xfrm>
            <a:off x="16267176" y="494690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17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8022824" y="5280660"/>
            <a:ext cx="1188720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no: stop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5115032" y="6035040"/>
            <a:ext cx="4114800" cy="6858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Sweep and sign off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on the client's prod numbers</a:t>
            </a:r>
          </a:p>
        </p:txBody>
      </p:sp>
      <p:sp>
        <p:nvSpPr>
          <p:cNvPr id="56" name="Oval 55"/>
          <p:cNvSpPr/>
          <p:nvPr/>
        </p:nvSpPr>
        <p:spPr>
          <a:xfrm>
            <a:off x="14987016" y="590702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18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5115032" y="68580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Diff after = rollback record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inventory before against after: nothing else moved</a:t>
            </a:r>
          </a:p>
        </p:txBody>
      </p:sp>
      <p:sp>
        <p:nvSpPr>
          <p:cNvPr id="58" name="Oval 57"/>
          <p:cNvSpPr/>
          <p:nvPr/>
        </p:nvSpPr>
        <p:spPr>
          <a:xfrm>
            <a:off x="14987016" y="6729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19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440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Additive-only domain patch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additions guard refuses any change to what is there; seven proofs per org; one-command restore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3232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Standardized Reports folder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scheduled SQL reports in one folder; on Origin_DEV today, promoted to client orgs by the same tool when approved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35024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Sweep after every change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sign-off is regenerated; the first red row is the alert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527280" y="132588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EFE9"/>
                </a:solidFill>
              </a:rPr>
              <a:t>every later change re-enters at the client test org and repeats steps 10 to 19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962656" y="342900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62656" y="42976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62656" y="5852159"/>
            <a:ext cx="0" cy="22860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975104" y="6492240"/>
            <a:ext cx="210311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2171700" y="6108192"/>
            <a:ext cx="292608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739896" y="6492240"/>
            <a:ext cx="1591056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330952" y="2903220"/>
            <a:ext cx="0" cy="358902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330952" y="2903220"/>
            <a:ext cx="31089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699248" y="32918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7699248" y="42062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699248" y="5212080"/>
            <a:ext cx="0" cy="1828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8476488" y="5806440"/>
            <a:ext cx="73152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604503" y="5422392"/>
            <a:ext cx="292608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699248" y="6217920"/>
            <a:ext cx="0" cy="1828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9756648" y="6789420"/>
            <a:ext cx="310896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0067544" y="3474720"/>
            <a:ext cx="0" cy="331470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067544" y="3474720"/>
            <a:ext cx="31089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2435840" y="297180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2435840" y="3840480"/>
            <a:ext cx="0" cy="137159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2435840" y="507492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3624559" y="5692140"/>
            <a:ext cx="73152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3752575" y="5308092"/>
            <a:ext cx="292608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2435840" y="617220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2435840" y="70408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4493240" y="7635240"/>
            <a:ext cx="310896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4804136" y="2743200"/>
            <a:ext cx="0" cy="489204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4804136" y="2743200"/>
            <a:ext cx="31089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7172432" y="297180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7172432" y="379476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172432" y="493776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7949672" y="5486400"/>
            <a:ext cx="73152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18077688" y="5102352"/>
            <a:ext cx="292608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17172432" y="58978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7172432" y="67208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7172432" y="7635240"/>
            <a:ext cx="0" cy="77724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16276320" y="8412480"/>
            <a:ext cx="896112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6276320" y="8412480"/>
            <a:ext cx="0" cy="68580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9202400" y="9578340"/>
            <a:ext cx="4572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19659600" y="1691640"/>
            <a:ext cx="0" cy="788670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12435840" y="1691640"/>
            <a:ext cx="722376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2435840" y="1691640"/>
            <a:ext cx="0" cy="8229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740664" y="10332720"/>
            <a:ext cx="1865376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5EFE9"/>
                </a:solidFill>
              </a:rPr>
              <a:t>Orange diamonds are gates: a 'no' stops the run and names the rollback. Numbers are the order of one full promotion. The Workstreams tree is never moved; the offering is a curated copy promoted org by org.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Database Deployment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262104" y="1965960"/>
            <a:ext cx="7132320" cy="150876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426696" y="2011679"/>
            <a:ext cx="680313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5. Submit 8 baselines as parallel scheduler jobs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unattended; they survive a dropped connection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5760720"/>
            <a:ext cx="18653760" cy="41148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5806440"/>
            <a:ext cx="18324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What the domains read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created in steps 2 and 3, validated at step 7 before anything is scheduled; each outlined stack feeds the domain chip beneath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6355080"/>
            <a:ext cx="210312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6400800"/>
            <a:ext cx="177393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Finance tables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6355080"/>
            <a:ext cx="210312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6400800"/>
            <a:ext cx="177393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Billing tables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6355080"/>
            <a:ext cx="210312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13831" y="6400800"/>
            <a:ext cx="177393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Meter Ops tables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6355080"/>
            <a:ext cx="23774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28431" y="6400800"/>
            <a:ext cx="20482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Debt Mgmt objects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0" y="6355080"/>
            <a:ext cx="297180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80192" y="6400800"/>
            <a:ext cx="264261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Meter Ops views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0" y="6355080"/>
            <a:ext cx="30632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80592" y="6400800"/>
            <a:ext cx="27340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Field Ops views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007840" y="6355080"/>
            <a:ext cx="219456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72432" y="6400800"/>
            <a:ext cx="18653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Customer Ops views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" y="228600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Preflight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deploy user can read every source table and write the targets</a:t>
            </a:r>
          </a:p>
        </p:txBody>
      </p:sp>
      <p:sp>
        <p:nvSpPr>
          <p:cNvPr id="24" name="Oval 23"/>
          <p:cNvSpPr/>
          <p:nvPr/>
        </p:nvSpPr>
        <p:spPr>
          <a:xfrm>
            <a:off x="612648" y="2157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00984" y="228600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Create the 7 snapshot tables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empty, with their keys</a:t>
            </a:r>
          </a:p>
        </p:txBody>
      </p:sp>
      <p:sp>
        <p:nvSpPr>
          <p:cNvPr id="26" name="Oval 25"/>
          <p:cNvSpPr/>
          <p:nvPr/>
        </p:nvSpPr>
        <p:spPr>
          <a:xfrm>
            <a:off x="3172968" y="2157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27064" y="228600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Create the domain-support objects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SA snapshot table, lookup seed, 8 CMS views, grants, synonyms</a:t>
            </a:r>
          </a:p>
        </p:txBody>
      </p:sp>
      <p:sp>
        <p:nvSpPr>
          <p:cNvPr id="28" name="Oval 27"/>
          <p:cNvSpPr/>
          <p:nvPr/>
        </p:nvSpPr>
        <p:spPr>
          <a:xfrm>
            <a:off x="6099048" y="2157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36024" y="228600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Deploy the procedures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baseline (the retained 24 months, once) and operational per table; the SA aged-balance refresh</a:t>
            </a:r>
          </a:p>
        </p:txBody>
      </p:sp>
      <p:sp>
        <p:nvSpPr>
          <p:cNvPr id="30" name="Oval 29"/>
          <p:cNvSpPr/>
          <p:nvPr/>
        </p:nvSpPr>
        <p:spPr>
          <a:xfrm>
            <a:off x="9208008" y="21579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454128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FT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209776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Billed usage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965424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SQ usage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721072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GL distribution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454128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Measurement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209776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Usage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965424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Usage scalar detail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7721072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SA snapshot refresh</a:t>
            </a:r>
          </a:p>
        </p:txBody>
      </p:sp>
      <p:sp>
        <p:nvSpPr>
          <p:cNvPr id="39" name="Diamond 38"/>
          <p:cNvSpPr/>
          <p:nvPr/>
        </p:nvSpPr>
        <p:spPr>
          <a:xfrm>
            <a:off x="17099280" y="4023360"/>
            <a:ext cx="2103120" cy="96012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ready gate: every job SUCCEEDED?</a:t>
            </a:r>
          </a:p>
        </p:txBody>
      </p:sp>
      <p:sp>
        <p:nvSpPr>
          <p:cNvPr id="40" name="Oval 39"/>
          <p:cNvSpPr/>
          <p:nvPr/>
        </p:nvSpPr>
        <p:spPr>
          <a:xfrm>
            <a:off x="16971264" y="38953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7282160" y="5120640"/>
            <a:ext cx="1737360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no: stop, fix, re-run</a:t>
            </a:r>
          </a:p>
        </p:txBody>
      </p:sp>
      <p:sp>
        <p:nvSpPr>
          <p:cNvPr id="42" name="Diamond 41"/>
          <p:cNvSpPr/>
          <p:nvPr/>
        </p:nvSpPr>
        <p:spPr>
          <a:xfrm>
            <a:off x="14264640" y="4023360"/>
            <a:ext cx="2377440" cy="96012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validate and install gates pass?</a:t>
            </a:r>
          </a:p>
        </p:txBody>
      </p:sp>
      <p:sp>
        <p:nvSpPr>
          <p:cNvPr id="43" name="Oval 42"/>
          <p:cNvSpPr/>
          <p:nvPr/>
        </p:nvSpPr>
        <p:spPr>
          <a:xfrm>
            <a:off x="14136624" y="38953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493240" y="5120640"/>
            <a:ext cx="1920240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no: stop, fix, re-run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612880" y="4114800"/>
            <a:ext cx="219456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Post-load indexes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keys and dates the domains filter on</a:t>
            </a:r>
          </a:p>
        </p:txBody>
      </p:sp>
      <p:sp>
        <p:nvSpPr>
          <p:cNvPr id="46" name="Oval 45"/>
          <p:cNvSpPr/>
          <p:nvPr/>
        </p:nvSpPr>
        <p:spPr>
          <a:xfrm>
            <a:off x="11484863" y="398678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4069080"/>
            <a:ext cx="274320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Rolling procedures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3 months rebuilt, 24 kept; one operational refresh run by hand</a:t>
            </a:r>
          </a:p>
        </p:txBody>
      </p:sp>
      <p:sp>
        <p:nvSpPr>
          <p:cNvPr id="48" name="Oval 47"/>
          <p:cNvSpPr/>
          <p:nvPr/>
        </p:nvSpPr>
        <p:spPr>
          <a:xfrm>
            <a:off x="8284463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9</a:t>
            </a:r>
          </a:p>
        </p:txBody>
      </p:sp>
      <p:sp>
        <p:nvSpPr>
          <p:cNvPr id="49" name="Diamond 48"/>
          <p:cNvSpPr/>
          <p:nvPr/>
        </p:nvSpPr>
        <p:spPr>
          <a:xfrm>
            <a:off x="5943600" y="4023360"/>
            <a:ext cx="2011680" cy="96012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validated again?</a:t>
            </a:r>
          </a:p>
        </p:txBody>
      </p:sp>
      <p:sp>
        <p:nvSpPr>
          <p:cNvPr id="50" name="Oval 49"/>
          <p:cNvSpPr/>
          <p:nvPr/>
        </p:nvSpPr>
        <p:spPr>
          <a:xfrm>
            <a:off x="5815584" y="389534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35040" y="3429000"/>
            <a:ext cx="1828800" cy="411480"/>
          </a:xfrm>
          <a:prstGeom prst="roundRect">
            <a:avLst>
              <a:gd name="adj" fmla="val 2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no: stop, fix, re-run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063240" y="4069080"/>
            <a:ext cx="246888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Schedule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twice daily from 10:00 and 16:00 UTC, 30-minute stagger; held on TEST until approved</a:t>
            </a:r>
          </a:p>
        </p:txBody>
      </p:sp>
      <p:sp>
        <p:nvSpPr>
          <p:cNvPr id="53" name="Oval 52"/>
          <p:cNvSpPr/>
          <p:nvPr/>
        </p:nvSpPr>
        <p:spPr>
          <a:xfrm>
            <a:off x="2935224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40664" y="40690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Capture runs, data quality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per client, kept with the log</a:t>
            </a:r>
          </a:p>
        </p:txBody>
      </p:sp>
      <p:sp>
        <p:nvSpPr>
          <p:cNvPr id="55" name="Oval 54"/>
          <p:cNvSpPr/>
          <p:nvPr/>
        </p:nvSpPr>
        <p:spPr>
          <a:xfrm>
            <a:off x="612648" y="3941064"/>
            <a:ext cx="310896" cy="310896"/>
          </a:xfrm>
          <a:prstGeom prst="ellipse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" y="5001768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EFE9"/>
                </a:solidFill>
              </a:rPr>
              <a:t>runs at (UTC), one job every 30 minutes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10:00 to 13:30, then again 16:00 to 19:30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60120" y="6766560"/>
            <a:ext cx="192024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FT_RPT_CURR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financial transactions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60120" y="7680960"/>
            <a:ext cx="192024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FT_GL_DISTRIBUTION_RPT_CURR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GL distribution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00400" y="6766560"/>
            <a:ext cx="192024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BSEG_BILLED_USAGE_RPT_CURR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billed usage per segment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00400" y="7680960"/>
            <a:ext cx="192024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BSEG_SQ_USAGE_RPT_CURR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service quantities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40680" y="6766560"/>
            <a:ext cx="1920240" cy="56692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D1_MSRMT_RPT_CURR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measurements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40680" y="7424927"/>
            <a:ext cx="1920240" cy="56692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D1_USAGE_RPT_CURR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usage transactions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40680" y="8083296"/>
            <a:ext cx="1920240" cy="56692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850" b="1">
                <a:solidFill>
                  <a:srgbClr val="0B3D7A"/>
                </a:solidFill>
              </a:rPr>
              <a:t>D1_USAGE_SCALAR_DTL_RPT_CURR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usage scalar detail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68680" y="9006840"/>
            <a:ext cx="21031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Finance domains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108960" y="9006840"/>
            <a:ext cx="21031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Billing and Rates domains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349240" y="9006840"/>
            <a:ext cx="21031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Usage and measurement domains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955279" y="6766560"/>
            <a:ext cx="2194560" cy="82296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CMS_SA_SNAPSHOT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aged balance per SA, refreshed by procedure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55279" y="7726679"/>
            <a:ext cx="2194560" cy="6400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CM_SNAPSHOT_TYPE_FLG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lookup seed: LDAY, EMON, ARCH, LEMN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863840" y="9006840"/>
            <a:ext cx="23774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SA Snapshot Aged Balance domain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607040" y="6766560"/>
            <a:ext cx="278892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CMS_D1_DVC_IDENTIFIER_VW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607040" y="7315200"/>
            <a:ext cx="278892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CMS_D1_DVC_BODA_VW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607040" y="7863840"/>
            <a:ext cx="278892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CMS_W1_ASSET_IDENTIFIER_VW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515600" y="9006840"/>
            <a:ext cx="14173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Device domain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2070080" y="9006840"/>
            <a:ext cx="14173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Asset domain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807440" y="6766560"/>
            <a:ext cx="288036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CMS_C1_REPRESENTATIVE_BODA_VW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3807440" y="7315200"/>
            <a:ext cx="288036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CMS_D1_ACTIVITY_CHAR_VW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3807440" y="7863840"/>
            <a:ext cx="288036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CMS_D1_ACTIVITY_D1FA_BODA_VW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3716000" y="9006840"/>
            <a:ext cx="1463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Crew domain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5316200" y="9006840"/>
            <a:ext cx="1463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Field Activity domain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7099280" y="676656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CMS_CI_CASE_VW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7099280" y="7315200"/>
            <a:ext cx="201168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CMS_CI_CASE_LOG_VW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7007840" y="9006840"/>
            <a:ext cx="219456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Case domain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026664" y="2743200"/>
            <a:ext cx="27432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5952744" y="2743200"/>
            <a:ext cx="27432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061704" y="2743200"/>
            <a:ext cx="27432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1987784" y="2720339"/>
            <a:ext cx="274320" cy="2286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5828263" y="3474720"/>
            <a:ext cx="0" cy="274319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5828263" y="3749039"/>
            <a:ext cx="2322577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8150839" y="3749039"/>
            <a:ext cx="1" cy="27432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8150839" y="49834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8242280" y="4668012"/>
            <a:ext cx="292608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92" name="Connector 91"/>
          <p:cNvCxnSpPr/>
          <p:nvPr/>
        </p:nvCxnSpPr>
        <p:spPr>
          <a:xfrm flipH="1">
            <a:off x="16642080" y="450342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53359" y="49834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15544800" y="4668012"/>
            <a:ext cx="292608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95" name="Connector 94"/>
          <p:cNvCxnSpPr/>
          <p:nvPr/>
        </p:nvCxnSpPr>
        <p:spPr>
          <a:xfrm flipH="1">
            <a:off x="13807440" y="450342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11155680" y="450342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7955279" y="4503420"/>
            <a:ext cx="457201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6949440" y="3840480"/>
            <a:ext cx="0" cy="1828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7040879" y="3547872"/>
            <a:ext cx="292608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no</a:t>
            </a:r>
          </a:p>
        </p:txBody>
      </p:sp>
      <p:cxnSp>
        <p:nvCxnSpPr>
          <p:cNvPr id="100" name="Connector 99"/>
          <p:cNvCxnSpPr/>
          <p:nvPr/>
        </p:nvCxnSpPr>
        <p:spPr>
          <a:xfrm flipH="1">
            <a:off x="5532120" y="4503420"/>
            <a:ext cx="41148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2660904" y="4503420"/>
            <a:ext cx="40233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297680" y="4937760"/>
            <a:ext cx="0" cy="41148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297680" y="5349240"/>
            <a:ext cx="54864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9784080" y="4937760"/>
            <a:ext cx="0" cy="4114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572000" y="5029200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every 12 hours: the newest 3 months rebuilt, older rows kept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920239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160520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6400800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9052560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2001500" y="8732520"/>
            <a:ext cx="0" cy="1371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11219688" y="8869680"/>
            <a:ext cx="781812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1219688" y="8869680"/>
            <a:ext cx="4572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2001500" y="8732520"/>
            <a:ext cx="0" cy="1371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2001500" y="8869680"/>
            <a:ext cx="772668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2774168" y="8869680"/>
            <a:ext cx="4572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5247620" y="8732520"/>
            <a:ext cx="0" cy="1371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14447520" y="8869680"/>
            <a:ext cx="8001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4447520" y="88696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5247620" y="8732520"/>
            <a:ext cx="0" cy="1371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5247620" y="8869680"/>
            <a:ext cx="8001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6047720" y="88696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8105120" y="8732520"/>
            <a:ext cx="0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740664" y="10012680"/>
            <a:ext cx="1865376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5EFE9"/>
                </a:solidFill>
              </a:rPr>
              <a:t>Every box in the map is one database object the domains read: seven rolling snapshot tables, the SA aged-balance table with its lookup seed, and eight CMS views. Numbers are the order of one rollout; orange diamonds are gates and a 'no' stops it there. The loop under the second row is the twice-daily rolling refresh (3 months rebuilt, 24 kept; 6 months at CityCorp and Odessa).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F5EFE9"/>
                </a:solidFill>
              </a:rPr>
              <a:t>The Objects The Domains Depend On (1 of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CMS_SA_SNAPSHOT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table + refresh procedure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end-of-day (LDAY) aged-balance row per service agreement: current and payoff balance, new charges, and ten aging buckets built from frozen ARS financial transactions dated up to today. Credits and payments retire the oldest debt first; excess credit sits in the current bucket; buckets 1 to 5 always sum to the current balance; future-dated amounts are excluded.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Debt Management: the SA Snapshot Aged Balance domain, its account roll-up (a derived query over this table, not a second object), and every aged-debt view and dashboard on it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CM_SNAPSHOT_TYPE_FLG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lookup seed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four snapshot-type codes (LDAY, EMON, ARCH, LEMN) written into the C2M lookup tables. The domain inner-joins them, so a fresh database without the seed returns zero rows in every Ad Hoc view.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Debt Management: SA Snapshot Aged Balance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CMS_D1_DVC_IDENTIFIER_VW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device with its identifiers pivoted from rows into columns: asset id, badge number, serial number, internal meter number, external and MDM ids, NIC id and serial, name, utility device id.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Device domain; Daily Installations, Disconnected Service Points, Meters Not Recently Read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CMS_D1_DVC_BODA_VW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device's business-object data area parsed out of its XML: business object code, latest status, retirement date and time. One row per device.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Device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CMS_W1_ASSET_IDENTIFIER_VW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asset with its identifiers pivoted into columns, the asset-side twin of the device identifier view, so the Asset domain can join by badge, serial or external id.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Asset domain; In Storage, Distribution of Installed Assets, Non-Meter Assets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F5EFE9"/>
                </a:solidFill>
              </a:rPr>
              <a:t>The Objects The Domains Depend On (2 of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CMS_C1_REPRESENTATIVE_BODA_VW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representative (crew member) mobile details parsed out of the representative's XML data area: the service areas they cover and their worker capabilities, one row per representative and area or capability.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domain and its views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CMS_D1_ACTIVITY_CHAR_VW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Activity characteristics pivoted per field activity: internal field-activity status, priority, and the third-party representative code, so the domain filters on them as columns.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CMS_D1_ACTIVITY_D1FA_BODA_VW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field activity's business-object data parsed from XML: instructions and comments, the appointment window and who took it, expiration, requester, external references, and the customer and contact names and phone numbers.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and Field Activity domains; Upcoming Field Work, Cancelations, Average Days per Field Task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CMS_CI_CASE_VW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case with its create and close timestamps derived from the case log (the case-created entry and the closing status entry) and the duration in minutes, measured to now while the case is open.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Customer Operations: Case domain and every case 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CMS_CI_CASE_LOG_VW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case log as a timeline: every status change with the previous status, the previous log time, and how long the case sat in the previous and the current state.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Customer Operations: Case domain (state durations and the case timeline views)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igin Utility 2025">
      <a:dk1>
        <a:srgbClr val="006DA7"/>
      </a:dk1>
      <a:lt1>
        <a:srgbClr val="F5EFE9"/>
      </a:lt1>
      <a:dk2>
        <a:srgbClr val="006DA7"/>
      </a:dk2>
      <a:lt2>
        <a:srgbClr val="F4EFE9"/>
      </a:lt2>
      <a:accent1>
        <a:srgbClr val="FFA418"/>
      </a:accent1>
      <a:accent2>
        <a:srgbClr val="E9860D"/>
      </a:accent2>
      <a:accent3>
        <a:srgbClr val="BD5720"/>
      </a:accent3>
      <a:accent4>
        <a:srgbClr val="DBD3CC"/>
      </a:accent4>
      <a:accent5>
        <a:srgbClr val="BDB2AC"/>
      </a:accent5>
      <a:accent6>
        <a:srgbClr val="8E837E"/>
      </a:accent6>
      <a:hlink>
        <a:srgbClr val="FFA418"/>
      </a:hlink>
      <a:folHlink>
        <a:srgbClr val="BD572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-Deck Template-V1.1.0" id="{543EA141-4271-724E-B203-433C213E4E47}" vid="{7CB0B064-B97B-A240-BD28-B45B388501E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0EC55FE308B3F479D76AF450841754E" ma:contentTypeVersion="12" ma:contentTypeDescription="Create a new document." ma:contentTypeScope="" ma:versionID="e790027c7c34249bb98666c8c9119eaa">
  <xsd:schema xmlns:xsd="http://www.w3.org/2001/XMLSchema" xmlns:xs="http://www.w3.org/2001/XMLSchema" xmlns:p="http://schemas.microsoft.com/office/2006/metadata/properties" xmlns:ns2="12ca6ba9-4514-42dd-bdc3-b6324cc23e5f" xmlns:ns3="d357c37f-953d-43f0-9d5c-41b6999fc31b" targetNamespace="http://schemas.microsoft.com/office/2006/metadata/properties" ma:root="true" ma:fieldsID="bd009a1edaaf9ab5d6f665727a0fec8b" ns2:_="" ns3:_="">
    <xsd:import namespace="12ca6ba9-4514-42dd-bdc3-b6324cc23e5f"/>
    <xsd:import namespace="d357c37f-953d-43f0-9d5c-41b6999fc3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a6ba9-4514-42dd-bdc3-b6324cc23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57c37f-953d-43f0-9d5c-41b6999fc31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5F15CB5-6569-4BED-87D8-DF74EBB45C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4E750B-86ED-4509-BE57-275555DF1C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ca6ba9-4514-42dd-bdc3-b6324cc23e5f"/>
    <ds:schemaRef ds:uri="d357c37f-953d-43f0-9d5c-41b6999fc31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7C8049-9568-4DE9-AB0C-6845984CADEA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d357c37f-953d-43f0-9d5c-41b6999fc31b"/>
    <ds:schemaRef ds:uri="http://www.w3.org/XML/1998/namespace"/>
    <ds:schemaRef ds:uri="12ca6ba9-4514-42dd-bdc3-b6324cc23e5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ORG-Deck Template-V1.1.0</Template>
  <TotalTime>574</TotalTime>
  <Words>528</Words>
  <Application>Microsoft Office PowerPoint</Application>
  <PresentationFormat>Custom</PresentationFormat>
  <Paragraphs>95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Delight Semi Bold</vt:lpstr>
      <vt:lpstr>Delight Regular</vt:lpstr>
      <vt:lpstr>Arial</vt:lpstr>
      <vt:lpstr>Aptos</vt:lpstr>
      <vt:lpstr>Delight Medium</vt:lpstr>
      <vt:lpstr>Office Theme</vt:lpstr>
      <vt:lpstr>DataVergence App</vt:lpstr>
      <vt:lpstr>PowerPoint Presentation</vt:lpstr>
      <vt:lpstr>PowerPoint Presentation</vt:lpstr>
      <vt:lpstr>What is being solved?</vt:lpstr>
      <vt:lpstr>PowerPoint Presentation</vt:lpstr>
      <vt:lpstr>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Geraldine Roddie</dc:creator>
  <cp:lastModifiedBy>Reed Navara</cp:lastModifiedBy>
  <cp:revision>4</cp:revision>
  <dcterms:created xsi:type="dcterms:W3CDTF">2025-11-19T15:32:52Z</dcterms:created>
  <dcterms:modified xsi:type="dcterms:W3CDTF">2026-09-25T00:07:49Z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2025-09-02T00:00:00Z</vt:filetime>
  </property>
  <property fmtid="{D5CDD505-2E9C-101B-9397-08002B2CF9AE}" pid="3" name="Creator">
    <vt:lpwstr>Adobe InDesign 20.5 (Macintosh)</vt:lpwstr>
  </property>
  <property fmtid="{D5CDD505-2E9C-101B-9397-08002B2CF9AE}" pid="4" name="LastSaved">
    <vt:filetime>2025-09-02T00:00:00Z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0x01010000EC55FE308B3F479D76AF450841754E</vt:lpwstr>
  </property>
  <property fmtid="{D5CDD505-2E9C-101B-9397-08002B2CF9AE}" pid="7" name="MediaServiceImageTags">
    <vt:lpwstr/>
  </property>
</Properties>
</file>