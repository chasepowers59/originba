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0B17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6ECF2"/>
                </a:solidFill>
              </a:rPr>
              <a:t>Standard Offering Release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E6ECF2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0B17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E6ECF2"/>
                </a:solidFill>
              </a:rPr>
              <a:t>Standard Offering Deployment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authoring, the internal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7256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proving, before any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3848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the client's own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950440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read-only until the prod flag is given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8549640"/>
            <a:ext cx="18653760" cy="16916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85953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every change is a tool run with the same proofs, never a hand edit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386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one API export task, polled, downloaded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4381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068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Diamond 21"/>
          <p:cNvSpPr/>
          <p:nvPr/>
        </p:nvSpPr>
        <p:spPr>
          <a:xfrm>
            <a:off x="2276856" y="608076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package verifies?</a:t>
            </a:r>
          </a:p>
        </p:txBody>
      </p:sp>
      <p:sp>
        <p:nvSpPr>
          <p:cNvPr id="23" name="Oval 22"/>
          <p:cNvSpPr/>
          <p:nvPr/>
        </p:nvSpPr>
        <p:spPr>
          <a:xfrm>
            <a:off x="2148840" y="59527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" y="62865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polled; an importer warning counts as a failure</a:t>
            </a:r>
          </a:p>
        </p:txBody>
      </p:sp>
      <p:sp>
        <p:nvSpPr>
          <p:cNvPr id="26" name="Oval 25"/>
          <p:cNvSpPr/>
          <p:nvPr/>
        </p:nvSpPr>
        <p:spPr>
          <a:xfrm>
            <a:off x="5513832" y="2386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byte-equal inside the scope, importer stamps ignored</a:t>
            </a:r>
          </a:p>
        </p:txBody>
      </p:sp>
      <p:sp>
        <p:nvSpPr>
          <p:cNvPr id="28" name="Oval 27"/>
          <p:cNvSpPr/>
          <p:nvPr/>
        </p:nvSpPr>
        <p:spPr>
          <a:xfrm>
            <a:off x="5513832" y="3300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views by query, reports as PDF, domains by metadata and probe</a:t>
            </a:r>
          </a:p>
        </p:txBody>
      </p:sp>
      <p:sp>
        <p:nvSpPr>
          <p:cNvPr id="30" name="Oval 29"/>
          <p:cNvSpPr/>
          <p:nvPr/>
        </p:nvSpPr>
        <p:spPr>
          <a:xfrm>
            <a:off x="5513832" y="42153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Diamond 30"/>
          <p:cNvSpPr/>
          <p:nvPr/>
        </p:nvSpPr>
        <p:spPr>
          <a:xfrm>
            <a:off x="7013448" y="539496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seven proofs pass?</a:t>
            </a:r>
          </a:p>
        </p:txBody>
      </p:sp>
      <p:sp>
        <p:nvSpPr>
          <p:cNvPr id="32" name="Oval 31"/>
          <p:cNvSpPr/>
          <p:nvPr/>
        </p:nvSpPr>
        <p:spPr>
          <a:xfrm>
            <a:off x="6885432" y="5266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42248" y="56007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package every client promotion starts from</a:t>
            </a:r>
          </a:p>
        </p:txBody>
      </p:sp>
      <p:sp>
        <p:nvSpPr>
          <p:cNvPr id="35" name="Oval 34"/>
          <p:cNvSpPr/>
          <p:nvPr/>
        </p:nvSpPr>
        <p:spPr>
          <a:xfrm>
            <a:off x="5513832" y="62727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datasource: the client's own export, carried byte for byte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7844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every resource on the org before anything changes</a:t>
            </a:r>
          </a:p>
        </p:txBody>
      </p:sp>
      <p:sp>
        <p:nvSpPr>
          <p:cNvPr id="38" name="Oval 37"/>
          <p:cNvSpPr/>
          <p:nvPr/>
        </p:nvSpPr>
        <p:spPr>
          <a:xfrm>
            <a:off x="10250424" y="2980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78440" y="3977639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client's datasource carried; org path, folder, alias and tenant root rewritten by tested replacements</a:t>
            </a:r>
          </a:p>
        </p:txBody>
      </p:sp>
      <p:sp>
        <p:nvSpPr>
          <p:cNvPr id="40" name="Oval 39"/>
          <p:cNvSpPr/>
          <p:nvPr/>
        </p:nvSpPr>
        <p:spPr>
          <a:xfrm>
            <a:off x="10250424" y="38496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1" name="Diamond 40"/>
          <p:cNvSpPr/>
          <p:nvPr/>
        </p:nvSpPr>
        <p:spPr>
          <a:xfrm>
            <a:off x="11750040" y="521208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package verified?</a:t>
            </a:r>
          </a:p>
        </p:txBody>
      </p:sp>
      <p:sp>
        <p:nvSpPr>
          <p:cNvPr id="42" name="Oval 41"/>
          <p:cNvSpPr/>
          <p:nvPr/>
        </p:nvSpPr>
        <p:spPr>
          <a:xfrm>
            <a:off x="11622024" y="5084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578840" y="541782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78440" y="621792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same three proofs as Origin_TEST</a:t>
            </a:r>
          </a:p>
        </p:txBody>
      </p:sp>
      <p:sp>
        <p:nvSpPr>
          <p:cNvPr id="45" name="Oval 44"/>
          <p:cNvSpPr/>
          <p:nvPr/>
        </p:nvSpPr>
        <p:spPr>
          <a:xfrm>
            <a:off x="10250424" y="6089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78440" y="7086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47" name="Oval 46"/>
          <p:cNvSpPr/>
          <p:nvPr/>
        </p:nvSpPr>
        <p:spPr>
          <a:xfrm>
            <a:off x="10250424" y="6958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</a:rPr>
              <a:t>explicit prod flag required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rollback baseline</a:t>
            </a:r>
          </a:p>
        </p:txBody>
      </p:sp>
      <p:sp>
        <p:nvSpPr>
          <p:cNvPr id="50" name="Oval 49"/>
          <p:cNvSpPr/>
          <p:nvPr/>
        </p:nvSpPr>
        <p:spPr>
          <a:xfrm>
            <a:off x="14987016" y="2980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52" name="Oval 51"/>
          <p:cNvSpPr/>
          <p:nvPr/>
        </p:nvSpPr>
        <p:spPr>
          <a:xfrm>
            <a:off x="14987016" y="3803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53" name="Diamond 52"/>
          <p:cNvSpPr/>
          <p:nvPr/>
        </p:nvSpPr>
        <p:spPr>
          <a:xfrm>
            <a:off x="16486632" y="507492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seven proofs pass?</a:t>
            </a:r>
          </a:p>
        </p:txBody>
      </p:sp>
      <p:sp>
        <p:nvSpPr>
          <p:cNvPr id="54" name="Oval 53"/>
          <p:cNvSpPr/>
          <p:nvPr/>
        </p:nvSpPr>
        <p:spPr>
          <a:xfrm>
            <a:off x="16358616" y="4946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315432" y="528066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on the client's prod numbers</a:t>
            </a:r>
          </a:p>
        </p:txBody>
      </p:sp>
      <p:sp>
        <p:nvSpPr>
          <p:cNvPr id="57" name="Oval 56"/>
          <p:cNvSpPr/>
          <p:nvPr/>
        </p:nvSpPr>
        <p:spPr>
          <a:xfrm>
            <a:off x="14987016" y="59070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inventory before against after: nothing else moved</a:t>
            </a:r>
          </a:p>
        </p:txBody>
      </p:sp>
      <p:sp>
        <p:nvSpPr>
          <p:cNvPr id="59" name="Oval 58"/>
          <p:cNvSpPr/>
          <p:nvPr/>
        </p:nvSpPr>
        <p:spPr>
          <a:xfrm>
            <a:off x="14987016" y="6729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3232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scheduled SQL reports in one folder; on Origin_DEV today, promoted to client orgs by the same tool when approved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35024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sign-off is regenerated; the first red row is the alert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527280" y="132588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CF2"/>
                </a:solidFill>
              </a:rPr>
              <a:t>every later change re-enters at the client test org and repeats steps 10 to 19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62656" y="5852159"/>
            <a:ext cx="0" cy="22860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819656" y="649224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99616" y="61813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648456" y="6492240"/>
            <a:ext cx="16824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5330952" y="2903220"/>
            <a:ext cx="0" cy="358902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330952" y="290322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023360" y="6144768"/>
            <a:ext cx="914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385048" y="580644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065008" y="54955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763256" y="61722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756648" y="6789420"/>
            <a:ext cx="3108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0067544" y="3474720"/>
            <a:ext cx="0" cy="33147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067544" y="347472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435840" y="29718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435840" y="3840480"/>
            <a:ext cx="0" cy="137159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435840" y="507492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3121640" y="5623559"/>
            <a:ext cx="457200" cy="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2801600" y="531266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2435840" y="603504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2499848" y="59893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2435840" y="69494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4493240" y="7543800"/>
            <a:ext cx="3108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804136" y="2743200"/>
            <a:ext cx="0" cy="48006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7858232" y="548640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7538192" y="517550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7236440" y="58293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172432" y="7635240"/>
            <a:ext cx="0" cy="77724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16276320" y="8412480"/>
            <a:ext cx="896112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6276320" y="8412480"/>
            <a:ext cx="0" cy="68580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9202400" y="9578340"/>
            <a:ext cx="4572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9659600" y="1691640"/>
            <a:ext cx="0" cy="78867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12435840" y="1691640"/>
            <a:ext cx="722376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2435840" y="1691640"/>
            <a:ext cx="0" cy="8229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40664" y="1033272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CF2"/>
                </a:solidFill>
              </a:rPr>
              <a:t>Blue diamonds are gates: yes continues, no stops the run and names the rollback. Numbers are the order of one full promotion.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0B17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E6ECF2"/>
                </a:solidFill>
              </a:rPr>
              <a:t>Database Deployment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5. 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unattended; they survive a dropped connection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created in steps 2 and 3, validated at step 7 before anything is scheduled; each outlined stack feeds the domain chip beneath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Finance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Billing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Meter Ops tables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6355080"/>
            <a:ext cx="23774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6400800"/>
            <a:ext cx="20482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Debt Mgmt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6355080"/>
            <a:ext cx="265176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67744" y="6400800"/>
            <a:ext cx="2322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Meter Ops views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264640" y="6355080"/>
            <a:ext cx="269748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29232" y="6400800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Field Ops views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71848" y="6355080"/>
            <a:ext cx="21488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236440" y="6400800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Customer Ops views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deploy user can read every source table and write the targets</a:t>
            </a:r>
          </a:p>
        </p:txBody>
      </p:sp>
      <p:sp>
        <p:nvSpPr>
          <p:cNvPr id="25" name="Oval 24"/>
          <p:cNvSpPr/>
          <p:nvPr/>
        </p:nvSpPr>
        <p:spPr>
          <a:xfrm>
            <a:off x="61264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empty, with their keys</a:t>
            </a:r>
          </a:p>
        </p:txBody>
      </p:sp>
      <p:sp>
        <p:nvSpPr>
          <p:cNvPr id="27" name="Oval 26"/>
          <p:cNvSpPr/>
          <p:nvPr/>
        </p:nvSpPr>
        <p:spPr>
          <a:xfrm>
            <a:off x="317296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SA snapshot table, lookup seed, 8 CMS views, grants, synonyms</a:t>
            </a:r>
          </a:p>
        </p:txBody>
      </p:sp>
      <p:sp>
        <p:nvSpPr>
          <p:cNvPr id="29" name="Oval 28"/>
          <p:cNvSpPr/>
          <p:nvPr/>
        </p:nvSpPr>
        <p:spPr>
          <a:xfrm>
            <a:off x="609904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baseline (the retained 24 months, once) and operational per table; the SA aged-balance refresh</a:t>
            </a:r>
          </a:p>
        </p:txBody>
      </p:sp>
      <p:sp>
        <p:nvSpPr>
          <p:cNvPr id="31" name="Oval 30"/>
          <p:cNvSpPr/>
          <p:nvPr/>
        </p:nvSpPr>
        <p:spPr>
          <a:xfrm>
            <a:off x="920800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FT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Billed usage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SQ usage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GL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Measurement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 scalar detail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SA snapshot refresh</a:t>
            </a:r>
          </a:p>
        </p:txBody>
      </p:sp>
      <p:sp>
        <p:nvSpPr>
          <p:cNvPr id="40" name="Diamond 39"/>
          <p:cNvSpPr/>
          <p:nvPr/>
        </p:nvSpPr>
        <p:spPr>
          <a:xfrm>
            <a:off x="17099280" y="4069080"/>
            <a:ext cx="210312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ready gate: every job SUCCEEDED?</a:t>
            </a:r>
          </a:p>
        </p:txBody>
      </p:sp>
      <p:sp>
        <p:nvSpPr>
          <p:cNvPr id="41" name="Oval 40"/>
          <p:cNvSpPr/>
          <p:nvPr/>
        </p:nvSpPr>
        <p:spPr>
          <a:xfrm>
            <a:off x="1697126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282160" y="5257800"/>
            <a:ext cx="173736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43" name="Diamond 42"/>
          <p:cNvSpPr/>
          <p:nvPr/>
        </p:nvSpPr>
        <p:spPr>
          <a:xfrm>
            <a:off x="14264640" y="4069080"/>
            <a:ext cx="237744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validate and install gates pass?</a:t>
            </a:r>
          </a:p>
        </p:txBody>
      </p:sp>
      <p:sp>
        <p:nvSpPr>
          <p:cNvPr id="44" name="Oval 43"/>
          <p:cNvSpPr/>
          <p:nvPr/>
        </p:nvSpPr>
        <p:spPr>
          <a:xfrm>
            <a:off x="1413662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493240" y="5257800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612880" y="4069080"/>
            <a:ext cx="219456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keys and dates the domains filter on</a:t>
            </a:r>
          </a:p>
        </p:txBody>
      </p:sp>
      <p:sp>
        <p:nvSpPr>
          <p:cNvPr id="47" name="Oval 46"/>
          <p:cNvSpPr/>
          <p:nvPr/>
        </p:nvSpPr>
        <p:spPr>
          <a:xfrm>
            <a:off x="11484863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3 months rebuilt, 24 kept; one operational refresh run by hand</a:t>
            </a:r>
          </a:p>
        </p:txBody>
      </p:sp>
      <p:sp>
        <p:nvSpPr>
          <p:cNvPr id="49" name="Oval 48"/>
          <p:cNvSpPr/>
          <p:nvPr/>
        </p:nvSpPr>
        <p:spPr>
          <a:xfrm>
            <a:off x="8284463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0" name="Diamond 49"/>
          <p:cNvSpPr/>
          <p:nvPr/>
        </p:nvSpPr>
        <p:spPr>
          <a:xfrm>
            <a:off x="5943600" y="4069080"/>
            <a:ext cx="201168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validated again?</a:t>
            </a:r>
          </a:p>
        </p:txBody>
      </p:sp>
      <p:sp>
        <p:nvSpPr>
          <p:cNvPr id="51" name="Oval 50"/>
          <p:cNvSpPr/>
          <p:nvPr/>
        </p:nvSpPr>
        <p:spPr>
          <a:xfrm>
            <a:off x="581558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3337560"/>
            <a:ext cx="182880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twice daily from 10:00 and 16:00 UTC, 30-minute stagger; held on TEST until approved</a:t>
            </a:r>
          </a:p>
        </p:txBody>
      </p:sp>
      <p:sp>
        <p:nvSpPr>
          <p:cNvPr id="54" name="Oval 53"/>
          <p:cNvSpPr/>
          <p:nvPr/>
        </p:nvSpPr>
        <p:spPr>
          <a:xfrm>
            <a:off x="293522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per client, kept with the log</a:t>
            </a:r>
          </a:p>
        </p:txBody>
      </p:sp>
      <p:sp>
        <p:nvSpPr>
          <p:cNvPr id="56" name="Oval 55"/>
          <p:cNvSpPr/>
          <p:nvPr/>
        </p:nvSpPr>
        <p:spPr>
          <a:xfrm>
            <a:off x="612648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" y="500176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CF2"/>
                </a:solidFill>
              </a:rPr>
              <a:t>runs at (UTC), one job every 30 minutes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10:00 to 13:30, then again 16:00 to 19:30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0120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financial transactions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0120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GL distribution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75887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billed usage per segment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75887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service quantities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91656" y="6766560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measurements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91656" y="7424927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usage transactions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91656" y="8083296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usage scalar detail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8680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04B86"/>
                </a:solidFill>
              </a:rPr>
              <a:t>Finance domains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584448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Billing and Rates domains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00216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 and measurement domains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7424" y="6766560"/>
            <a:ext cx="2194560" cy="82296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aged balance per SA, refreshed by procedure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107424" y="7726679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lookup seed: LDAY, EMON, ARCH, LEMN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15984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SA Snapshot Aged Balance domain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594592" y="676656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CMS_D1_DVC_IDENTIFIER_VW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594592" y="731520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CMS_D1_DVC_BODA_VW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594592" y="786384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CMS_W1_ASSET_IDENTIFIER_VW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5031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Device domain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8747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Asset domain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356080" y="676656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CMS_C1_REPRESENTATIVE_BODA_VW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4356080" y="731520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CMS_D1_ACTIVITY_CHAR_VW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4356080" y="786384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CMS_D1_ACTIVITY_D1FA_BODA_VW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4264640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Crew domain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5663672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Field Activity domain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7163288" y="676656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CMS_CI_CASE_VW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163288" y="731520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CMS_CI_CASE_LOG_VW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071848" y="9006840"/>
            <a:ext cx="21488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Case domain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828263" y="3474720"/>
            <a:ext cx="0" cy="274319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28263" y="3749039"/>
            <a:ext cx="2322577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8150839" y="3749039"/>
            <a:ext cx="1" cy="32004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8150839" y="4937760"/>
            <a:ext cx="0" cy="32004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8214848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6322039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5453359" y="4937760"/>
            <a:ext cx="0" cy="32004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5517367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348740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949440" y="3721608"/>
            <a:ext cx="0" cy="347472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013448" y="3758183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18922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every 12 hours: the newest 3 months rebuilt, older rows kept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171700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887468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603236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204704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>
            <a:off x="12143232" y="8869680"/>
            <a:ext cx="6858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143232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2829032" y="8869680"/>
            <a:ext cx="6858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3514832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14913863" y="8869680"/>
            <a:ext cx="699517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4913863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5613380" y="8869680"/>
            <a:ext cx="69951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6312896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8146268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CF2"/>
                </a:solidFill>
              </a:rPr>
              <a:t>Every box in the map is one database object the domains read: seven rolling snapshot tables, the SA aged-balance table with its lookup seed, and eight CMS views. Numbers are the order of one rollout; blue diamonds are gates: yes continues, no stops the rollout there. The loop under the second row is the twice-daily rolling refresh (3 months rebuilt, 24 kept; 6 months at CityCorp and Odessa).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0B17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E6ECF2"/>
                </a:solidFill>
              </a:rPr>
              <a:t>The Objects The Domains Depend On (1 of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0B17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E6ECF2"/>
                </a:solidFill>
              </a:rPr>
              <a:t>The Objects The Domains Depend On (2 of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