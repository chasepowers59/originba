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Standard Offering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authoring, the internal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7256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41848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proving, before any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13848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the client's own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950440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15032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read-only until the prod flag is given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8549640"/>
            <a:ext cx="18653760" cy="16916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859536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After go-live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every change is a tool run with the same proofs, never a hand edit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2514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Workstreams tree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domains, Ad Hoc views, reports and dashboards: the only content edited by hand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386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" y="35661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Export the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one API export task, polled, downloaded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4381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" y="443484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Build the package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and classify the export; keep the offering list; one copy of each domain in one home; carry the datasource; rewrite every path; strip print wrappers; narrow the import index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3068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21" name="Diamond 20"/>
          <p:cNvSpPr/>
          <p:nvPr/>
        </p:nvSpPr>
        <p:spPr>
          <a:xfrm>
            <a:off x="2276856" y="608076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package verifies?</a:t>
            </a:r>
          </a:p>
        </p:txBody>
      </p:sp>
      <p:sp>
        <p:nvSpPr>
          <p:cNvPr id="22" name="Oval 21"/>
          <p:cNvSpPr/>
          <p:nvPr/>
        </p:nvSpPr>
        <p:spPr>
          <a:xfrm>
            <a:off x="2148840" y="59527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" y="62865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41848" y="25146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update in place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polled; an importer warning counts as a failure</a:t>
            </a:r>
          </a:p>
        </p:txBody>
      </p:sp>
      <p:sp>
        <p:nvSpPr>
          <p:cNvPr id="25" name="Oval 24"/>
          <p:cNvSpPr/>
          <p:nvPr/>
        </p:nvSpPr>
        <p:spPr>
          <a:xfrm>
            <a:off x="5513832" y="2386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41848" y="3429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Re-export and compare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byte-equal inside the scope, importer stamps ignored</a:t>
            </a:r>
          </a:p>
        </p:txBody>
      </p:sp>
      <p:sp>
        <p:nvSpPr>
          <p:cNvPr id="27" name="Oval 26"/>
          <p:cNvSpPr/>
          <p:nvPr/>
        </p:nvSpPr>
        <p:spPr>
          <a:xfrm>
            <a:off x="5513832" y="3300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41848" y="434340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Execute everything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views by query, reports as PDF, domains by metadata and probe</a:t>
            </a:r>
          </a:p>
        </p:txBody>
      </p:sp>
      <p:sp>
        <p:nvSpPr>
          <p:cNvPr id="29" name="Oval 28"/>
          <p:cNvSpPr/>
          <p:nvPr/>
        </p:nvSpPr>
        <p:spPr>
          <a:xfrm>
            <a:off x="5513832" y="42153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30" name="Diamond 29"/>
          <p:cNvSpPr/>
          <p:nvPr/>
        </p:nvSpPr>
        <p:spPr>
          <a:xfrm>
            <a:off x="7013448" y="539496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31" name="Oval 30"/>
          <p:cNvSpPr/>
          <p:nvPr/>
        </p:nvSpPr>
        <p:spPr>
          <a:xfrm>
            <a:off x="6885432" y="5266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42248" y="56007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41848" y="64008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Proven offering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package every client promotion starts from</a:t>
            </a:r>
          </a:p>
        </p:txBody>
      </p:sp>
      <p:sp>
        <p:nvSpPr>
          <p:cNvPr id="34" name="Oval 33"/>
          <p:cNvSpPr/>
          <p:nvPr/>
        </p:nvSpPr>
        <p:spPr>
          <a:xfrm>
            <a:off x="5513832" y="62727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78440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datasource: the client's own export, carried byte for byte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1089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every resource on the org before anything changes</a:t>
            </a:r>
          </a:p>
        </p:txBody>
      </p:sp>
      <p:sp>
        <p:nvSpPr>
          <p:cNvPr id="37" name="Oval 36"/>
          <p:cNvSpPr/>
          <p:nvPr/>
        </p:nvSpPr>
        <p:spPr>
          <a:xfrm>
            <a:off x="10250424" y="2980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78440" y="3977639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Rebuild for the client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client's datasource carried; org path, folder, alias and tenant root rewritten by tested replacements</a:t>
            </a:r>
          </a:p>
        </p:txBody>
      </p:sp>
      <p:sp>
        <p:nvSpPr>
          <p:cNvPr id="39" name="Oval 38"/>
          <p:cNvSpPr/>
          <p:nvPr/>
        </p:nvSpPr>
        <p:spPr>
          <a:xfrm>
            <a:off x="10250424" y="38496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11</a:t>
            </a:r>
          </a:p>
        </p:txBody>
      </p:sp>
      <p:sp>
        <p:nvSpPr>
          <p:cNvPr id="40" name="Diamond 39"/>
          <p:cNvSpPr/>
          <p:nvPr/>
        </p:nvSpPr>
        <p:spPr>
          <a:xfrm>
            <a:off x="11750040" y="521208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package verified?</a:t>
            </a:r>
          </a:p>
        </p:txBody>
      </p:sp>
      <p:sp>
        <p:nvSpPr>
          <p:cNvPr id="41" name="Oval 40"/>
          <p:cNvSpPr/>
          <p:nvPr/>
        </p:nvSpPr>
        <p:spPr>
          <a:xfrm>
            <a:off x="11622024" y="5084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578840" y="541782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21792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compare, execute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same three proofs as Origin_TEST</a:t>
            </a:r>
          </a:p>
        </p:txBody>
      </p:sp>
      <p:sp>
        <p:nvSpPr>
          <p:cNvPr id="44" name="Oval 43"/>
          <p:cNvSpPr/>
          <p:nvPr/>
        </p:nvSpPr>
        <p:spPr>
          <a:xfrm>
            <a:off x="10250424" y="6089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78440" y="7086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PASS, EMPTY, SLOW or FAIL per resource with timing; one document per org</a:t>
            </a:r>
          </a:p>
        </p:txBody>
      </p:sp>
      <p:sp>
        <p:nvSpPr>
          <p:cNvPr id="46" name="Oval 45"/>
          <p:cNvSpPr/>
          <p:nvPr/>
        </p:nvSpPr>
        <p:spPr>
          <a:xfrm>
            <a:off x="10250424" y="6958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5115032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3D7A"/>
                </a:solidFill>
              </a:rPr>
              <a:t>explicit prod flag required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115032" y="310896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rollback baseline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4987016" y="2980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115032" y="3931920"/>
            <a:ext cx="4114800" cy="10058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Same promotion, same proofs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target datasource carried; rewritten; verified; imported; compared; executed</a:t>
            </a:r>
          </a:p>
        </p:txBody>
      </p:sp>
      <p:sp>
        <p:nvSpPr>
          <p:cNvPr id="51" name="Oval 50"/>
          <p:cNvSpPr/>
          <p:nvPr/>
        </p:nvSpPr>
        <p:spPr>
          <a:xfrm>
            <a:off x="14987016" y="3803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16</a:t>
            </a:r>
          </a:p>
        </p:txBody>
      </p:sp>
      <p:sp>
        <p:nvSpPr>
          <p:cNvPr id="52" name="Diamond 51"/>
          <p:cNvSpPr/>
          <p:nvPr/>
        </p:nvSpPr>
        <p:spPr>
          <a:xfrm>
            <a:off x="16486632" y="507492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53" name="Oval 52"/>
          <p:cNvSpPr/>
          <p:nvPr/>
        </p:nvSpPr>
        <p:spPr>
          <a:xfrm>
            <a:off x="16358616" y="4946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17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315432" y="528066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115032" y="603504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 the client's prod numbers</a:t>
            </a:r>
          </a:p>
        </p:txBody>
      </p:sp>
      <p:sp>
        <p:nvSpPr>
          <p:cNvPr id="56" name="Oval 55"/>
          <p:cNvSpPr/>
          <p:nvPr/>
        </p:nvSpPr>
        <p:spPr>
          <a:xfrm>
            <a:off x="14987016" y="59070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18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115032" y="6858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Diff after = rollback record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before against after: nothing else moved</a:t>
            </a:r>
          </a:p>
        </p:txBody>
      </p:sp>
      <p:sp>
        <p:nvSpPr>
          <p:cNvPr id="58" name="Oval 57"/>
          <p:cNvSpPr/>
          <p:nvPr/>
        </p:nvSpPr>
        <p:spPr>
          <a:xfrm>
            <a:off x="14987016" y="6729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440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Additive-only domain patch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additions guard refuses any change to what is there; seven proofs per org; one-command restore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Standardized Reports folder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scheduled SQL reports in one folder; on Origin_DEV today, promoted to client orgs by the same tool when approved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35024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after every change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sign-off is regenerated; the first red row is the alert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527280" y="132588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every later change re-enters at the client test org and repeats steps 10 to 19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962656" y="34290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62656" y="4297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62656" y="5852159"/>
            <a:ext cx="0" cy="22860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819656" y="649224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499616" y="61813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648456" y="6492240"/>
            <a:ext cx="16824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330952" y="2903220"/>
            <a:ext cx="0" cy="358902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330952" y="290322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023360" y="6144768"/>
            <a:ext cx="914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699248" y="3291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699248" y="42062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699248" y="521208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385048" y="580644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065008" y="54955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99248" y="621792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763256" y="61722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756648" y="678942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067544" y="3474720"/>
            <a:ext cx="0" cy="33147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0067544" y="347472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435840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435840" y="3840480"/>
            <a:ext cx="0" cy="137159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2435840" y="507492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3121640" y="5623559"/>
            <a:ext cx="457200" cy="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2801600" y="531266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2435840" y="603504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2499848" y="59893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2435840" y="69494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4493240" y="754380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4804136" y="2743200"/>
            <a:ext cx="0" cy="48006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4804136" y="274320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172432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172432" y="3794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172432" y="4937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858232" y="548640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7538192" y="517550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7172432" y="58978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17236440" y="58293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7172432" y="6720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172432" y="7635240"/>
            <a:ext cx="0" cy="77724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6276320" y="8412480"/>
            <a:ext cx="896112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276320" y="8412480"/>
            <a:ext cx="0" cy="68580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9202400" y="9578340"/>
            <a:ext cx="4572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9659600" y="1691640"/>
            <a:ext cx="0" cy="78867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2435840" y="1691640"/>
            <a:ext cx="722376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435840" y="1691640"/>
            <a:ext cx="0" cy="8229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740664" y="1033272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Orange diamonds are gates: yes continues, no stops the run and names the rollback. Numbers are the order of one full promotion. The Workstreams tree is never moved; the offering is a curated copy promoted org by org.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Database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262104" y="1965960"/>
            <a:ext cx="7132320" cy="1508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26696" y="2011679"/>
            <a:ext cx="68031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5. Submit 8 baselines as parallel scheduler jobs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unattended; they survive a dropped connection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60720"/>
            <a:ext cx="18653760" cy="41148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580644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What the domains read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created in steps 2 and 3, validated at step 7 before anything is scheduled; each outlined stack feeds the domain chip beneath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6355080"/>
            <a:ext cx="210312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6400800"/>
            <a:ext cx="17739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Finance tables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6355080"/>
            <a:ext cx="210312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6400800"/>
            <a:ext cx="17739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Billing tables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6355080"/>
            <a:ext cx="210312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13831" y="6400800"/>
            <a:ext cx="17739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Meter Ops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6355080"/>
            <a:ext cx="23774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6400800"/>
            <a:ext cx="20482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Debt Mgmt objects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6355080"/>
            <a:ext cx="297180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0192" y="6400800"/>
            <a:ext cx="264261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Meter Ops views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0" y="6355080"/>
            <a:ext cx="30632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80592" y="6400800"/>
            <a:ext cx="27340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Field Ops views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007840" y="6355080"/>
            <a:ext cx="219456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72432" y="6400800"/>
            <a:ext cx="18653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Customer Ops 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" y="22860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deploy user can read every source table and write the targets</a:t>
            </a:r>
          </a:p>
        </p:txBody>
      </p:sp>
      <p:sp>
        <p:nvSpPr>
          <p:cNvPr id="24" name="Oval 23"/>
          <p:cNvSpPr/>
          <p:nvPr/>
        </p:nvSpPr>
        <p:spPr>
          <a:xfrm>
            <a:off x="61264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0098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7 snapshot tables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empty, with their keys</a:t>
            </a:r>
          </a:p>
        </p:txBody>
      </p:sp>
      <p:sp>
        <p:nvSpPr>
          <p:cNvPr id="26" name="Oval 25"/>
          <p:cNvSpPr/>
          <p:nvPr/>
        </p:nvSpPr>
        <p:spPr>
          <a:xfrm>
            <a:off x="317296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228600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SA snapshot table, lookup seed, 8 CMS views, grants, synonyms</a:t>
            </a:r>
          </a:p>
        </p:txBody>
      </p:sp>
      <p:sp>
        <p:nvSpPr>
          <p:cNvPr id="28" name="Oval 27"/>
          <p:cNvSpPr/>
          <p:nvPr/>
        </p:nvSpPr>
        <p:spPr>
          <a:xfrm>
            <a:off x="609904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3602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baseline (the retained 24 months, once) and operational per table; the SA aged-balance refresh</a:t>
            </a:r>
          </a:p>
        </p:txBody>
      </p:sp>
      <p:sp>
        <p:nvSpPr>
          <p:cNvPr id="30" name="Oval 29"/>
          <p:cNvSpPr/>
          <p:nvPr/>
        </p:nvSpPr>
        <p:spPr>
          <a:xfrm>
            <a:off x="920800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454128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209776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Billed usage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965424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SQ usage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721072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GL distribution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54128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Measurement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09776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965424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scalar detail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721072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refresh</a:t>
            </a:r>
          </a:p>
        </p:txBody>
      </p:sp>
      <p:sp>
        <p:nvSpPr>
          <p:cNvPr id="39" name="Diamond 38"/>
          <p:cNvSpPr/>
          <p:nvPr/>
        </p:nvSpPr>
        <p:spPr>
          <a:xfrm>
            <a:off x="17099280" y="4069080"/>
            <a:ext cx="2103120" cy="86868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ready gate: every job SUCCEEDED?</a:t>
            </a:r>
          </a:p>
        </p:txBody>
      </p:sp>
      <p:sp>
        <p:nvSpPr>
          <p:cNvPr id="40" name="Oval 39"/>
          <p:cNvSpPr/>
          <p:nvPr/>
        </p:nvSpPr>
        <p:spPr>
          <a:xfrm>
            <a:off x="1697126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282160" y="5257800"/>
            <a:ext cx="1737360" cy="384048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stop, fix, re-run</a:t>
            </a:r>
          </a:p>
        </p:txBody>
      </p:sp>
      <p:sp>
        <p:nvSpPr>
          <p:cNvPr id="42" name="Diamond 41"/>
          <p:cNvSpPr/>
          <p:nvPr/>
        </p:nvSpPr>
        <p:spPr>
          <a:xfrm>
            <a:off x="14264640" y="4069080"/>
            <a:ext cx="2377440" cy="86868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 and install gates pass?</a:t>
            </a:r>
          </a:p>
        </p:txBody>
      </p:sp>
      <p:sp>
        <p:nvSpPr>
          <p:cNvPr id="43" name="Oval 42"/>
          <p:cNvSpPr/>
          <p:nvPr/>
        </p:nvSpPr>
        <p:spPr>
          <a:xfrm>
            <a:off x="1413662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493240" y="5257800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stop, fix, re-run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612880" y="4069080"/>
            <a:ext cx="219456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keys and dates the domains filter on</a:t>
            </a:r>
          </a:p>
        </p:txBody>
      </p:sp>
      <p:sp>
        <p:nvSpPr>
          <p:cNvPr id="46" name="Oval 45"/>
          <p:cNvSpPr/>
          <p:nvPr/>
        </p:nvSpPr>
        <p:spPr>
          <a:xfrm>
            <a:off x="11484863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Rolling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3 months rebuilt, 24 kept; one operational refresh run by hand</a:t>
            </a:r>
          </a:p>
        </p:txBody>
      </p:sp>
      <p:sp>
        <p:nvSpPr>
          <p:cNvPr id="48" name="Oval 47"/>
          <p:cNvSpPr/>
          <p:nvPr/>
        </p:nvSpPr>
        <p:spPr>
          <a:xfrm>
            <a:off x="8284463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49" name="Diamond 48"/>
          <p:cNvSpPr/>
          <p:nvPr/>
        </p:nvSpPr>
        <p:spPr>
          <a:xfrm>
            <a:off x="5943600" y="4069080"/>
            <a:ext cx="2011680" cy="86868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validated again?</a:t>
            </a:r>
          </a:p>
        </p:txBody>
      </p:sp>
      <p:sp>
        <p:nvSpPr>
          <p:cNvPr id="50" name="Oval 49"/>
          <p:cNvSpPr/>
          <p:nvPr/>
        </p:nvSpPr>
        <p:spPr>
          <a:xfrm>
            <a:off x="581558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0" y="3337560"/>
            <a:ext cx="1828800" cy="384048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stop, fix, re-run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63240" y="40690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twice daily from 10:00 and 16:00 UTC, 30-minute stagger; held on TEST until approved</a:t>
            </a:r>
          </a:p>
        </p:txBody>
      </p:sp>
      <p:sp>
        <p:nvSpPr>
          <p:cNvPr id="53" name="Oval 52"/>
          <p:cNvSpPr/>
          <p:nvPr/>
        </p:nvSpPr>
        <p:spPr>
          <a:xfrm>
            <a:off x="293522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0664" y="40690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Capture runs, data quality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per client, kept with the log</a:t>
            </a:r>
          </a:p>
        </p:txBody>
      </p:sp>
      <p:sp>
        <p:nvSpPr>
          <p:cNvPr id="55" name="Oval 54"/>
          <p:cNvSpPr/>
          <p:nvPr/>
        </p:nvSpPr>
        <p:spPr>
          <a:xfrm>
            <a:off x="612648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" y="5001768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runs at (UTC), one job every 30 minutes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10:00 to 13:30, then again 16:00 to 19:30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0120" y="67665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financial transactions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0120" y="76809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FT_GL_DISTRIBUTION_RPT_CURR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GL distribution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00400" y="67665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BSEG_BILLED_USAGE_RPT_CURR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billed usage per segment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00400" y="76809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BSEG_SQ_USAGE_RPT_CURR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service quantities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40680" y="6766560"/>
            <a:ext cx="192024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D1_MSRMT_RPT_CURR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measurements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40680" y="7424927"/>
            <a:ext cx="192024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transactions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8083296"/>
            <a:ext cx="192024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850" b="1">
                <a:solidFill>
                  <a:srgbClr val="0B3D7A"/>
                </a:solidFill>
              </a:rPr>
              <a:t>D1_USAGE_SCALAR_DTL_RPT_CURR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scalar detail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868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Finance domains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0896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Billing and Rates domains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4924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and measurement domains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55279" y="6766560"/>
            <a:ext cx="2194560" cy="82296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CMS_SA_SNAPSHOT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aged balance per SA, refreshed by procedure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7726679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CM_SNAPSHOT_TYPE_FLG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lookup seed: LDAY, EMON, ARCH, LEMN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63840" y="9006840"/>
            <a:ext cx="23774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Aged Balance domain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607040" y="6766560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CMS_D1_DVC_IDENTIFIER_VW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07040" y="7315200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CMS_D1_DVC_BODA_VW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07040" y="7863840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CMS_W1_ASSET_IDENTIFIER_VW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515600" y="9006840"/>
            <a:ext cx="14173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Device domain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2070080" y="9006840"/>
            <a:ext cx="14173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Asset domain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807440" y="676656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CMS_C1_REPRESENTATIVE_BODA_VW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807440" y="731520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CMS_D1_ACTIVITY_CHAR_VW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3807440" y="786384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CMS_D1_ACTIVITY_D1FA_BODA_VW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3716000" y="9006840"/>
            <a:ext cx="1463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Crew domain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5316200" y="9006840"/>
            <a:ext cx="1463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Field Activity domain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7099280" y="676656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CMS_CI_CASE_VW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7099280" y="731520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CMS_CI_CASE_LOG_VW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7007840" y="9006840"/>
            <a:ext cx="21945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Case domain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2666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95274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6170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1987784" y="2720339"/>
            <a:ext cx="274320" cy="2286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828263" y="3474720"/>
            <a:ext cx="0" cy="274319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828263" y="3749039"/>
            <a:ext cx="2322577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8150839" y="3749039"/>
            <a:ext cx="1" cy="32004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8150839" y="4937760"/>
            <a:ext cx="0" cy="3200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8214848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2" name="Connector 91"/>
          <p:cNvCxnSpPr/>
          <p:nvPr/>
        </p:nvCxnSpPr>
        <p:spPr>
          <a:xfrm flipH="1">
            <a:off x="166420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6322039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5453359" y="4937760"/>
            <a:ext cx="0" cy="3200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5517367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6" name="Connector 95"/>
          <p:cNvCxnSpPr/>
          <p:nvPr/>
        </p:nvCxnSpPr>
        <p:spPr>
          <a:xfrm flipH="1">
            <a:off x="1380744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348740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98" name="Connector 97"/>
          <p:cNvCxnSpPr/>
          <p:nvPr/>
        </p:nvCxnSpPr>
        <p:spPr>
          <a:xfrm flipH="1">
            <a:off x="111556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7955279" y="4503420"/>
            <a:ext cx="457201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949440" y="3721608"/>
            <a:ext cx="0" cy="347472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7013448" y="3758183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102" name="Connector 101"/>
          <p:cNvCxnSpPr/>
          <p:nvPr/>
        </p:nvCxnSpPr>
        <p:spPr>
          <a:xfrm flipH="1">
            <a:off x="5532120" y="4503420"/>
            <a:ext cx="41148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18922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2660904" y="4503420"/>
            <a:ext cx="40233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976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97680" y="5349240"/>
            <a:ext cx="54864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7840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4572000" y="502920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every 12 hours: the newest 3 months rebuilt, older rows kept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1920239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16052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40080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05256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200150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11219688" y="8869680"/>
            <a:ext cx="781812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1219688" y="8869680"/>
            <a:ext cx="4572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00150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2001500" y="8869680"/>
            <a:ext cx="772668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2774168" y="8869680"/>
            <a:ext cx="4572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524762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14447520" y="8869680"/>
            <a:ext cx="8001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4447520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524762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5247620" y="8869680"/>
            <a:ext cx="8001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6047720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810512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Every box in the map is one database object the domains read: seven rolling snapshot tables, the SA aged-balance table with its lookup seed, and eight CMS views. Numbers are the order of one rollout; orange diamonds are gates: yes continues, no stops the rollout there. The loop under the second row is the twice-daily rolling refresh (3 months rebuilt, 24 kept; 6 months at CityCorp and Odessa).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(1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(2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