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Standard Offering Release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F5EFE9"/>
                </a:solidFill>
              </a:rPr>
              <a:t>Two step-by-step visuals: the Standard Offering inside Jaspersoft Server, and the database deployment of the snapshots and the objects the domains depend 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Standard Offering Deployment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" y="1828800"/>
            <a:ext cx="4443984" cy="59893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authoring, the internal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7256" y="1828800"/>
            <a:ext cx="4443984" cy="59893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41848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proving, before any client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13848" y="1828800"/>
            <a:ext cx="4443984" cy="59893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78440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Client test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the client's own data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950440" y="1828800"/>
            <a:ext cx="4443984" cy="59893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15032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Client prod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read-only until the prod flag is given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" y="8092440"/>
            <a:ext cx="18653760" cy="178308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813816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After go-live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every change is a tool run with the same proofs, never a hand edit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2514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Workstreams tree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domains, Ad Hoc views, reports and dashboards: the only content edited by hand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" y="35661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Export the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one API export task, polled, downloaded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" y="443484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Build the package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inventory and classify the export; keep the offering list; one copy of each domain in one home; carry the datasource; rewrite every path; strip print wrappers; narrow the import index</a:t>
            </a:r>
          </a:p>
        </p:txBody>
      </p:sp>
      <p:sp>
        <p:nvSpPr>
          <p:cNvPr id="18" name="Diamond 17"/>
          <p:cNvSpPr/>
          <p:nvPr/>
        </p:nvSpPr>
        <p:spPr>
          <a:xfrm>
            <a:off x="2185415" y="6126480"/>
            <a:ext cx="155448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package verifies?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41848" y="25146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Import, update in place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polled; an importer warning counts as a failure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41848" y="3429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Re-export and compare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byte-equal inside the scope, importer stamps ignored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41848" y="434340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Execute everything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views by query, reports as PDF, domains by metadata and probe</a:t>
            </a:r>
          </a:p>
        </p:txBody>
      </p:sp>
      <p:sp>
        <p:nvSpPr>
          <p:cNvPr id="22" name="Diamond 21"/>
          <p:cNvSpPr/>
          <p:nvPr/>
        </p:nvSpPr>
        <p:spPr>
          <a:xfrm>
            <a:off x="6922008" y="5394960"/>
            <a:ext cx="155448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seven proofs pass?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41848" y="64008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Proven offering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package every client promotion starts from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78440" y="25146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every resource on the org before anything changes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78440" y="3383280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Rebuild for the client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client's own datasource export carried byte for byte; org path, folder, alias and tenant root rewritten</a:t>
            </a:r>
          </a:p>
        </p:txBody>
      </p:sp>
      <p:sp>
        <p:nvSpPr>
          <p:cNvPr id="26" name="Diamond 25"/>
          <p:cNvSpPr/>
          <p:nvPr/>
        </p:nvSpPr>
        <p:spPr>
          <a:xfrm>
            <a:off x="11247119" y="4617720"/>
            <a:ext cx="2377440" cy="96012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verified? no source strings, references exist, fields resolve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378440" y="57150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Import, compare, execute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same three proofs as Origin_TEST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78440" y="658368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PASS, EMPTY, SLOW or FAIL per resource with timing; one document per org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5115032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0B3D7A"/>
                </a:solidFill>
              </a:rPr>
              <a:t>explicit prod flag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115032" y="310896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rollback baseline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115032" y="3931920"/>
            <a:ext cx="4114800" cy="10058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Same promotion, same proofs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target datasource carried; rewritten; verified; imported; compared; executed</a:t>
            </a:r>
          </a:p>
        </p:txBody>
      </p:sp>
      <p:sp>
        <p:nvSpPr>
          <p:cNvPr id="32" name="Diamond 31"/>
          <p:cNvSpPr/>
          <p:nvPr/>
        </p:nvSpPr>
        <p:spPr>
          <a:xfrm>
            <a:off x="16395192" y="5074920"/>
            <a:ext cx="1554480" cy="82296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seven proofs pass?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115032" y="603504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on the client's prod numbers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115032" y="6858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Diff after = rollback record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inventory before against after: nothing else moved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8641080"/>
            <a:ext cx="5852160" cy="105156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Additive-only domain patch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additions guard refuses any change to what is there; seven proofs per org; one-command restore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0" y="8641080"/>
            <a:ext cx="5852160" cy="105156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Standardized Reports folder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scheduled SQL reports in one place on every org, promoted by the same tool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350240" y="8641080"/>
            <a:ext cx="5852160" cy="105156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Sweep after every change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sign-off is regenerated; the first red row is the alert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962656" y="34290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962656" y="42976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962656" y="5852159"/>
            <a:ext cx="0" cy="27432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739896" y="6537960"/>
            <a:ext cx="159105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5330952" y="2898648"/>
            <a:ext cx="0" cy="3639312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330952" y="2898648"/>
            <a:ext cx="310896" cy="4572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699248" y="3291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699248" y="42062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699248" y="521208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99248" y="6217920"/>
            <a:ext cx="0" cy="182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9756648" y="6784848"/>
            <a:ext cx="310896" cy="4572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10067544" y="2880360"/>
            <a:ext cx="0" cy="3904488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067544" y="288036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2435840" y="324612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435840" y="44805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435840" y="5577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2435840" y="644652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4493240" y="7040880"/>
            <a:ext cx="310896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4804136" y="2743200"/>
            <a:ext cx="0" cy="429768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4804136" y="2743200"/>
            <a:ext cx="31089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172432" y="297180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172432" y="37947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172432" y="493776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7172432" y="589788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7172432" y="6720840"/>
            <a:ext cx="0" cy="1371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17007840" y="7635240"/>
            <a:ext cx="164592" cy="301752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6276320" y="7936992"/>
            <a:ext cx="73152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6276320" y="7936992"/>
            <a:ext cx="0" cy="704088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40664" y="1001268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EFE9"/>
                </a:solidFill>
              </a:rPr>
              <a:t>Orange diamonds are gates: a failed gate stops the run and names the rollback. The Workstreams tree is never moved; the offering is a curated copy promoted org by org.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F5EFE9"/>
                </a:solidFill>
              </a:rPr>
              <a:t>Database Deployment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262104" y="1965960"/>
            <a:ext cx="7132320" cy="150876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26696" y="2011679"/>
            <a:ext cx="68031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Submit 8 baselines as parallel scheduler jobs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unattended; they survive a dropped connection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" y="5760720"/>
            <a:ext cx="18653760" cy="41148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F5E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580644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5EFE9"/>
                </a:solidFill>
              </a:rPr>
              <a:t>What the domains read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F5EFE9"/>
                </a:solidFill>
              </a:rPr>
              <a:t>created in steps 2 and 3, validated and gated before anything is scheduled; each stack feeds the domain chip beneath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28600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Preflight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the deploy user can read every source table and write the targets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098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Create the 7 snapshot tables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empty, with their keys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228600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Create the domain-support objects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SA snapshot table, lookup seed, 8 CMS views, grants, synonyms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602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Deploy the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baseline (24 months, once) and operational per table; SA refresh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454128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209776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Billed usage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965424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SQ usage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721072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GL distribution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454128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Measurement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09776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965424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 scalar detail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721072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SA snapshot refresh</a:t>
            </a:r>
          </a:p>
        </p:txBody>
      </p:sp>
      <p:sp>
        <p:nvSpPr>
          <p:cNvPr id="21" name="Diamond 20"/>
          <p:cNvSpPr/>
          <p:nvPr/>
        </p:nvSpPr>
        <p:spPr>
          <a:xfrm>
            <a:off x="17099280" y="4023360"/>
            <a:ext cx="2103120" cy="96012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ready gate: every job SUCCEEDED?</a:t>
            </a:r>
          </a:p>
        </p:txBody>
      </p:sp>
      <p:sp>
        <p:nvSpPr>
          <p:cNvPr id="22" name="Diamond 21"/>
          <p:cNvSpPr/>
          <p:nvPr/>
        </p:nvSpPr>
        <p:spPr>
          <a:xfrm>
            <a:off x="14264640" y="4023360"/>
            <a:ext cx="2377440" cy="96012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validate and install gates pass?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612880" y="4114800"/>
            <a:ext cx="2194560" cy="77724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Post-load indexes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keys and dates the domains filter 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0" y="406908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Rolling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3 months rebuilt, 24 kept; one operational refresh run by hand</a:t>
            </a:r>
          </a:p>
        </p:txBody>
      </p:sp>
      <p:sp>
        <p:nvSpPr>
          <p:cNvPr id="25" name="Diamond 24"/>
          <p:cNvSpPr/>
          <p:nvPr/>
        </p:nvSpPr>
        <p:spPr>
          <a:xfrm>
            <a:off x="5943600" y="4023360"/>
            <a:ext cx="2011680" cy="960120"/>
          </a:xfrm>
          <a:prstGeom prst="diamond">
            <a:avLst/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validated again?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3240" y="406908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Schedule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twice daily, 30-minute stagger, held on TEST until approved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" y="40690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3D7A"/>
                </a:solidFill>
              </a:rPr>
              <a:t>Capture runs, data quality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4C5D69"/>
                </a:solidFill>
              </a:rPr>
              <a:t>per client, kept with the 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632764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Finance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632764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Billing and Rates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9240" y="632764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Meter Operations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6327648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Debt 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327648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Meter Operations 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6327648"/>
            <a:ext cx="306324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Field Operations views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007840" y="6327648"/>
            <a:ext cx="219456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5EFE9"/>
                </a:solidFill>
              </a:rPr>
              <a:t>Customer Operations views</a:t>
            </a:r>
          </a:p>
        </p:txBody>
      </p:sp>
      <p:sp>
        <p:nvSpPr>
          <p:cNvPr id="35" name="Can 34"/>
          <p:cNvSpPr/>
          <p:nvPr/>
        </p:nvSpPr>
        <p:spPr>
          <a:xfrm>
            <a:off x="868680" y="6675120"/>
            <a:ext cx="2103120" cy="822960"/>
          </a:xfrm>
          <a:prstGeom prst="can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FT_RPT_CURR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financial transactions</a:t>
            </a:r>
          </a:p>
        </p:txBody>
      </p:sp>
      <p:sp>
        <p:nvSpPr>
          <p:cNvPr id="36" name="Can 35"/>
          <p:cNvSpPr/>
          <p:nvPr/>
        </p:nvSpPr>
        <p:spPr>
          <a:xfrm>
            <a:off x="868680" y="7635240"/>
            <a:ext cx="2103120" cy="822960"/>
          </a:xfrm>
          <a:prstGeom prst="can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0B3D7A"/>
                </a:solidFill>
              </a:rPr>
              <a:t>FT_GL_DISTRIBUTION_RPT_CURR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GL distribution</a:t>
            </a:r>
          </a:p>
        </p:txBody>
      </p:sp>
      <p:sp>
        <p:nvSpPr>
          <p:cNvPr id="37" name="Can 36"/>
          <p:cNvSpPr/>
          <p:nvPr/>
        </p:nvSpPr>
        <p:spPr>
          <a:xfrm>
            <a:off x="3108960" y="6675120"/>
            <a:ext cx="2103120" cy="822960"/>
          </a:xfrm>
          <a:prstGeom prst="can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0B3D7A"/>
                </a:solidFill>
              </a:rPr>
              <a:t>BSEG_BILLED_USAGE_RPT_CURR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billed usage per segment</a:t>
            </a:r>
          </a:p>
        </p:txBody>
      </p:sp>
      <p:sp>
        <p:nvSpPr>
          <p:cNvPr id="38" name="Can 37"/>
          <p:cNvSpPr/>
          <p:nvPr/>
        </p:nvSpPr>
        <p:spPr>
          <a:xfrm>
            <a:off x="3108960" y="7635240"/>
            <a:ext cx="2103120" cy="822960"/>
          </a:xfrm>
          <a:prstGeom prst="can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0B3D7A"/>
                </a:solidFill>
              </a:rPr>
              <a:t>BSEG_SQ_USAGE_RPT_CURR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service quantities</a:t>
            </a:r>
          </a:p>
        </p:txBody>
      </p:sp>
      <p:sp>
        <p:nvSpPr>
          <p:cNvPr id="39" name="Can 38"/>
          <p:cNvSpPr/>
          <p:nvPr/>
        </p:nvSpPr>
        <p:spPr>
          <a:xfrm>
            <a:off x="5349240" y="6675120"/>
            <a:ext cx="2103120" cy="594360"/>
          </a:xfrm>
          <a:prstGeom prst="can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0B3D7A"/>
                </a:solidFill>
              </a:rPr>
              <a:t>D1_MSRMT_RPT_CURR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measurements</a:t>
            </a:r>
          </a:p>
        </p:txBody>
      </p:sp>
      <p:sp>
        <p:nvSpPr>
          <p:cNvPr id="40" name="Can 39"/>
          <p:cNvSpPr/>
          <p:nvPr/>
        </p:nvSpPr>
        <p:spPr>
          <a:xfrm>
            <a:off x="5349240" y="7360920"/>
            <a:ext cx="2103120" cy="594360"/>
          </a:xfrm>
          <a:prstGeom prst="can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50" b="1">
                <a:solidFill>
                  <a:srgbClr val="0B3D7A"/>
                </a:solidFill>
              </a:rPr>
              <a:t>D1_USAGE_RPT_CURR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usage transactions</a:t>
            </a:r>
          </a:p>
        </p:txBody>
      </p:sp>
      <p:sp>
        <p:nvSpPr>
          <p:cNvPr id="41" name="Can 40"/>
          <p:cNvSpPr/>
          <p:nvPr/>
        </p:nvSpPr>
        <p:spPr>
          <a:xfrm>
            <a:off x="5349240" y="8046720"/>
            <a:ext cx="2103120" cy="594360"/>
          </a:xfrm>
          <a:prstGeom prst="can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D1_USAGE_SCALAR_DTL_RPT_CURR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usage scalar detail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B3D7A"/>
                </a:solidFill>
              </a:rPr>
              <a:t>Finance domains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0896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Billing and Rates domains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49240" y="9006840"/>
            <a:ext cx="21031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Usage and measurement domains</a:t>
            </a:r>
          </a:p>
        </p:txBody>
      </p:sp>
      <p:sp>
        <p:nvSpPr>
          <p:cNvPr id="45" name="Can 44"/>
          <p:cNvSpPr/>
          <p:nvPr/>
        </p:nvSpPr>
        <p:spPr>
          <a:xfrm>
            <a:off x="7863840" y="6675120"/>
            <a:ext cx="2377440" cy="868680"/>
          </a:xfrm>
          <a:prstGeom prst="can">
            <a:avLst/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CMS_SA_SNAPSHOT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aged balance per SA, refreshed by procedure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63840" y="7726679"/>
            <a:ext cx="2377440" cy="64008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CM_SNAPSHOT_TYPE_FLG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4C5D69"/>
                </a:solidFill>
              </a:rPr>
              <a:t>lookup seed: LDAY, EMON, ARCH, LEMN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63840" y="9006840"/>
            <a:ext cx="23774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SA Snapshot Aged Balance domain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15600" y="6675120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CMS_D1_DVC_IDENTIFIER_VW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15600" y="7223760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CMS_D1_DVC_BODA_VW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515600" y="7772400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CMS_W1_ASSET_IDENTIFIER_VW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515600" y="9006840"/>
            <a:ext cx="14173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Device domain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2070080" y="9006840"/>
            <a:ext cx="141732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Asset domain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716000" y="667512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CMS_C1_REPRESENTATIVE_BODA_VW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716000" y="72237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CMS_D1_ACTIVITY_CHAR_VW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3716000" y="777240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CMS_D1_ACTIVITY_D1FA_BODA_VW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716000" y="9006840"/>
            <a:ext cx="1463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Crew domain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5316200" y="9006840"/>
            <a:ext cx="1463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Field Activity domain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7007840" y="667512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CMS_CI_CASE_VW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7007840" y="7223760"/>
            <a:ext cx="2194560" cy="457200"/>
          </a:xfrm>
          <a:prstGeom prst="roundRect">
            <a:avLst>
              <a:gd name="adj" fmla="val 10000"/>
            </a:avLst>
          </a:prstGeom>
          <a:solidFill>
            <a:srgbClr val="F5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B3D7A"/>
                </a:solidFill>
              </a:rPr>
              <a:t>CMS_CI_CASE_LOG_VW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007840" y="9006840"/>
            <a:ext cx="21945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B3D7A"/>
                </a:solidFill>
              </a:rPr>
              <a:t>Case domain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02666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95274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061704" y="2743200"/>
            <a:ext cx="27432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1987784" y="2720339"/>
            <a:ext cx="274320" cy="2286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5828263" y="3474720"/>
            <a:ext cx="2322577" cy="22860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8150839" y="3703320"/>
            <a:ext cx="1" cy="32004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664208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1380744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1155680" y="4503420"/>
            <a:ext cx="45720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7955279" y="4503420"/>
            <a:ext cx="457201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5532120" y="4503420"/>
            <a:ext cx="411480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660904" y="4503420"/>
            <a:ext cx="402336" cy="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4297680" y="4937760"/>
            <a:ext cx="0" cy="41148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4297680" y="5349240"/>
            <a:ext cx="54864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9784080" y="4937760"/>
            <a:ext cx="0" cy="4114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4572000" y="502920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5EFE9"/>
                </a:solidFill>
              </a:rPr>
              <a:t>every 12 hours: the newest 3 months rebuilt, older rows kept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1920239" y="8458200"/>
            <a:ext cx="0" cy="54864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160520" y="8458200"/>
            <a:ext cx="0" cy="54864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400800" y="8641080"/>
            <a:ext cx="0" cy="36576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052560" y="8366759"/>
            <a:ext cx="0" cy="640081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10332720" y="7452360"/>
            <a:ext cx="18288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332720" y="7452360"/>
            <a:ext cx="0" cy="12801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0332720" y="8732520"/>
            <a:ext cx="886968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1219688" y="8732520"/>
            <a:ext cx="4572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H="1">
            <a:off x="11996928" y="8229600"/>
            <a:ext cx="4572" cy="50292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11996928" y="8732520"/>
            <a:ext cx="77724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12774168" y="8732520"/>
            <a:ext cx="4572" cy="27432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247620" y="8229600"/>
            <a:ext cx="0" cy="3657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4447520" y="8595360"/>
            <a:ext cx="8001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4447520" y="8595360"/>
            <a:ext cx="0" cy="4114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5247620" y="8229600"/>
            <a:ext cx="0" cy="36576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5247620" y="8595360"/>
            <a:ext cx="800100" cy="0"/>
          </a:xfrm>
          <a:prstGeom prst="line">
            <a:avLst/>
          </a:prstGeom>
          <a:ln w="28575">
            <a:solidFill>
              <a:srgbClr val="F5E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6047720" y="8595360"/>
            <a:ext cx="0" cy="4114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8105120" y="7680960"/>
            <a:ext cx="0" cy="1325880"/>
          </a:xfrm>
          <a:prstGeom prst="line">
            <a:avLst/>
          </a:prstGeom>
          <a:ln w="28575">
            <a:solidFill>
              <a:srgbClr val="F5EFE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740664" y="1001268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5EFE9"/>
                </a:solidFill>
              </a:rPr>
              <a:t>Cylinders are the tables the domains read; the boxes under the three view columns are the CMS views; orange diamonds are gates that stop the rollout. The loop under the second row is the twice-daily rolling refresh.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(1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CMS_SA_SNAPSHOT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table + refresh procedure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end-of-day (LDAY) aged-balance row per service agreement: current and payoff balance, new charges, and ten aging buckets built from frozen ARS financial transactions dated up to today. Credits and payments retire the oldest debt first; excess credit sits in the current bucket; buckets 1 to 5 always sum to the current balance; future-dated amounts are excluded.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the SA Snapshot Aged Balance domain, its account roll-up (a derived query over this table, not a second object), and every aged-debt view and dashboard on it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CM_SNAPSHOT_TYPE_FLG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lookup seed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four snapshot-type codes (LDAY, EMON, ARCH, LEMN) written into the C2M lookup tables. The domain inner-joins them, so a fresh database without the seed returns zero rows in every Ad Hoc view.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Debt Management: SA Snapshot Aged Balance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device with its identifiers pivoted from rows into columns: asset id, badge number, serial number, internal meter number, external and MDM ids, NIC id and serial, name, utility device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domain; Daily Installations, Disconnected Service Points, Meters Not Recently Read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CMS_D1_DVC_BODA_VW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device's business-object data area parsed out of its XML: business object code, latest status, retirement date and time. One row per device.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Device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CMS_W1_ASSET_IDENTIFIER_VW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asset with its identifiers pivoted into columns, the asset-side twin of the device identifier view, so the Asset domain can join by badge, serial or external id.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Meter Operations: Asset domain; In Storage, Distribution of Installed Assets, Non-Meter Assets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F5EFE9"/>
                </a:solidFill>
              </a:rPr>
              <a:t>The Objects The Domains Depend On (2 of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FFA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B3D7A"/>
                </a:solidFill>
              </a:rPr>
              <a:t>V4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F5EFE9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5EFE9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B3D7A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CMS_C1_REPRESENTATIVE_BODA_VW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representative (crew member) mobile details parsed out of the representative's XML data area: the service areas they cover and their worker capabilities, one row per representative and area or capability.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 and its views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CMS_D1_ACTIVITY_CHAR_VW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Activity characteristics pivoted per field activity: internal field-activity status, priority, and the third-party representative code, so the domain filters on them as columns.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domain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CMS_D1_ACTIVITY_D1FA_BODA_VW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field activity's business-object data parsed from XML: instructions and comments, the appointment window and who took it, expiration, requester, external references, and the customer and contact names and phone numbers.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Field Operations: Crew and Field Activity domains; Upcoming Field Work, Cancelations, Average Days per Field Task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One row per case with its create and close timestamps derived from the case log (the case-created entry and the closing status entry) and the duration in minutes, measured to now while the case is open.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and every case 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B3D7A"/>
                          </a:solidFill>
                        </a:rPr>
                        <a:t>CMS_CI_CASE_LOG_VW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The case log as a timeline: every status change with the previous status, the previous log time, and how long the case sat in the previous and the current state.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4C5D69"/>
                          </a:solidFill>
                        </a:rPr>
                        <a:t>Customer Operations: Case domain (state durations and the case timeline views)</a:t>
                      </a:r>
                    </a:p>
                  </a:txBody>
                  <a:tcPr>
                    <a:solidFill>
                      <a:srgbClr val="F5EF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