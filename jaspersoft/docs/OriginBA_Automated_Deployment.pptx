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the retained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the retained 24 months once,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12262104" y="1965960"/>
            <a:ext cx="7132320" cy="150876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5. Submit 8 baselines as parallel scheduler jobs</a:t>
            </a:r>
          </a:p>
          <a:p>
            <a:pPr algn="l">
              <a:spcAft>
                <a:spcPts val="600"/>
              </a:spcAft>
            </a:pPr>
            <a:r>
              <a:rPr sz="1100" b="0">
                <a:solidFill>
                  <a:srgbClr val="F5EFE9"/>
                </a:solidFill>
              </a:rPr>
              <a:t>unattended; they survive a dropped connection</a:t>
            </a:r>
          </a:p>
        </p:txBody>
      </p:sp>
      <p:sp>
        <p:nvSpPr>
          <p:cNvPr id="7" name="Rounded Rectangle 6"/>
          <p:cNvSpPr/>
          <p:nvPr/>
        </p:nvSpPr>
        <p:spPr>
          <a:xfrm>
            <a:off x="740664" y="5760720"/>
            <a:ext cx="18653760" cy="411480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What the domains read</a:t>
            </a:r>
          </a:p>
          <a:p>
            <a:pPr algn="l">
              <a:spcAft>
                <a:spcPts val="600"/>
              </a:spcAft>
            </a:pPr>
            <a:r>
              <a:rPr sz="1100" b="0">
                <a:solidFill>
                  <a:srgbClr val="F5EFE9"/>
                </a:solidFill>
              </a:rPr>
              <a:t>created in steps 2 and 3, validated at step 7 before anything is scheduled; each outlined stack feeds the domain chip beneath it</a:t>
            </a:r>
          </a:p>
        </p:txBody>
      </p:sp>
      <p:sp>
        <p:nvSpPr>
          <p:cNvPr id="9" name="Rounded Rectangle 8"/>
          <p:cNvSpPr/>
          <p:nvPr/>
        </p:nvSpPr>
        <p:spPr>
          <a:xfrm>
            <a:off x="86868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Finance tables</a:t>
            </a:r>
          </a:p>
        </p:txBody>
      </p:sp>
      <p:sp>
        <p:nvSpPr>
          <p:cNvPr id="11" name="Rounded Rectangle 10"/>
          <p:cNvSpPr/>
          <p:nvPr/>
        </p:nvSpPr>
        <p:spPr>
          <a:xfrm>
            <a:off x="310896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73552"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Billing tables</a:t>
            </a:r>
          </a:p>
        </p:txBody>
      </p:sp>
      <p:sp>
        <p:nvSpPr>
          <p:cNvPr id="13" name="Rounded Rectangle 12"/>
          <p:cNvSpPr/>
          <p:nvPr/>
        </p:nvSpPr>
        <p:spPr>
          <a:xfrm>
            <a:off x="534924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13831"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tables</a:t>
            </a:r>
          </a:p>
        </p:txBody>
      </p:sp>
      <p:sp>
        <p:nvSpPr>
          <p:cNvPr id="15" name="Rounded Rectangle 14"/>
          <p:cNvSpPr/>
          <p:nvPr/>
        </p:nvSpPr>
        <p:spPr>
          <a:xfrm>
            <a:off x="7863840" y="6355080"/>
            <a:ext cx="23774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6400800"/>
            <a:ext cx="20482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Debt Mgmt objects</a:t>
            </a:r>
          </a:p>
        </p:txBody>
      </p:sp>
      <p:sp>
        <p:nvSpPr>
          <p:cNvPr id="17" name="Rounded Rectangle 16"/>
          <p:cNvSpPr/>
          <p:nvPr/>
        </p:nvSpPr>
        <p:spPr>
          <a:xfrm>
            <a:off x="10515600" y="6355080"/>
            <a:ext cx="297180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80192" y="6400800"/>
            <a:ext cx="264261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views</a:t>
            </a:r>
          </a:p>
        </p:txBody>
      </p:sp>
      <p:sp>
        <p:nvSpPr>
          <p:cNvPr id="19" name="Rounded Rectangle 18"/>
          <p:cNvSpPr/>
          <p:nvPr/>
        </p:nvSpPr>
        <p:spPr>
          <a:xfrm>
            <a:off x="13716000" y="6355080"/>
            <a:ext cx="30632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80592" y="6400800"/>
            <a:ext cx="27340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Field Ops views</a:t>
            </a:r>
          </a:p>
        </p:txBody>
      </p:sp>
      <p:sp>
        <p:nvSpPr>
          <p:cNvPr id="21" name="Rounded Rectangle 20"/>
          <p:cNvSpPr/>
          <p:nvPr/>
        </p:nvSpPr>
        <p:spPr>
          <a:xfrm>
            <a:off x="17007840" y="6355080"/>
            <a:ext cx="219456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172432" y="6400800"/>
            <a:ext cx="18653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Customer Ops views</a:t>
            </a:r>
          </a:p>
        </p:txBody>
      </p:sp>
      <p:sp>
        <p:nvSpPr>
          <p:cNvPr id="23" name="Rounded Rectangle 22"/>
          <p:cNvSpPr/>
          <p:nvPr/>
        </p:nvSpPr>
        <p:spPr>
          <a:xfrm>
            <a:off x="740664" y="2286000"/>
            <a:ext cx="22860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Preflight</a:t>
            </a:r>
          </a:p>
          <a:p>
            <a:pPr algn="l">
              <a:spcAft>
                <a:spcPts val="600"/>
              </a:spcAft>
            </a:pPr>
            <a:r>
              <a:rPr sz="1100" b="0">
                <a:solidFill>
                  <a:srgbClr val="4C5D69"/>
                </a:solidFill>
              </a:rPr>
              <a:t>the deploy user can read every source table and write the targets</a:t>
            </a:r>
          </a:p>
        </p:txBody>
      </p:sp>
      <p:sp>
        <p:nvSpPr>
          <p:cNvPr id="24" name="Oval 23"/>
          <p:cNvSpPr/>
          <p:nvPr/>
        </p:nvSpPr>
        <p:spPr>
          <a:xfrm>
            <a:off x="6126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25" name="Rounded Rectangle 24"/>
          <p:cNvSpPr/>
          <p:nvPr/>
        </p:nvSpPr>
        <p:spPr>
          <a:xfrm>
            <a:off x="330098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7 snapshot tables</a:t>
            </a:r>
          </a:p>
          <a:p>
            <a:pPr algn="l">
              <a:spcAft>
                <a:spcPts val="600"/>
              </a:spcAft>
            </a:pPr>
            <a:r>
              <a:rPr sz="1100" b="0">
                <a:solidFill>
                  <a:srgbClr val="4C5D69"/>
                </a:solidFill>
              </a:rPr>
              <a:t>empty, with their keys</a:t>
            </a:r>
          </a:p>
        </p:txBody>
      </p:sp>
      <p:sp>
        <p:nvSpPr>
          <p:cNvPr id="26" name="Oval 25"/>
          <p:cNvSpPr/>
          <p:nvPr/>
        </p:nvSpPr>
        <p:spPr>
          <a:xfrm>
            <a:off x="317296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27" name="Rounded Rectangle 26"/>
          <p:cNvSpPr/>
          <p:nvPr/>
        </p:nvSpPr>
        <p:spPr>
          <a:xfrm>
            <a:off x="6227064" y="2286000"/>
            <a:ext cx="283464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domain-support objects</a:t>
            </a:r>
          </a:p>
          <a:p>
            <a:pPr algn="l">
              <a:spcAft>
                <a:spcPts val="600"/>
              </a:spcAft>
            </a:pPr>
            <a:r>
              <a:rPr sz="1100" b="0">
                <a:solidFill>
                  <a:srgbClr val="4C5D69"/>
                </a:solidFill>
              </a:rPr>
              <a:t>SA snapshot table, lookup seed, 8 CMS views, grants, synonyms</a:t>
            </a:r>
          </a:p>
        </p:txBody>
      </p:sp>
      <p:sp>
        <p:nvSpPr>
          <p:cNvPr id="28" name="Oval 27"/>
          <p:cNvSpPr/>
          <p:nvPr/>
        </p:nvSpPr>
        <p:spPr>
          <a:xfrm>
            <a:off x="60990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9" name="Rounded Rectangle 28"/>
          <p:cNvSpPr/>
          <p:nvPr/>
        </p:nvSpPr>
        <p:spPr>
          <a:xfrm>
            <a:off x="933602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Deploy the procedures</a:t>
            </a:r>
          </a:p>
          <a:p>
            <a:pPr algn="l">
              <a:spcAft>
                <a:spcPts val="600"/>
              </a:spcAft>
            </a:pPr>
            <a:r>
              <a:rPr sz="1100" b="0">
                <a:solidFill>
                  <a:srgbClr val="4C5D69"/>
                </a:solidFill>
              </a:rPr>
              <a:t>baseline (the retained 24 months, once) and operational per table; the SA aged-balance refresh</a:t>
            </a:r>
          </a:p>
        </p:txBody>
      </p:sp>
      <p:sp>
        <p:nvSpPr>
          <p:cNvPr id="30" name="Oval 29"/>
          <p:cNvSpPr/>
          <p:nvPr/>
        </p:nvSpPr>
        <p:spPr>
          <a:xfrm>
            <a:off x="920800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31" name="Rounded Rectangle 30"/>
          <p:cNvSpPr/>
          <p:nvPr/>
        </p:nvSpPr>
        <p:spPr>
          <a:xfrm>
            <a:off x="12454128"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FT</a:t>
            </a:r>
          </a:p>
        </p:txBody>
      </p:sp>
      <p:sp>
        <p:nvSpPr>
          <p:cNvPr id="32" name="Rounded Rectangle 31"/>
          <p:cNvSpPr/>
          <p:nvPr/>
        </p:nvSpPr>
        <p:spPr>
          <a:xfrm>
            <a:off x="14209776"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Billed usage</a:t>
            </a:r>
          </a:p>
        </p:txBody>
      </p:sp>
      <p:sp>
        <p:nvSpPr>
          <p:cNvPr id="33" name="Rounded Rectangle 32"/>
          <p:cNvSpPr/>
          <p:nvPr/>
        </p:nvSpPr>
        <p:spPr>
          <a:xfrm>
            <a:off x="15965424"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SQ usage</a:t>
            </a:r>
          </a:p>
        </p:txBody>
      </p:sp>
      <p:sp>
        <p:nvSpPr>
          <p:cNvPr id="34" name="Rounded Rectangle 33"/>
          <p:cNvSpPr/>
          <p:nvPr/>
        </p:nvSpPr>
        <p:spPr>
          <a:xfrm>
            <a:off x="17721072"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GL distribution</a:t>
            </a:r>
          </a:p>
        </p:txBody>
      </p:sp>
      <p:sp>
        <p:nvSpPr>
          <p:cNvPr id="35" name="Rounded Rectangle 34"/>
          <p:cNvSpPr/>
          <p:nvPr/>
        </p:nvSpPr>
        <p:spPr>
          <a:xfrm>
            <a:off x="12454128"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Measurement</a:t>
            </a:r>
          </a:p>
        </p:txBody>
      </p:sp>
      <p:sp>
        <p:nvSpPr>
          <p:cNvPr id="36" name="Rounded Rectangle 35"/>
          <p:cNvSpPr/>
          <p:nvPr/>
        </p:nvSpPr>
        <p:spPr>
          <a:xfrm>
            <a:off x="14209776"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a:t>
            </a:r>
          </a:p>
        </p:txBody>
      </p:sp>
      <p:sp>
        <p:nvSpPr>
          <p:cNvPr id="37" name="Rounded Rectangle 36"/>
          <p:cNvSpPr/>
          <p:nvPr/>
        </p:nvSpPr>
        <p:spPr>
          <a:xfrm>
            <a:off x="15965424"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 scalar detail</a:t>
            </a:r>
          </a:p>
        </p:txBody>
      </p:sp>
      <p:sp>
        <p:nvSpPr>
          <p:cNvPr id="38" name="Rounded Rectangle 37"/>
          <p:cNvSpPr/>
          <p:nvPr/>
        </p:nvSpPr>
        <p:spPr>
          <a:xfrm>
            <a:off x="17721072"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SA snapshot refresh</a:t>
            </a:r>
          </a:p>
        </p:txBody>
      </p:sp>
      <p:sp>
        <p:nvSpPr>
          <p:cNvPr id="39" name="Diamond 38"/>
          <p:cNvSpPr/>
          <p:nvPr/>
        </p:nvSpPr>
        <p:spPr>
          <a:xfrm>
            <a:off x="17099280" y="4069080"/>
            <a:ext cx="210312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ready gate: every job SUCCEEDED?</a:t>
            </a:r>
          </a:p>
        </p:txBody>
      </p:sp>
      <p:sp>
        <p:nvSpPr>
          <p:cNvPr id="40" name="Oval 39"/>
          <p:cNvSpPr/>
          <p:nvPr/>
        </p:nvSpPr>
        <p:spPr>
          <a:xfrm>
            <a:off x="1697126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41" name="Rounded Rectangle 40"/>
          <p:cNvSpPr/>
          <p:nvPr/>
        </p:nvSpPr>
        <p:spPr>
          <a:xfrm>
            <a:off x="17282160" y="5257800"/>
            <a:ext cx="173736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42" name="Diamond 41"/>
          <p:cNvSpPr/>
          <p:nvPr/>
        </p:nvSpPr>
        <p:spPr>
          <a:xfrm>
            <a:off x="14264640" y="4069080"/>
            <a:ext cx="237744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 and install gates pass?</a:t>
            </a:r>
          </a:p>
        </p:txBody>
      </p:sp>
      <p:sp>
        <p:nvSpPr>
          <p:cNvPr id="43" name="Oval 42"/>
          <p:cNvSpPr/>
          <p:nvPr/>
        </p:nvSpPr>
        <p:spPr>
          <a:xfrm>
            <a:off x="1413662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44" name="Rounded Rectangle 43"/>
          <p:cNvSpPr/>
          <p:nvPr/>
        </p:nvSpPr>
        <p:spPr>
          <a:xfrm>
            <a:off x="14493240" y="5257800"/>
            <a:ext cx="192024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45" name="Rounded Rectangle 44"/>
          <p:cNvSpPr/>
          <p:nvPr/>
        </p:nvSpPr>
        <p:spPr>
          <a:xfrm>
            <a:off x="11612880" y="4069080"/>
            <a:ext cx="219456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Post-load indexes</a:t>
            </a:r>
          </a:p>
          <a:p>
            <a:pPr algn="l">
              <a:spcAft>
                <a:spcPts val="600"/>
              </a:spcAft>
            </a:pPr>
            <a:r>
              <a:rPr sz="1100" b="0">
                <a:solidFill>
                  <a:srgbClr val="4C5D69"/>
                </a:solidFill>
              </a:rPr>
              <a:t>keys and dates the domains filter on</a:t>
            </a:r>
          </a:p>
        </p:txBody>
      </p:sp>
      <p:sp>
        <p:nvSpPr>
          <p:cNvPr id="46" name="Oval 45"/>
          <p:cNvSpPr/>
          <p:nvPr/>
        </p:nvSpPr>
        <p:spPr>
          <a:xfrm>
            <a:off x="11484863"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47" name="Rounded Rectangle 46"/>
          <p:cNvSpPr/>
          <p:nvPr/>
        </p:nvSpPr>
        <p:spPr>
          <a:xfrm>
            <a:off x="8412480" y="4069080"/>
            <a:ext cx="27432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Rolling procedures</a:t>
            </a:r>
          </a:p>
          <a:p>
            <a:pPr algn="l">
              <a:spcAft>
                <a:spcPts val="600"/>
              </a:spcAft>
            </a:pPr>
            <a:r>
              <a:rPr sz="1100" b="0">
                <a:solidFill>
                  <a:srgbClr val="4C5D69"/>
                </a:solidFill>
              </a:rPr>
              <a:t>3 months rebuilt, 24 kept; one operational refresh run by hand</a:t>
            </a:r>
          </a:p>
        </p:txBody>
      </p:sp>
      <p:sp>
        <p:nvSpPr>
          <p:cNvPr id="48" name="Oval 47"/>
          <p:cNvSpPr/>
          <p:nvPr/>
        </p:nvSpPr>
        <p:spPr>
          <a:xfrm>
            <a:off x="8284463"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49" name="Diamond 48"/>
          <p:cNvSpPr/>
          <p:nvPr/>
        </p:nvSpPr>
        <p:spPr>
          <a:xfrm>
            <a:off x="5943600" y="4069080"/>
            <a:ext cx="2011680" cy="86868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validated again?</a:t>
            </a:r>
          </a:p>
        </p:txBody>
      </p:sp>
      <p:sp>
        <p:nvSpPr>
          <p:cNvPr id="50" name="Oval 49"/>
          <p:cNvSpPr/>
          <p:nvPr/>
        </p:nvSpPr>
        <p:spPr>
          <a:xfrm>
            <a:off x="581558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51" name="Rounded Rectangle 50"/>
          <p:cNvSpPr/>
          <p:nvPr/>
        </p:nvSpPr>
        <p:spPr>
          <a:xfrm>
            <a:off x="6035040" y="3337560"/>
            <a:ext cx="1828800" cy="384048"/>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 fix, re-run</a:t>
            </a:r>
          </a:p>
        </p:txBody>
      </p:sp>
      <p:sp>
        <p:nvSpPr>
          <p:cNvPr id="52" name="Rounded Rectangle 51"/>
          <p:cNvSpPr/>
          <p:nvPr/>
        </p:nvSpPr>
        <p:spPr>
          <a:xfrm>
            <a:off x="3063240" y="4069080"/>
            <a:ext cx="246888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Schedule</a:t>
            </a:r>
          </a:p>
          <a:p>
            <a:pPr algn="l">
              <a:spcAft>
                <a:spcPts val="600"/>
              </a:spcAft>
            </a:pPr>
            <a:r>
              <a:rPr sz="1100" b="0">
                <a:solidFill>
                  <a:srgbClr val="4C5D69"/>
                </a:solidFill>
              </a:rPr>
              <a:t>twice daily from 10:00 and 16:00 UTC, 30-minute stagger; held on TEST until approved</a:t>
            </a:r>
          </a:p>
        </p:txBody>
      </p:sp>
      <p:sp>
        <p:nvSpPr>
          <p:cNvPr id="53" name="Oval 52"/>
          <p:cNvSpPr/>
          <p:nvPr/>
        </p:nvSpPr>
        <p:spPr>
          <a:xfrm>
            <a:off x="293522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54" name="Rounded Rectangle 53"/>
          <p:cNvSpPr/>
          <p:nvPr/>
        </p:nvSpPr>
        <p:spPr>
          <a:xfrm>
            <a:off x="740664" y="4069080"/>
            <a:ext cx="19202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Capture runs, data quality</a:t>
            </a:r>
          </a:p>
          <a:p>
            <a:pPr algn="l">
              <a:spcAft>
                <a:spcPts val="600"/>
              </a:spcAft>
            </a:pPr>
            <a:r>
              <a:rPr sz="1100" b="0">
                <a:solidFill>
                  <a:srgbClr val="4C5D69"/>
                </a:solidFill>
              </a:rPr>
              <a:t>per client, kept with the log</a:t>
            </a:r>
          </a:p>
        </p:txBody>
      </p:sp>
      <p:sp>
        <p:nvSpPr>
          <p:cNvPr id="55" name="Oval 54"/>
          <p:cNvSpPr/>
          <p:nvPr/>
        </p:nvSpPr>
        <p:spPr>
          <a:xfrm>
            <a:off x="612648"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56" name="TextBox 55"/>
          <p:cNvSpPr txBox="1"/>
          <p:nvPr/>
        </p:nvSpPr>
        <p:spPr>
          <a:xfrm>
            <a:off x="740664" y="5001768"/>
            <a:ext cx="3474720" cy="548640"/>
          </a:xfrm>
          <a:prstGeom prst="rect">
            <a:avLst/>
          </a:prstGeom>
          <a:noFill/>
        </p:spPr>
        <p:txBody>
          <a:bodyPr wrap="square" anchor="t" lIns="0" rIns="0" tIns="54864" bIns="54864">
            <a:spAutoFit/>
          </a:bodyPr>
          <a:lstStyle/>
          <a:p>
            <a:pPr algn="l">
              <a:spcAft>
                <a:spcPts val="600"/>
              </a:spcAft>
            </a:pPr>
            <a:r>
              <a:rPr sz="1200" b="1">
                <a:solidFill>
                  <a:srgbClr val="F5EFE9"/>
                </a:solidFill>
              </a:rPr>
              <a:t>runs at (UTC), one job every 30 minutes</a:t>
            </a:r>
          </a:p>
          <a:p>
            <a:pPr algn="l">
              <a:spcAft>
                <a:spcPts val="600"/>
              </a:spcAft>
            </a:pPr>
            <a:r>
              <a:rPr sz="1100" b="0">
                <a:solidFill>
                  <a:srgbClr val="F5EFE9"/>
                </a:solidFill>
              </a:rPr>
              <a:t>10:00 to 13:30, then again 16:00 to 19:30</a:t>
            </a:r>
          </a:p>
        </p:txBody>
      </p:sp>
      <p:sp>
        <p:nvSpPr>
          <p:cNvPr id="57" name="Rounded Rectangle 56"/>
          <p:cNvSpPr/>
          <p:nvPr/>
        </p:nvSpPr>
        <p:spPr>
          <a:xfrm>
            <a:off x="960120" y="67665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100" b="1">
                <a:solidFill>
                  <a:srgbClr val="0B3D7A"/>
                </a:solidFill>
              </a:rPr>
              <a:t>FT_RPT_CURR</a:t>
            </a:r>
          </a:p>
          <a:p>
            <a:pPr algn="ctr">
              <a:spcAft>
                <a:spcPts val="600"/>
              </a:spcAft>
            </a:pPr>
            <a:r>
              <a:rPr sz="950" b="0">
                <a:solidFill>
                  <a:srgbClr val="4C5D69"/>
                </a:solidFill>
              </a:rPr>
              <a:t>financial transactions</a:t>
            </a:r>
          </a:p>
        </p:txBody>
      </p:sp>
      <p:sp>
        <p:nvSpPr>
          <p:cNvPr id="58" name="Rounded Rectangle 57"/>
          <p:cNvSpPr/>
          <p:nvPr/>
        </p:nvSpPr>
        <p:spPr>
          <a:xfrm>
            <a:off x="960120" y="76809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FT_GL_DISTRIBUTION_RPT_CURR</a:t>
            </a:r>
          </a:p>
          <a:p>
            <a:pPr algn="ctr">
              <a:spcAft>
                <a:spcPts val="600"/>
              </a:spcAft>
            </a:pPr>
            <a:r>
              <a:rPr sz="950" b="0">
                <a:solidFill>
                  <a:srgbClr val="4C5D69"/>
                </a:solidFill>
              </a:rPr>
              <a:t>GL distribution</a:t>
            </a:r>
          </a:p>
        </p:txBody>
      </p:sp>
      <p:sp>
        <p:nvSpPr>
          <p:cNvPr id="59" name="Rounded Rectangle 58"/>
          <p:cNvSpPr/>
          <p:nvPr/>
        </p:nvSpPr>
        <p:spPr>
          <a:xfrm>
            <a:off x="3200400" y="67665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BSEG_BILLED_USAGE_RPT_CURR</a:t>
            </a:r>
          </a:p>
          <a:p>
            <a:pPr algn="ctr">
              <a:spcAft>
                <a:spcPts val="600"/>
              </a:spcAft>
            </a:pPr>
            <a:r>
              <a:rPr sz="950" b="0">
                <a:solidFill>
                  <a:srgbClr val="4C5D69"/>
                </a:solidFill>
              </a:rPr>
              <a:t>billed usage per segment</a:t>
            </a:r>
          </a:p>
        </p:txBody>
      </p:sp>
      <p:sp>
        <p:nvSpPr>
          <p:cNvPr id="60" name="Rounded Rectangle 59"/>
          <p:cNvSpPr/>
          <p:nvPr/>
        </p:nvSpPr>
        <p:spPr>
          <a:xfrm>
            <a:off x="3200400" y="76809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BSEG_SQ_USAGE_RPT_CURR</a:t>
            </a:r>
          </a:p>
          <a:p>
            <a:pPr algn="ctr">
              <a:spcAft>
                <a:spcPts val="600"/>
              </a:spcAft>
            </a:pPr>
            <a:r>
              <a:rPr sz="950" b="0">
                <a:solidFill>
                  <a:srgbClr val="4C5D69"/>
                </a:solidFill>
              </a:rPr>
              <a:t>service quantities</a:t>
            </a:r>
          </a:p>
        </p:txBody>
      </p:sp>
      <p:sp>
        <p:nvSpPr>
          <p:cNvPr id="61" name="Rounded Rectangle 60"/>
          <p:cNvSpPr/>
          <p:nvPr/>
        </p:nvSpPr>
        <p:spPr>
          <a:xfrm>
            <a:off x="5440680" y="6766560"/>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D1_MSRMT_RPT_CURR</a:t>
            </a:r>
          </a:p>
          <a:p>
            <a:pPr algn="ctr">
              <a:spcAft>
                <a:spcPts val="600"/>
              </a:spcAft>
            </a:pPr>
            <a:r>
              <a:rPr sz="950" b="0">
                <a:solidFill>
                  <a:srgbClr val="4C5D69"/>
                </a:solidFill>
              </a:rPr>
              <a:t>measurements</a:t>
            </a:r>
          </a:p>
        </p:txBody>
      </p:sp>
      <p:sp>
        <p:nvSpPr>
          <p:cNvPr id="62" name="Rounded Rectangle 61"/>
          <p:cNvSpPr/>
          <p:nvPr/>
        </p:nvSpPr>
        <p:spPr>
          <a:xfrm>
            <a:off x="5440680" y="7424927"/>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D1_USAGE_RPT_CURR</a:t>
            </a:r>
          </a:p>
          <a:p>
            <a:pPr algn="ctr">
              <a:spcAft>
                <a:spcPts val="600"/>
              </a:spcAft>
            </a:pPr>
            <a:r>
              <a:rPr sz="950" b="0">
                <a:solidFill>
                  <a:srgbClr val="4C5D69"/>
                </a:solidFill>
              </a:rPr>
              <a:t>usage transactions</a:t>
            </a:r>
          </a:p>
        </p:txBody>
      </p:sp>
      <p:sp>
        <p:nvSpPr>
          <p:cNvPr id="63" name="Rounded Rectangle 62"/>
          <p:cNvSpPr/>
          <p:nvPr/>
        </p:nvSpPr>
        <p:spPr>
          <a:xfrm>
            <a:off x="5440680" y="8083296"/>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850" b="1">
                <a:solidFill>
                  <a:srgbClr val="0B3D7A"/>
                </a:solidFill>
              </a:rPr>
              <a:t>D1_USAGE_SCALAR_DTL_RPT_CURR</a:t>
            </a:r>
          </a:p>
          <a:p>
            <a:pPr algn="ctr">
              <a:spcAft>
                <a:spcPts val="600"/>
              </a:spcAft>
            </a:pPr>
            <a:r>
              <a:rPr sz="950" b="0">
                <a:solidFill>
                  <a:srgbClr val="4C5D69"/>
                </a:solidFill>
              </a:rPr>
              <a:t>usage scalar detail</a:t>
            </a:r>
          </a:p>
        </p:txBody>
      </p:sp>
      <p:sp>
        <p:nvSpPr>
          <p:cNvPr id="64" name="Rounded Rectangle 63"/>
          <p:cNvSpPr/>
          <p:nvPr/>
        </p:nvSpPr>
        <p:spPr>
          <a:xfrm>
            <a:off x="86868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Finance domains</a:t>
            </a:r>
          </a:p>
        </p:txBody>
      </p:sp>
      <p:sp>
        <p:nvSpPr>
          <p:cNvPr id="65" name="Rounded Rectangle 64"/>
          <p:cNvSpPr/>
          <p:nvPr/>
        </p:nvSpPr>
        <p:spPr>
          <a:xfrm>
            <a:off x="310896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Billing and Rates domains</a:t>
            </a:r>
          </a:p>
        </p:txBody>
      </p:sp>
      <p:sp>
        <p:nvSpPr>
          <p:cNvPr id="66" name="Rounded Rectangle 65"/>
          <p:cNvSpPr/>
          <p:nvPr/>
        </p:nvSpPr>
        <p:spPr>
          <a:xfrm>
            <a:off x="534924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Usage and measurement domains</a:t>
            </a:r>
          </a:p>
        </p:txBody>
      </p:sp>
      <p:sp>
        <p:nvSpPr>
          <p:cNvPr id="67" name="Rounded Rectangle 66"/>
          <p:cNvSpPr/>
          <p:nvPr/>
        </p:nvSpPr>
        <p:spPr>
          <a:xfrm>
            <a:off x="7955279" y="6766560"/>
            <a:ext cx="219456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B3D7A"/>
                </a:solidFill>
              </a:rPr>
              <a:t>CMS_SA_SNAPSHOT</a:t>
            </a:r>
          </a:p>
          <a:p>
            <a:pPr algn="ctr">
              <a:spcAft>
                <a:spcPts val="600"/>
              </a:spcAft>
            </a:pPr>
            <a:r>
              <a:rPr sz="950" b="0">
                <a:solidFill>
                  <a:srgbClr val="4C5D69"/>
                </a:solidFill>
              </a:rPr>
              <a:t>aged balance per SA, refreshed by procedure</a:t>
            </a:r>
          </a:p>
        </p:txBody>
      </p:sp>
      <p:sp>
        <p:nvSpPr>
          <p:cNvPr id="68" name="Rounded Rectangle 67"/>
          <p:cNvSpPr/>
          <p:nvPr/>
        </p:nvSpPr>
        <p:spPr>
          <a:xfrm>
            <a:off x="7955279" y="7726679"/>
            <a:ext cx="2194560" cy="6400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CM_SNAPSHOT_TYPE_FLG</a:t>
            </a:r>
          </a:p>
          <a:p>
            <a:pPr algn="ctr">
              <a:spcAft>
                <a:spcPts val="600"/>
              </a:spcAft>
            </a:pPr>
            <a:r>
              <a:rPr sz="950" b="0">
                <a:solidFill>
                  <a:srgbClr val="4C5D69"/>
                </a:solidFill>
              </a:rPr>
              <a:t>lookup seed: LDAY, EMON, ARCH, LEMN</a:t>
            </a:r>
          </a:p>
        </p:txBody>
      </p:sp>
      <p:sp>
        <p:nvSpPr>
          <p:cNvPr id="69" name="Rounded Rectangle 68"/>
          <p:cNvSpPr/>
          <p:nvPr/>
        </p:nvSpPr>
        <p:spPr>
          <a:xfrm>
            <a:off x="7863840"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SA Snapshot Aged Balance domain</a:t>
            </a:r>
          </a:p>
        </p:txBody>
      </p:sp>
      <p:sp>
        <p:nvSpPr>
          <p:cNvPr id="70" name="Rounded Rectangle 69"/>
          <p:cNvSpPr/>
          <p:nvPr/>
        </p:nvSpPr>
        <p:spPr>
          <a:xfrm>
            <a:off x="10607040" y="676656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CMS_D1_DVC_IDENTIFIER_VW</a:t>
            </a:r>
          </a:p>
        </p:txBody>
      </p:sp>
      <p:sp>
        <p:nvSpPr>
          <p:cNvPr id="71" name="Rounded Rectangle 70"/>
          <p:cNvSpPr/>
          <p:nvPr/>
        </p:nvSpPr>
        <p:spPr>
          <a:xfrm>
            <a:off x="10607040" y="731520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CMS_D1_DVC_BODA_VW</a:t>
            </a:r>
          </a:p>
        </p:txBody>
      </p:sp>
      <p:sp>
        <p:nvSpPr>
          <p:cNvPr id="72" name="Rounded Rectangle 71"/>
          <p:cNvSpPr/>
          <p:nvPr/>
        </p:nvSpPr>
        <p:spPr>
          <a:xfrm>
            <a:off x="10607040" y="786384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CMS_W1_ASSET_IDENTIFIER_VW</a:t>
            </a:r>
          </a:p>
        </p:txBody>
      </p:sp>
      <p:sp>
        <p:nvSpPr>
          <p:cNvPr id="73" name="Rounded Rectangle 72"/>
          <p:cNvSpPr/>
          <p:nvPr/>
        </p:nvSpPr>
        <p:spPr>
          <a:xfrm>
            <a:off x="1051560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Device domain</a:t>
            </a:r>
          </a:p>
        </p:txBody>
      </p:sp>
      <p:sp>
        <p:nvSpPr>
          <p:cNvPr id="74" name="Rounded Rectangle 73"/>
          <p:cNvSpPr/>
          <p:nvPr/>
        </p:nvSpPr>
        <p:spPr>
          <a:xfrm>
            <a:off x="1207008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Asset domain</a:t>
            </a:r>
          </a:p>
        </p:txBody>
      </p:sp>
      <p:sp>
        <p:nvSpPr>
          <p:cNvPr id="75" name="Rounded Rectangle 74"/>
          <p:cNvSpPr/>
          <p:nvPr/>
        </p:nvSpPr>
        <p:spPr>
          <a:xfrm>
            <a:off x="13807440" y="676656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CMS_C1_REPRESENTATIVE_BODA_VW</a:t>
            </a:r>
          </a:p>
        </p:txBody>
      </p:sp>
      <p:sp>
        <p:nvSpPr>
          <p:cNvPr id="76" name="Rounded Rectangle 75"/>
          <p:cNvSpPr/>
          <p:nvPr/>
        </p:nvSpPr>
        <p:spPr>
          <a:xfrm>
            <a:off x="13807440" y="731520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CMS_D1_ACTIVITY_CHAR_VW</a:t>
            </a:r>
          </a:p>
        </p:txBody>
      </p:sp>
      <p:sp>
        <p:nvSpPr>
          <p:cNvPr id="77" name="Rounded Rectangle 76"/>
          <p:cNvSpPr/>
          <p:nvPr/>
        </p:nvSpPr>
        <p:spPr>
          <a:xfrm>
            <a:off x="13807440" y="786384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CMS_D1_ACTIVITY_D1FA_BODA_VW</a:t>
            </a:r>
          </a:p>
        </p:txBody>
      </p:sp>
      <p:sp>
        <p:nvSpPr>
          <p:cNvPr id="78" name="Rounded Rectangle 77"/>
          <p:cNvSpPr/>
          <p:nvPr/>
        </p:nvSpPr>
        <p:spPr>
          <a:xfrm>
            <a:off x="137160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Crew domain</a:t>
            </a:r>
          </a:p>
        </p:txBody>
      </p:sp>
      <p:sp>
        <p:nvSpPr>
          <p:cNvPr id="79" name="Rounded Rectangle 78"/>
          <p:cNvSpPr/>
          <p:nvPr/>
        </p:nvSpPr>
        <p:spPr>
          <a:xfrm>
            <a:off x="153162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Field Activity domain</a:t>
            </a:r>
          </a:p>
        </p:txBody>
      </p:sp>
      <p:sp>
        <p:nvSpPr>
          <p:cNvPr id="80" name="Rounded Rectangle 79"/>
          <p:cNvSpPr/>
          <p:nvPr/>
        </p:nvSpPr>
        <p:spPr>
          <a:xfrm>
            <a:off x="17099280" y="6766560"/>
            <a:ext cx="20116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CMS_CI_CASE_VW</a:t>
            </a:r>
          </a:p>
        </p:txBody>
      </p:sp>
      <p:sp>
        <p:nvSpPr>
          <p:cNvPr id="81" name="Rounded Rectangle 80"/>
          <p:cNvSpPr/>
          <p:nvPr/>
        </p:nvSpPr>
        <p:spPr>
          <a:xfrm>
            <a:off x="17099280" y="7315200"/>
            <a:ext cx="20116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CMS_CI_CASE_LOG_VW</a:t>
            </a:r>
          </a:p>
        </p:txBody>
      </p:sp>
      <p:sp>
        <p:nvSpPr>
          <p:cNvPr id="82" name="Rounded Rectangle 81"/>
          <p:cNvSpPr/>
          <p:nvPr/>
        </p:nvSpPr>
        <p:spPr>
          <a:xfrm>
            <a:off x="17007840" y="9006840"/>
            <a:ext cx="21945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Case domain</a:t>
            </a:r>
          </a:p>
        </p:txBody>
      </p:sp>
      <p:cxnSp>
        <p:nvCxnSpPr>
          <p:cNvPr id="83" name="Connector 82"/>
          <p:cNvCxnSpPr/>
          <p:nvPr/>
        </p:nvCxnSpPr>
        <p:spPr>
          <a:xfrm>
            <a:off x="302666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95274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06170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1987784" y="2720339"/>
            <a:ext cx="274320" cy="2286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828263" y="3474720"/>
            <a:ext cx="0" cy="274319"/>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828263" y="3749039"/>
            <a:ext cx="2322577"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8150839" y="3749039"/>
            <a:ext cx="1" cy="32004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8150839" y="4937760"/>
            <a:ext cx="0" cy="3200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8214848" y="49606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92" name="Connector 91"/>
          <p:cNvCxnSpPr/>
          <p:nvPr/>
        </p:nvCxnSpPr>
        <p:spPr>
          <a:xfrm flipH="1">
            <a:off x="166420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16322039"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94" name="Connector 93"/>
          <p:cNvCxnSpPr/>
          <p:nvPr/>
        </p:nvCxnSpPr>
        <p:spPr>
          <a:xfrm>
            <a:off x="15453359" y="4937760"/>
            <a:ext cx="0" cy="3200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15517367" y="49606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96" name="Connector 95"/>
          <p:cNvCxnSpPr/>
          <p:nvPr/>
        </p:nvCxnSpPr>
        <p:spPr>
          <a:xfrm flipH="1">
            <a:off x="1380744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348740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98" name="Connector 97"/>
          <p:cNvCxnSpPr/>
          <p:nvPr/>
        </p:nvCxnSpPr>
        <p:spPr>
          <a:xfrm flipH="1">
            <a:off x="111556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7955279" y="4503420"/>
            <a:ext cx="45720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949440" y="3721608"/>
            <a:ext cx="0" cy="347472"/>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013448" y="3758183"/>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no</a:t>
            </a:r>
          </a:p>
        </p:txBody>
      </p:sp>
      <p:cxnSp>
        <p:nvCxnSpPr>
          <p:cNvPr id="102" name="Connector 101"/>
          <p:cNvCxnSpPr/>
          <p:nvPr/>
        </p:nvCxnSpPr>
        <p:spPr>
          <a:xfrm flipH="1">
            <a:off x="5532120" y="4503420"/>
            <a:ext cx="41148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518922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yes</a:t>
            </a:r>
          </a:p>
        </p:txBody>
      </p:sp>
      <p:cxnSp>
        <p:nvCxnSpPr>
          <p:cNvPr id="104" name="Connector 103"/>
          <p:cNvCxnSpPr/>
          <p:nvPr/>
        </p:nvCxnSpPr>
        <p:spPr>
          <a:xfrm flipH="1">
            <a:off x="2660904" y="4503420"/>
            <a:ext cx="40233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4297680" y="4937760"/>
            <a:ext cx="0" cy="4114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297680" y="5349240"/>
            <a:ext cx="54864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9784080" y="49377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every 12 hours: the newest 3 months rebuilt, older rows kept</a:t>
            </a:r>
          </a:p>
        </p:txBody>
      </p:sp>
      <p:cxnSp>
        <p:nvCxnSpPr>
          <p:cNvPr id="109" name="Connector 108"/>
          <p:cNvCxnSpPr/>
          <p:nvPr/>
        </p:nvCxnSpPr>
        <p:spPr>
          <a:xfrm>
            <a:off x="1920239"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416052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40080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05256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200150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H="1">
            <a:off x="11219688" y="8869680"/>
            <a:ext cx="781812"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1219688" y="8869680"/>
            <a:ext cx="4572"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200150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2001500" y="8869680"/>
            <a:ext cx="772668"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2774168" y="8869680"/>
            <a:ext cx="4572"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524762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H="1">
            <a:off x="14447520" y="886968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4447520"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524762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5247620" y="886968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6047720"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810512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Every box in the map is one database object the domains read: seven rolling snapshot tables, the SA aged-balance table with its lookup seed, and eight CMS views. Numbers are the order of one rollout; orange diamonds are gates: yes continues, no stops the rollout there.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the retained 24 months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3 months rebuilt, 24 kept, on every table; 6-month rolling at CityCorp and Odessa</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Standard Offering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Origin_DEV</a:t>
            </a:r>
          </a:p>
          <a:p>
            <a:pPr algn="l">
              <a:spcAft>
                <a:spcPts val="600"/>
              </a:spcAft>
            </a:pPr>
            <a:r>
              <a:rPr sz="1100" b="0">
                <a:solidFill>
                  <a:srgbClr val="F5EFE9"/>
                </a:solidFill>
              </a:rPr>
              <a:t>authoring, the internal server</a:t>
            </a:r>
          </a:p>
        </p:txBody>
      </p:sp>
      <p:sp>
        <p:nvSpPr>
          <p:cNvPr id="7" name="Rounded Rectangle 6"/>
          <p:cNvSpPr/>
          <p:nvPr/>
        </p:nvSpPr>
        <p:spPr>
          <a:xfrm>
            <a:off x="5477256"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Origin_TEST</a:t>
            </a:r>
          </a:p>
          <a:p>
            <a:pPr algn="l">
              <a:spcAft>
                <a:spcPts val="600"/>
              </a:spcAft>
            </a:pPr>
            <a:r>
              <a:rPr sz="1100" b="0">
                <a:solidFill>
                  <a:srgbClr val="F5EFE9"/>
                </a:solidFill>
              </a:rPr>
              <a:t>proving, before any client</a:t>
            </a:r>
          </a:p>
        </p:txBody>
      </p:sp>
      <p:sp>
        <p:nvSpPr>
          <p:cNvPr id="9" name="Rounded Rectangle 8"/>
          <p:cNvSpPr/>
          <p:nvPr/>
        </p:nvSpPr>
        <p:spPr>
          <a:xfrm>
            <a:off x="10213848"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test org</a:t>
            </a:r>
          </a:p>
          <a:p>
            <a:pPr algn="l">
              <a:spcAft>
                <a:spcPts val="600"/>
              </a:spcAft>
            </a:pPr>
            <a:r>
              <a:rPr sz="1100" b="0">
                <a:solidFill>
                  <a:srgbClr val="F5EFE9"/>
                </a:solidFill>
              </a:rPr>
              <a:t>the client's own data</a:t>
            </a:r>
          </a:p>
        </p:txBody>
      </p:sp>
      <p:sp>
        <p:nvSpPr>
          <p:cNvPr id="11" name="Rounded Rectangle 10"/>
          <p:cNvSpPr/>
          <p:nvPr/>
        </p:nvSpPr>
        <p:spPr>
          <a:xfrm>
            <a:off x="14950440"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prod org</a:t>
            </a:r>
          </a:p>
          <a:p>
            <a:pPr algn="l">
              <a:spcAft>
                <a:spcPts val="600"/>
              </a:spcAft>
            </a:pPr>
            <a:r>
              <a:rPr sz="1100" b="0">
                <a:solidFill>
                  <a:srgbClr val="F5EFE9"/>
                </a:solidFill>
              </a:rPr>
              <a:t>read-only until the prod flag is given</a:t>
            </a:r>
          </a:p>
        </p:txBody>
      </p:sp>
      <p:sp>
        <p:nvSpPr>
          <p:cNvPr id="13" name="Rounded Rectangle 12"/>
          <p:cNvSpPr/>
          <p:nvPr/>
        </p:nvSpPr>
        <p:spPr>
          <a:xfrm>
            <a:off x="740664" y="8549640"/>
            <a:ext cx="18653760" cy="16916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859536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After go-live</a:t>
            </a:r>
          </a:p>
          <a:p>
            <a:pPr algn="l">
              <a:spcAft>
                <a:spcPts val="600"/>
              </a:spcAft>
            </a:pPr>
            <a:r>
              <a:rPr sz="1100" b="0">
                <a:solidFill>
                  <a:srgbClr val="F5EFE9"/>
                </a:solidFill>
              </a:rPr>
              <a:t>every change is a tool run with the same proofs, never a hand edit</a:t>
            </a:r>
          </a:p>
        </p:txBody>
      </p:sp>
      <p:sp>
        <p:nvSpPr>
          <p:cNvPr id="15" name="Rounded Rectangle 14"/>
          <p:cNvSpPr/>
          <p:nvPr/>
        </p:nvSpPr>
        <p:spPr>
          <a:xfrm>
            <a:off x="905256" y="2514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Workstreams tree</a:t>
            </a:r>
          </a:p>
          <a:p>
            <a:pPr algn="l">
              <a:spcAft>
                <a:spcPts val="600"/>
              </a:spcAft>
            </a:pPr>
            <a:r>
              <a:rPr sz="1100" b="0">
                <a:solidFill>
                  <a:srgbClr val="4C5D69"/>
                </a:solidFill>
              </a:rPr>
              <a:t>domains, Ad Hoc views, reports and dashboards: the only content edited by hand</a:t>
            </a:r>
          </a:p>
        </p:txBody>
      </p:sp>
      <p:sp>
        <p:nvSpPr>
          <p:cNvPr id="16" name="Oval 15"/>
          <p:cNvSpPr/>
          <p:nvPr/>
        </p:nvSpPr>
        <p:spPr>
          <a:xfrm>
            <a:off x="777240"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17" name="Rounded Rectangle 16"/>
          <p:cNvSpPr/>
          <p:nvPr/>
        </p:nvSpPr>
        <p:spPr>
          <a:xfrm>
            <a:off x="905256" y="35661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Export the org</a:t>
            </a:r>
          </a:p>
          <a:p>
            <a:pPr algn="l">
              <a:spcAft>
                <a:spcPts val="600"/>
              </a:spcAft>
            </a:pPr>
            <a:r>
              <a:rPr sz="1100" b="0">
                <a:solidFill>
                  <a:srgbClr val="4C5D69"/>
                </a:solidFill>
              </a:rPr>
              <a:t>one API export task, polled, downloaded</a:t>
            </a:r>
          </a:p>
        </p:txBody>
      </p:sp>
      <p:sp>
        <p:nvSpPr>
          <p:cNvPr id="18" name="Oval 17"/>
          <p:cNvSpPr/>
          <p:nvPr/>
        </p:nvSpPr>
        <p:spPr>
          <a:xfrm>
            <a:off x="777240" y="34381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19" name="Rounded Rectangle 18"/>
          <p:cNvSpPr/>
          <p:nvPr/>
        </p:nvSpPr>
        <p:spPr>
          <a:xfrm>
            <a:off x="905256" y="4434840"/>
            <a:ext cx="4114800" cy="14173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Build the package</a:t>
            </a:r>
          </a:p>
          <a:p>
            <a:pPr algn="l">
              <a:spcAft>
                <a:spcPts val="600"/>
              </a:spcAft>
            </a:pPr>
            <a:r>
              <a:rPr sz="1100" b="0">
                <a:solidFill>
                  <a:srgbClr val="4C5D69"/>
                </a:solidFill>
              </a:rPr>
              <a:t>inventory and classify the export; keep the offering list; one copy of each domain in one home; carry the datasource; rewrite every path; strip print wrappers; narrow the import index</a:t>
            </a:r>
          </a:p>
        </p:txBody>
      </p:sp>
      <p:sp>
        <p:nvSpPr>
          <p:cNvPr id="20" name="Oval 19"/>
          <p:cNvSpPr/>
          <p:nvPr/>
        </p:nvSpPr>
        <p:spPr>
          <a:xfrm>
            <a:off x="777240" y="43068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1" name="Diamond 20"/>
          <p:cNvSpPr/>
          <p:nvPr/>
        </p:nvSpPr>
        <p:spPr>
          <a:xfrm>
            <a:off x="2276856" y="608076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verifies?</a:t>
            </a:r>
          </a:p>
        </p:txBody>
      </p:sp>
      <p:sp>
        <p:nvSpPr>
          <p:cNvPr id="22" name="Oval 21"/>
          <p:cNvSpPr/>
          <p:nvPr/>
        </p:nvSpPr>
        <p:spPr>
          <a:xfrm>
            <a:off x="2148840" y="59527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23" name="Rounded Rectangle 22"/>
          <p:cNvSpPr/>
          <p:nvPr/>
        </p:nvSpPr>
        <p:spPr>
          <a:xfrm>
            <a:off x="923544" y="628650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24" name="Rounded Rectangle 23"/>
          <p:cNvSpPr/>
          <p:nvPr/>
        </p:nvSpPr>
        <p:spPr>
          <a:xfrm>
            <a:off x="5641848" y="25146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update in place</a:t>
            </a:r>
          </a:p>
          <a:p>
            <a:pPr algn="l">
              <a:spcAft>
                <a:spcPts val="600"/>
              </a:spcAft>
            </a:pPr>
            <a:r>
              <a:rPr sz="1100" b="0">
                <a:solidFill>
                  <a:srgbClr val="4C5D69"/>
                </a:solidFill>
              </a:rPr>
              <a:t>polled; an importer warning counts as a failure</a:t>
            </a:r>
          </a:p>
        </p:txBody>
      </p:sp>
      <p:sp>
        <p:nvSpPr>
          <p:cNvPr id="25" name="Oval 24"/>
          <p:cNvSpPr/>
          <p:nvPr/>
        </p:nvSpPr>
        <p:spPr>
          <a:xfrm>
            <a:off x="5513832"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5</a:t>
            </a:r>
          </a:p>
        </p:txBody>
      </p:sp>
      <p:sp>
        <p:nvSpPr>
          <p:cNvPr id="26" name="Rounded Rectangle 25"/>
          <p:cNvSpPr/>
          <p:nvPr/>
        </p:nvSpPr>
        <p:spPr>
          <a:xfrm>
            <a:off x="5641848" y="3429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Re-export and compare</a:t>
            </a:r>
          </a:p>
          <a:p>
            <a:pPr algn="l">
              <a:spcAft>
                <a:spcPts val="600"/>
              </a:spcAft>
            </a:pPr>
            <a:r>
              <a:rPr sz="1100" b="0">
                <a:solidFill>
                  <a:srgbClr val="4C5D69"/>
                </a:solidFill>
              </a:rPr>
              <a:t>byte-equal inside the scope, importer stamps ignored</a:t>
            </a:r>
          </a:p>
        </p:txBody>
      </p:sp>
      <p:sp>
        <p:nvSpPr>
          <p:cNvPr id="27" name="Oval 26"/>
          <p:cNvSpPr/>
          <p:nvPr/>
        </p:nvSpPr>
        <p:spPr>
          <a:xfrm>
            <a:off x="5513832" y="3300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28" name="Rounded Rectangle 27"/>
          <p:cNvSpPr/>
          <p:nvPr/>
        </p:nvSpPr>
        <p:spPr>
          <a:xfrm>
            <a:off x="5641848" y="4343400"/>
            <a:ext cx="41148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Execute everything</a:t>
            </a:r>
          </a:p>
          <a:p>
            <a:pPr algn="l">
              <a:spcAft>
                <a:spcPts val="600"/>
              </a:spcAft>
            </a:pPr>
            <a:r>
              <a:rPr sz="1100" b="0">
                <a:solidFill>
                  <a:srgbClr val="4C5D69"/>
                </a:solidFill>
              </a:rPr>
              <a:t>views by query, reports as PDF, domains by metadata and probe</a:t>
            </a:r>
          </a:p>
        </p:txBody>
      </p:sp>
      <p:sp>
        <p:nvSpPr>
          <p:cNvPr id="29" name="Oval 28"/>
          <p:cNvSpPr/>
          <p:nvPr/>
        </p:nvSpPr>
        <p:spPr>
          <a:xfrm>
            <a:off x="5513832" y="42153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30" name="Diamond 29"/>
          <p:cNvSpPr/>
          <p:nvPr/>
        </p:nvSpPr>
        <p:spPr>
          <a:xfrm>
            <a:off x="7013448" y="539496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31" name="Oval 30"/>
          <p:cNvSpPr/>
          <p:nvPr/>
        </p:nvSpPr>
        <p:spPr>
          <a:xfrm>
            <a:off x="6885432" y="5266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32" name="Rounded Rectangle 31"/>
          <p:cNvSpPr/>
          <p:nvPr/>
        </p:nvSpPr>
        <p:spPr>
          <a:xfrm>
            <a:off x="8842248" y="560070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33" name="Rounded Rectangle 32"/>
          <p:cNvSpPr/>
          <p:nvPr/>
        </p:nvSpPr>
        <p:spPr>
          <a:xfrm>
            <a:off x="5641848" y="64008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B3D7A"/>
                </a:solidFill>
              </a:rPr>
              <a:t>Proven offering</a:t>
            </a:r>
          </a:p>
          <a:p>
            <a:pPr algn="ctr">
              <a:spcAft>
                <a:spcPts val="600"/>
              </a:spcAft>
            </a:pPr>
            <a:r>
              <a:rPr sz="1100" b="0">
                <a:solidFill>
                  <a:srgbClr val="4C5D69"/>
                </a:solidFill>
              </a:rPr>
              <a:t>the package every client promotion starts from</a:t>
            </a:r>
          </a:p>
        </p:txBody>
      </p:sp>
      <p:sp>
        <p:nvSpPr>
          <p:cNvPr id="34" name="Oval 33"/>
          <p:cNvSpPr/>
          <p:nvPr/>
        </p:nvSpPr>
        <p:spPr>
          <a:xfrm>
            <a:off x="5513832" y="62727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35" name="Rounded Rectangle 34"/>
          <p:cNvSpPr/>
          <p:nvPr/>
        </p:nvSpPr>
        <p:spPr>
          <a:xfrm>
            <a:off x="10378440"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datasource: the client's own export, carried byte for byte</a:t>
            </a:r>
          </a:p>
        </p:txBody>
      </p:sp>
      <p:sp>
        <p:nvSpPr>
          <p:cNvPr id="36" name="Rounded Rectangle 35"/>
          <p:cNvSpPr/>
          <p:nvPr/>
        </p:nvSpPr>
        <p:spPr>
          <a:xfrm>
            <a:off x="10378440" y="31089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every resource on the org before anything changes</a:t>
            </a:r>
          </a:p>
        </p:txBody>
      </p:sp>
      <p:sp>
        <p:nvSpPr>
          <p:cNvPr id="37" name="Oval 36"/>
          <p:cNvSpPr/>
          <p:nvPr/>
        </p:nvSpPr>
        <p:spPr>
          <a:xfrm>
            <a:off x="10250424"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38" name="Rounded Rectangle 37"/>
          <p:cNvSpPr/>
          <p:nvPr/>
        </p:nvSpPr>
        <p:spPr>
          <a:xfrm>
            <a:off x="10378440" y="3977639"/>
            <a:ext cx="4114800" cy="10972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Rebuild for the client</a:t>
            </a:r>
          </a:p>
          <a:p>
            <a:pPr algn="l">
              <a:spcAft>
                <a:spcPts val="600"/>
              </a:spcAft>
            </a:pPr>
            <a:r>
              <a:rPr sz="1100" b="0">
                <a:solidFill>
                  <a:srgbClr val="4C5D69"/>
                </a:solidFill>
              </a:rPr>
              <a:t>the client's datasource carried; org path, folder, alias and tenant root rewritten by tested replacements</a:t>
            </a:r>
          </a:p>
        </p:txBody>
      </p:sp>
      <p:sp>
        <p:nvSpPr>
          <p:cNvPr id="39" name="Oval 38"/>
          <p:cNvSpPr/>
          <p:nvPr/>
        </p:nvSpPr>
        <p:spPr>
          <a:xfrm>
            <a:off x="10250424" y="38496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40" name="Diamond 39"/>
          <p:cNvSpPr/>
          <p:nvPr/>
        </p:nvSpPr>
        <p:spPr>
          <a:xfrm>
            <a:off x="11750040" y="521208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verified?</a:t>
            </a:r>
          </a:p>
        </p:txBody>
      </p:sp>
      <p:sp>
        <p:nvSpPr>
          <p:cNvPr id="41" name="Oval 40"/>
          <p:cNvSpPr/>
          <p:nvPr/>
        </p:nvSpPr>
        <p:spPr>
          <a:xfrm>
            <a:off x="11622024" y="5084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42" name="Rounded Rectangle 41"/>
          <p:cNvSpPr/>
          <p:nvPr/>
        </p:nvSpPr>
        <p:spPr>
          <a:xfrm>
            <a:off x="13578840" y="541782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43" name="Rounded Rectangle 42"/>
          <p:cNvSpPr/>
          <p:nvPr/>
        </p:nvSpPr>
        <p:spPr>
          <a:xfrm>
            <a:off x="10378440" y="621792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compare, execute</a:t>
            </a:r>
          </a:p>
          <a:p>
            <a:pPr algn="l">
              <a:spcAft>
                <a:spcPts val="600"/>
              </a:spcAft>
            </a:pPr>
            <a:r>
              <a:rPr sz="1100" b="0">
                <a:solidFill>
                  <a:srgbClr val="4C5D69"/>
                </a:solidFill>
              </a:rPr>
              <a:t>the same three proofs as Origin_TEST</a:t>
            </a:r>
          </a:p>
        </p:txBody>
      </p:sp>
      <p:sp>
        <p:nvSpPr>
          <p:cNvPr id="44" name="Oval 43"/>
          <p:cNvSpPr/>
          <p:nvPr/>
        </p:nvSpPr>
        <p:spPr>
          <a:xfrm>
            <a:off x="10250424" y="6089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13</a:t>
            </a:r>
          </a:p>
        </p:txBody>
      </p:sp>
      <p:sp>
        <p:nvSpPr>
          <p:cNvPr id="45" name="Rounded Rectangle 44"/>
          <p:cNvSpPr/>
          <p:nvPr/>
        </p:nvSpPr>
        <p:spPr>
          <a:xfrm>
            <a:off x="10378440" y="7086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PASS, EMPTY, SLOW or FAIL per resource with timing; one document per org</a:t>
            </a:r>
          </a:p>
        </p:txBody>
      </p:sp>
      <p:sp>
        <p:nvSpPr>
          <p:cNvPr id="46" name="Oval 45"/>
          <p:cNvSpPr/>
          <p:nvPr/>
        </p:nvSpPr>
        <p:spPr>
          <a:xfrm>
            <a:off x="10250424" y="6958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14</a:t>
            </a:r>
          </a:p>
        </p:txBody>
      </p:sp>
      <p:sp>
        <p:nvSpPr>
          <p:cNvPr id="47" name="Rounded Rectangle 46"/>
          <p:cNvSpPr/>
          <p:nvPr/>
        </p:nvSpPr>
        <p:spPr>
          <a:xfrm>
            <a:off x="15115032"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0B3D7A"/>
                </a:solidFill>
              </a:rPr>
              <a:t>explicit prod flag required</a:t>
            </a:r>
          </a:p>
        </p:txBody>
      </p:sp>
      <p:sp>
        <p:nvSpPr>
          <p:cNvPr id="48" name="Rounded Rectangle 47"/>
          <p:cNvSpPr/>
          <p:nvPr/>
        </p:nvSpPr>
        <p:spPr>
          <a:xfrm>
            <a:off x="15115032" y="310896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the rollback baseline</a:t>
            </a:r>
          </a:p>
        </p:txBody>
      </p:sp>
      <p:sp>
        <p:nvSpPr>
          <p:cNvPr id="49" name="Oval 48"/>
          <p:cNvSpPr/>
          <p:nvPr/>
        </p:nvSpPr>
        <p:spPr>
          <a:xfrm>
            <a:off x="14987016"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15</a:t>
            </a:r>
          </a:p>
        </p:txBody>
      </p:sp>
      <p:sp>
        <p:nvSpPr>
          <p:cNvPr id="50" name="Rounded Rectangle 49"/>
          <p:cNvSpPr/>
          <p:nvPr/>
        </p:nvSpPr>
        <p:spPr>
          <a:xfrm>
            <a:off x="15115032" y="3931920"/>
            <a:ext cx="4114800" cy="10058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Same promotion, same proofs</a:t>
            </a:r>
          </a:p>
          <a:p>
            <a:pPr algn="l">
              <a:spcAft>
                <a:spcPts val="600"/>
              </a:spcAft>
            </a:pPr>
            <a:r>
              <a:rPr sz="1100" b="0">
                <a:solidFill>
                  <a:srgbClr val="4C5D69"/>
                </a:solidFill>
              </a:rPr>
              <a:t>target datasource carried; rewritten; verified; imported; compared; executed</a:t>
            </a:r>
          </a:p>
        </p:txBody>
      </p:sp>
      <p:sp>
        <p:nvSpPr>
          <p:cNvPr id="51" name="Oval 50"/>
          <p:cNvSpPr/>
          <p:nvPr/>
        </p:nvSpPr>
        <p:spPr>
          <a:xfrm>
            <a:off x="14987016" y="3803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16</a:t>
            </a:r>
          </a:p>
        </p:txBody>
      </p:sp>
      <p:sp>
        <p:nvSpPr>
          <p:cNvPr id="52" name="Diamond 51"/>
          <p:cNvSpPr/>
          <p:nvPr/>
        </p:nvSpPr>
        <p:spPr>
          <a:xfrm>
            <a:off x="16486632" y="5074920"/>
            <a:ext cx="137160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53" name="Oval 52"/>
          <p:cNvSpPr/>
          <p:nvPr/>
        </p:nvSpPr>
        <p:spPr>
          <a:xfrm>
            <a:off x="16358616" y="4946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17</a:t>
            </a:r>
          </a:p>
        </p:txBody>
      </p:sp>
      <p:sp>
        <p:nvSpPr>
          <p:cNvPr id="54" name="Rounded Rectangle 53"/>
          <p:cNvSpPr/>
          <p:nvPr/>
        </p:nvSpPr>
        <p:spPr>
          <a:xfrm>
            <a:off x="18315432" y="5280660"/>
            <a:ext cx="896112"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stop</a:t>
            </a:r>
          </a:p>
        </p:txBody>
      </p:sp>
      <p:sp>
        <p:nvSpPr>
          <p:cNvPr id="55" name="Rounded Rectangle 54"/>
          <p:cNvSpPr/>
          <p:nvPr/>
        </p:nvSpPr>
        <p:spPr>
          <a:xfrm>
            <a:off x="15115032" y="603504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on the client's prod numbers</a:t>
            </a:r>
          </a:p>
        </p:txBody>
      </p:sp>
      <p:sp>
        <p:nvSpPr>
          <p:cNvPr id="56" name="Oval 55"/>
          <p:cNvSpPr/>
          <p:nvPr/>
        </p:nvSpPr>
        <p:spPr>
          <a:xfrm>
            <a:off x="14987016" y="59070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18</a:t>
            </a:r>
          </a:p>
        </p:txBody>
      </p:sp>
      <p:sp>
        <p:nvSpPr>
          <p:cNvPr id="57" name="Rounded Rectangle 56"/>
          <p:cNvSpPr/>
          <p:nvPr/>
        </p:nvSpPr>
        <p:spPr>
          <a:xfrm>
            <a:off x="15115032" y="6858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Diff after = rollback record</a:t>
            </a:r>
          </a:p>
          <a:p>
            <a:pPr algn="l">
              <a:spcAft>
                <a:spcPts val="600"/>
              </a:spcAft>
            </a:pPr>
            <a:r>
              <a:rPr sz="1100" b="0">
                <a:solidFill>
                  <a:srgbClr val="4C5D69"/>
                </a:solidFill>
              </a:rPr>
              <a:t>inventory before against after: nothing else moved</a:t>
            </a:r>
          </a:p>
        </p:txBody>
      </p:sp>
      <p:sp>
        <p:nvSpPr>
          <p:cNvPr id="58" name="Oval 57"/>
          <p:cNvSpPr/>
          <p:nvPr/>
        </p:nvSpPr>
        <p:spPr>
          <a:xfrm>
            <a:off x="14987016" y="6729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19</a:t>
            </a:r>
          </a:p>
        </p:txBody>
      </p:sp>
      <p:sp>
        <p:nvSpPr>
          <p:cNvPr id="59" name="Rounded Rectangle 58"/>
          <p:cNvSpPr/>
          <p:nvPr/>
        </p:nvSpPr>
        <p:spPr>
          <a:xfrm>
            <a:off x="91440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Additive-only domain patch</a:t>
            </a:r>
          </a:p>
          <a:p>
            <a:pPr algn="l">
              <a:spcAft>
                <a:spcPts val="600"/>
              </a:spcAft>
            </a:pPr>
            <a:r>
              <a:rPr sz="1100" b="0">
                <a:solidFill>
                  <a:srgbClr val="4C5D69"/>
                </a:solidFill>
              </a:rPr>
              <a:t>the additions guard refuses any change to what is there; seven proofs per org; one-command restore</a:t>
            </a:r>
          </a:p>
        </p:txBody>
      </p:sp>
      <p:sp>
        <p:nvSpPr>
          <p:cNvPr id="60" name="Rounded Rectangle 59"/>
          <p:cNvSpPr/>
          <p:nvPr/>
        </p:nvSpPr>
        <p:spPr>
          <a:xfrm>
            <a:off x="713232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Standardized Reports folder</a:t>
            </a:r>
          </a:p>
          <a:p>
            <a:pPr algn="l">
              <a:spcAft>
                <a:spcPts val="600"/>
              </a:spcAft>
            </a:pPr>
            <a:r>
              <a:rPr sz="1100" b="0">
                <a:solidFill>
                  <a:srgbClr val="4C5D69"/>
                </a:solidFill>
              </a:rPr>
              <a:t>scheduled SQL reports in one folder; on Origin_DEV today, promoted to client orgs by the same tool when approved</a:t>
            </a:r>
          </a:p>
        </p:txBody>
      </p:sp>
      <p:sp>
        <p:nvSpPr>
          <p:cNvPr id="61" name="Rounded Rectangle 60"/>
          <p:cNvSpPr/>
          <p:nvPr/>
        </p:nvSpPr>
        <p:spPr>
          <a:xfrm>
            <a:off x="1335024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after every change</a:t>
            </a:r>
          </a:p>
          <a:p>
            <a:pPr algn="l">
              <a:spcAft>
                <a:spcPts val="600"/>
              </a:spcAft>
            </a:pPr>
            <a:r>
              <a:rPr sz="1100" b="0">
                <a:solidFill>
                  <a:srgbClr val="4C5D69"/>
                </a:solidFill>
              </a:rPr>
              <a:t>the sign-off is regenerated; the first red row is the alert</a:t>
            </a:r>
          </a:p>
        </p:txBody>
      </p:sp>
      <p:sp>
        <p:nvSpPr>
          <p:cNvPr id="62" name="TextBox 61"/>
          <p:cNvSpPr txBox="1"/>
          <p:nvPr/>
        </p:nvSpPr>
        <p:spPr>
          <a:xfrm>
            <a:off x="12527280" y="1325880"/>
            <a:ext cx="6675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every later change re-enters at the client test org and repeats steps 10 to 19</a:t>
            </a:r>
          </a:p>
        </p:txBody>
      </p:sp>
      <p:cxnSp>
        <p:nvCxnSpPr>
          <p:cNvPr id="63" name="Connector 62"/>
          <p:cNvCxnSpPr/>
          <p:nvPr/>
        </p:nvCxnSpPr>
        <p:spPr>
          <a:xfrm>
            <a:off x="2962656" y="34290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62656" y="4297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962656" y="5852159"/>
            <a:ext cx="0" cy="22860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819656" y="649224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1499616" y="618134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68" name="Connector 67"/>
          <p:cNvCxnSpPr/>
          <p:nvPr/>
        </p:nvCxnSpPr>
        <p:spPr>
          <a:xfrm>
            <a:off x="3648456" y="6492240"/>
            <a:ext cx="16824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5330952" y="2903220"/>
            <a:ext cx="0" cy="358902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330952" y="29032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023360" y="6144768"/>
            <a:ext cx="914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yes</a:t>
            </a:r>
          </a:p>
        </p:txBody>
      </p:sp>
      <p:cxnSp>
        <p:nvCxnSpPr>
          <p:cNvPr id="72" name="Connector 71"/>
          <p:cNvCxnSpPr/>
          <p:nvPr/>
        </p:nvCxnSpPr>
        <p:spPr>
          <a:xfrm>
            <a:off x="7699248" y="3291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99248" y="42062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699248" y="52120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385048" y="580644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065008" y="549554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77" name="Connector 76"/>
          <p:cNvCxnSpPr/>
          <p:nvPr/>
        </p:nvCxnSpPr>
        <p:spPr>
          <a:xfrm>
            <a:off x="7699248" y="621792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763256" y="617220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79" name="Connector 78"/>
          <p:cNvCxnSpPr/>
          <p:nvPr/>
        </p:nvCxnSpPr>
        <p:spPr>
          <a:xfrm>
            <a:off x="9756648" y="678942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0067544" y="3474720"/>
            <a:ext cx="0" cy="3314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067544" y="34747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2435840"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435840" y="3840480"/>
            <a:ext cx="0" cy="137159"/>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2435840" y="50749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3121640" y="5623559"/>
            <a:ext cx="457200" cy="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801600" y="531266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87" name="Connector 86"/>
          <p:cNvCxnSpPr/>
          <p:nvPr/>
        </p:nvCxnSpPr>
        <p:spPr>
          <a:xfrm>
            <a:off x="12435840" y="603504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2499848" y="598932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89" name="Connector 88"/>
          <p:cNvCxnSpPr/>
          <p:nvPr/>
        </p:nvCxnSpPr>
        <p:spPr>
          <a:xfrm>
            <a:off x="12435840" y="69494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4493240" y="754380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4804136" y="2743200"/>
            <a:ext cx="0" cy="48006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4804136" y="274320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7172432"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7172432" y="3794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7172432" y="4937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858232" y="548640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7538192" y="5175504"/>
            <a:ext cx="1097280" cy="274320"/>
          </a:xfrm>
          <a:prstGeom prst="rect">
            <a:avLst/>
          </a:prstGeom>
          <a:noFill/>
        </p:spPr>
        <p:txBody>
          <a:bodyPr wrap="square" anchor="b" lIns="0" rIns="0" tIns="54864" bIns="54864">
            <a:spAutoFit/>
          </a:bodyPr>
          <a:lstStyle/>
          <a:p>
            <a:pPr algn="ctr">
              <a:spcAft>
                <a:spcPts val="600"/>
              </a:spcAft>
            </a:pPr>
            <a:r>
              <a:rPr sz="1100" b="1">
                <a:solidFill>
                  <a:srgbClr val="F5EFE9"/>
                </a:solidFill>
              </a:rPr>
              <a:t>no</a:t>
            </a:r>
          </a:p>
        </p:txBody>
      </p:sp>
      <p:cxnSp>
        <p:nvCxnSpPr>
          <p:cNvPr id="98" name="Connector 97"/>
          <p:cNvCxnSpPr/>
          <p:nvPr/>
        </p:nvCxnSpPr>
        <p:spPr>
          <a:xfrm>
            <a:off x="17172432" y="5897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17236440" y="5829300"/>
            <a:ext cx="1097280" cy="274320"/>
          </a:xfrm>
          <a:prstGeom prst="rect">
            <a:avLst/>
          </a:prstGeom>
          <a:noFill/>
        </p:spPr>
        <p:txBody>
          <a:bodyPr wrap="square" anchor="ctr" lIns="0" rIns="0" tIns="54864" bIns="54864">
            <a:spAutoFit/>
          </a:bodyPr>
          <a:lstStyle/>
          <a:p>
            <a:pPr algn="l">
              <a:spcAft>
                <a:spcPts val="600"/>
              </a:spcAft>
            </a:pPr>
            <a:r>
              <a:rPr sz="1100" b="1">
                <a:solidFill>
                  <a:srgbClr val="F5EFE9"/>
                </a:solidFill>
              </a:rPr>
              <a:t>yes</a:t>
            </a:r>
          </a:p>
        </p:txBody>
      </p:sp>
      <p:cxnSp>
        <p:nvCxnSpPr>
          <p:cNvPr id="100" name="Connector 99"/>
          <p:cNvCxnSpPr/>
          <p:nvPr/>
        </p:nvCxnSpPr>
        <p:spPr>
          <a:xfrm>
            <a:off x="17172432" y="6720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7172432" y="7635240"/>
            <a:ext cx="0" cy="77724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16276320" y="8412480"/>
            <a:ext cx="896112"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6276320" y="8412480"/>
            <a:ext cx="0" cy="68580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9202400" y="9578340"/>
            <a:ext cx="4572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9659600" y="1691640"/>
            <a:ext cx="0" cy="7886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a:off x="12435840" y="1691640"/>
            <a:ext cx="722376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2435840" y="1691640"/>
            <a:ext cx="0" cy="8229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740664" y="1033272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Orange diamonds are gates: yes continues, no stops the run and names the rollback. Numbers are the order of one full promotion.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