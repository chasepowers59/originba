
<file path=[Content_Types].xml><?xml version="1.0" encoding="utf-8"?>
<Types xmlns="http://schemas.openxmlformats.org/package/2006/content-types">
  <Default Extension="jpg" ContentType="image/jpeg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2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</p:sldIdLst>
  <p:sldSz cx="20104100" cy="11309350"/>
  <p:notesSz cx="20104100" cy="11309350"/>
  <p:embeddedFontLst>
    <p:embeddedFont>
      <p:font typeface="Delight Medium" panose="020B0604020202020204" charset="0"/>
      <p:regular r:id="rId12"/>
      <p:bold r:id="rId13"/>
    </p:embeddedFont>
    <p:embeddedFont>
      <p:font typeface="Delight Regular" panose="020B0604020202020204" charset="0"/>
      <p:regular r:id="rId14"/>
    </p:embeddedFont>
    <p:embeddedFont>
      <p:font typeface="Delight Semi Bold" panose="020B0604020202020204" charset="0"/>
      <p:regular r:id="rId15"/>
      <p:bold r:id="rId16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CA242-63C1-4819-718C-03DD82C4675D}" name="Matthew Chaump" initials="MC" userId="S::mchaump@originutility.com::b3d42fe6-670a-4966-b5bf-3a36d66e83c8" providerId="AD"/>
  <p188:author id="{1DC4F756-B5AF-C2D4-9316-CD972CDD5EB3}" name="Jim Andrews" initials="JA" userId="S::jandrews@originconsults.com::a05dfb70-bfc1-430f-b538-55d430ac6b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7D23"/>
    <a:srgbClr val="F5EFE9"/>
    <a:srgbClr val="FFFFFF"/>
    <a:srgbClr val="006DA7"/>
    <a:srgbClr val="103F7C"/>
    <a:srgbClr val="000000"/>
    <a:srgbClr val="2E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288D44-8111-45FC-9CA5-005E2963CEF0}" v="3" dt="2026-09-24T23:17:50.549"/>
    <p1510:client id="{EFAEBEA1-CE80-4756-ACF3-B164209B0570}" v="2" dt="2026-09-24T15:34:27.15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3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d Navara" userId="c24476df-5543-40c4-aff2-f9b37b4e2199" providerId="ADAL" clId="{DE4EBD87-7713-4937-BB2F-40F61ABFC847}"/>
    <pc:docChg chg="custSel addSld modSld sldOrd">
      <pc:chgData name="Reed Navara" userId="c24476df-5543-40c4-aff2-f9b37b4e2199" providerId="ADAL" clId="{DE4EBD87-7713-4937-BB2F-40F61ABFC847}" dt="2026-09-25T00:07:49.632" v="466" actId="1076"/>
      <pc:docMkLst>
        <pc:docMk/>
      </pc:docMkLst>
      <pc:sldChg chg="modSp mod">
        <pc:chgData name="Reed Navara" userId="c24476df-5543-40c4-aff2-f9b37b4e2199" providerId="ADAL" clId="{DE4EBD87-7713-4937-BB2F-40F61ABFC847}" dt="2026-09-24T15:13:37.621" v="9" actId="20577"/>
        <pc:sldMkLst>
          <pc:docMk/>
          <pc:sldMk cId="1423065503" sldId="268"/>
        </pc:sldMkLst>
        <pc:spChg chg="mod">
          <ac:chgData name="Reed Navara" userId="c24476df-5543-40c4-aff2-f9b37b4e2199" providerId="ADAL" clId="{DE4EBD87-7713-4937-BB2F-40F61ABFC847}" dt="2026-09-24T15:13:37.621" v="9" actId="20577"/>
          <ac:spMkLst>
            <pc:docMk/>
            <pc:sldMk cId="1423065503" sldId="268"/>
            <ac:spMk id="3" creationId="{E11F4AC8-907D-0D9B-3EC1-080B36B5BD90}"/>
          </ac:spMkLst>
        </pc:spChg>
      </pc:sldChg>
      <pc:sldChg chg="addSp delSp modSp mod ord">
        <pc:chgData name="Reed Navara" userId="c24476df-5543-40c4-aff2-f9b37b4e2199" providerId="ADAL" clId="{DE4EBD87-7713-4937-BB2F-40F61ABFC847}" dt="2026-09-25T00:07:49.632" v="466" actId="1076"/>
        <pc:sldMkLst>
          <pc:docMk/>
          <pc:sldMk cId="4080643058" sldId="305"/>
        </pc:sldMkLst>
        <pc:spChg chg="mod">
          <ac:chgData name="Reed Navara" userId="c24476df-5543-40c4-aff2-f9b37b4e2199" providerId="ADAL" clId="{DE4EBD87-7713-4937-BB2F-40F61ABFC847}" dt="2026-09-24T23:30:16.792" v="239" actId="20577"/>
          <ac:spMkLst>
            <pc:docMk/>
            <pc:sldMk cId="4080643058" sldId="305"/>
            <ac:spMk id="14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49:32.248" v="458" actId="20577"/>
          <ac:spMkLst>
            <pc:docMk/>
            <pc:sldMk cId="4080643058" sldId="305"/>
            <ac:spMk id="17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49:53.112" v="459" actId="478"/>
          <ac:spMkLst>
            <pc:docMk/>
            <pc:sldMk cId="4080643058" sldId="305"/>
            <ac:spMk id="19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5T00:07:39.040" v="464" actId="1076"/>
          <ac:spMkLst>
            <pc:docMk/>
            <pc:sldMk cId="4080643058" sldId="305"/>
            <ac:spMk id="20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5T00:07:43.953" v="465" actId="1076"/>
          <ac:spMkLst>
            <pc:docMk/>
            <pc:sldMk cId="4080643058" sldId="305"/>
            <ac:spMk id="21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5T00:07:49.632" v="466" actId="1076"/>
          <ac:spMkLst>
            <pc:docMk/>
            <pc:sldMk cId="4080643058" sldId="305"/>
            <ac:spMk id="22" creationId="{00000000-0000-0000-0000-000000000000}"/>
          </ac:spMkLst>
        </pc:spChg>
      </pc:sldChg>
      <pc:sldChg chg="addSp modSp">
        <pc:chgData name="Reed Navara" userId="c24476df-5543-40c4-aff2-f9b37b4e2199" providerId="ADAL" clId="{DE4EBD87-7713-4937-BB2F-40F61ABFC847}" dt="2026-09-21T17:48:56.572" v="7" actId="767"/>
        <pc:sldMkLst>
          <pc:docMk/>
          <pc:sldMk cId="2577594116" sldId="2147327721"/>
        </pc:sldMkLst>
      </pc:sldChg>
      <pc:sldChg chg="addSp modSp mod">
        <pc:chgData name="Reed Navara" userId="c24476df-5543-40c4-aff2-f9b37b4e2199" providerId="ADAL" clId="{DE4EBD87-7713-4937-BB2F-40F61ABFC847}" dt="2026-09-24T23:17:15.811" v="171" actId="1076"/>
        <pc:sldMkLst>
          <pc:docMk/>
          <pc:sldMk cId="832659428" sldId="2147327722"/>
        </pc:sldMkLst>
        <pc:spChg chg="add mod">
          <ac:chgData name="Reed Navara" userId="c24476df-5543-40c4-aff2-f9b37b4e2199" providerId="ADAL" clId="{DE4EBD87-7713-4937-BB2F-40F61ABFC847}" dt="2026-09-21T17:33:20.045" v="4" actId="767"/>
          <ac:spMkLst>
            <pc:docMk/>
            <pc:sldMk cId="832659428" sldId="2147327722"/>
            <ac:spMk id="2" creationId="{07614073-3D00-D5C1-B916-B7FA95B3EE55}"/>
          </ac:spMkLst>
        </pc:spChg>
        <pc:spChg chg="add mod">
          <ac:chgData name="Reed Navara" userId="c24476df-5543-40c4-aff2-f9b37b4e2199" providerId="ADAL" clId="{DE4EBD87-7713-4937-BB2F-40F61ABFC847}" dt="2026-09-24T23:17:15.811" v="171" actId="1076"/>
          <ac:spMkLst>
            <pc:docMk/>
            <pc:sldMk cId="832659428" sldId="2147327722"/>
            <ac:spMk id="3" creationId="{475E2A8C-B58E-4DCF-6869-25D6C75F772F}"/>
          </ac:spMkLst>
        </pc:spChg>
      </pc:sldChg>
      <pc:sldChg chg="addSp delSp modSp add mod ord modNotesTx">
        <pc:chgData name="Reed Navara" userId="c24476df-5543-40c4-aff2-f9b37b4e2199" providerId="ADAL" clId="{DE4EBD87-7713-4937-BB2F-40F61ABFC847}" dt="2026-09-24T23:29:27.208" v="227" actId="478"/>
        <pc:sldMkLst>
          <pc:docMk/>
          <pc:sldMk cId="0" sldId="2147327723"/>
        </pc:sldMkLst>
        <pc:spChg chg="mod">
          <ac:chgData name="Reed Navara" userId="c24476df-5543-40c4-aff2-f9b37b4e2199" providerId="ADAL" clId="{DE4EBD87-7713-4937-BB2F-40F61ABFC847}" dt="2026-09-24T23:15:29.177" v="101" actId="1076"/>
          <ac:spMkLst>
            <pc:docMk/>
            <pc:sldMk cId="0" sldId="2147327723"/>
            <ac:spMk id="2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14:41.055" v="97" actId="478"/>
          <ac:spMkLst>
            <pc:docMk/>
            <pc:sldMk cId="0" sldId="2147327723"/>
            <ac:spMk id="3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12.826" v="100" actId="1076"/>
          <ac:spMkLst>
            <pc:docMk/>
            <pc:sldMk cId="0" sldId="2147327723"/>
            <ac:spMk id="4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17:23.615" v="173" actId="478"/>
          <ac:spMkLst>
            <pc:docMk/>
            <pc:sldMk cId="0" sldId="2147327723"/>
            <ac:spMk id="902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3:46.838" v="70" actId="20577"/>
          <ac:spMkLst>
            <pc:docMk/>
            <pc:sldMk cId="0" sldId="2147327723"/>
            <ac:spMk id="903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4:06.118" v="80" actId="20577"/>
          <ac:spMkLst>
            <pc:docMk/>
            <pc:sldMk cId="0" sldId="2147327723"/>
            <ac:spMk id="906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29:15.986" v="225" actId="20577"/>
          <ac:spMkLst>
            <pc:docMk/>
            <pc:sldMk cId="0" sldId="2147327723"/>
            <ac:spMk id="910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4:14.703" v="81" actId="20577"/>
          <ac:spMkLst>
            <pc:docMk/>
            <pc:sldMk cId="0" sldId="2147327723"/>
            <ac:spMk id="911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4:27.610" v="94" actId="20577"/>
          <ac:spMkLst>
            <pc:docMk/>
            <pc:sldMk cId="0" sldId="2147327723"/>
            <ac:spMk id="915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29.177" v="101" actId="1076"/>
          <ac:spMkLst>
            <pc:docMk/>
            <pc:sldMk cId="0" sldId="2147327723"/>
            <ac:spMk id="916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29.177" v="101" actId="1076"/>
          <ac:spMkLst>
            <pc:docMk/>
            <pc:sldMk cId="0" sldId="2147327723"/>
            <ac:spMk id="917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29.177" v="101" actId="1076"/>
          <ac:spMkLst>
            <pc:docMk/>
            <pc:sldMk cId="0" sldId="2147327723"/>
            <ac:spMk id="918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14:37.130" v="95" actId="478"/>
          <ac:spMkLst>
            <pc:docMk/>
            <pc:sldMk cId="0" sldId="2147327723"/>
            <ac:spMk id="919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14:40.065" v="96" actId="478"/>
          <ac:spMkLst>
            <pc:docMk/>
            <pc:sldMk cId="0" sldId="2147327723"/>
            <ac:spMk id="920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14:55.180" v="99" actId="478"/>
          <ac:spMkLst>
            <pc:docMk/>
            <pc:sldMk cId="0" sldId="2147327723"/>
            <ac:spMk id="921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12.826" v="100" actId="1076"/>
          <ac:spMkLst>
            <pc:docMk/>
            <pc:sldMk cId="0" sldId="2147327723"/>
            <ac:spMk id="922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12.826" v="100" actId="1076"/>
          <ac:spMkLst>
            <pc:docMk/>
            <pc:sldMk cId="0" sldId="2147327723"/>
            <ac:spMk id="923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5:12.826" v="100" actId="1076"/>
          <ac:spMkLst>
            <pc:docMk/>
            <pc:sldMk cId="0" sldId="2147327723"/>
            <ac:spMk id="924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28:32.529" v="198" actId="20577"/>
          <ac:spMkLst>
            <pc:docMk/>
            <pc:sldMk cId="0" sldId="2147327723"/>
            <ac:spMk id="928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28:51.721" v="200" actId="478"/>
          <ac:spMkLst>
            <pc:docMk/>
            <pc:sldMk cId="0" sldId="2147327723"/>
            <ac:spMk id="932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9:27.208" v="227" actId="478"/>
          <ac:spMkLst>
            <pc:docMk/>
            <pc:sldMk cId="0" sldId="2147327723"/>
            <ac:spMk id="933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9:25.318" v="226" actId="478"/>
          <ac:spMkLst>
            <pc:docMk/>
            <pc:sldMk cId="0" sldId="2147327723"/>
            <ac:spMk id="934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8:55.539" v="201" actId="478"/>
          <ac:spMkLst>
            <pc:docMk/>
            <pc:sldMk cId="0" sldId="2147327723"/>
            <ac:spMk id="935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8:58.888" v="205" actId="478"/>
          <ac:spMkLst>
            <pc:docMk/>
            <pc:sldMk cId="0" sldId="2147327723"/>
            <ac:spMk id="936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8:55.539" v="201" actId="478"/>
          <ac:spMkLst>
            <pc:docMk/>
            <pc:sldMk cId="0" sldId="2147327723"/>
            <ac:spMk id="937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29:00.029" v="206" actId="478"/>
          <ac:spMkLst>
            <pc:docMk/>
            <pc:sldMk cId="0" sldId="2147327723"/>
            <ac:spMk id="938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23:28:55.539" v="201" actId="478"/>
          <ac:spMkLst>
            <pc:docMk/>
            <pc:sldMk cId="0" sldId="2147327723"/>
            <ac:spMk id="939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28:57.065" v="203" actId="478"/>
          <ac:spMkLst>
            <pc:docMk/>
            <pc:sldMk cId="0" sldId="2147327723"/>
            <ac:spMk id="940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15:41:40.284" v="68" actId="478"/>
          <ac:spMkLst>
            <pc:docMk/>
            <pc:sldMk cId="0" sldId="2147327723"/>
            <ac:spMk id="948" creationId="{00000000-0000-0000-0000-000000000000}"/>
          </ac:spMkLst>
        </pc:spChg>
        <pc:cxnChg chg="add mod">
          <ac:chgData name="Reed Navara" userId="c24476df-5543-40c4-aff2-f9b37b4e2199" providerId="ADAL" clId="{DE4EBD87-7713-4937-BB2F-40F61ABFC847}" dt="2026-09-24T23:15:39.985" v="103" actId="1076"/>
          <ac:cxnSpMkLst>
            <pc:docMk/>
            <pc:sldMk cId="0" sldId="2147327723"/>
            <ac:cxnSpMk id="6" creationId="{BEB60A8F-C93B-AC7B-D6D4-DCC85505D9A0}"/>
          </ac:cxnSpMkLst>
        </pc:cxnChg>
        <pc:cxnChg chg="add mod">
          <ac:chgData name="Reed Navara" userId="c24476df-5543-40c4-aff2-f9b37b4e2199" providerId="ADAL" clId="{DE4EBD87-7713-4937-BB2F-40F61ABFC847}" dt="2026-09-24T23:15:47.531" v="105" actId="1076"/>
          <ac:cxnSpMkLst>
            <pc:docMk/>
            <pc:sldMk cId="0" sldId="2147327723"/>
            <ac:cxnSpMk id="7" creationId="{2462D4BF-95F9-8B56-61ED-8C1DFDA4FC54}"/>
          </ac:cxnSpMkLst>
        </pc:cxnChg>
        <pc:cxnChg chg="mod">
          <ac:chgData name="Reed Navara" userId="c24476df-5543-40c4-aff2-f9b37b4e2199" providerId="ADAL" clId="{DE4EBD87-7713-4937-BB2F-40F61ABFC847}" dt="2026-09-24T23:29:05.016" v="207" actId="1076"/>
          <ac:cxnSpMkLst>
            <pc:docMk/>
            <pc:sldMk cId="0" sldId="2147327723"/>
            <ac:cxnSpMk id="912" creationId="{00000000-0000-0000-0000-000000000000}"/>
          </ac:cxnSpMkLst>
        </pc:cxnChg>
      </pc:sldChg>
      <pc:sldChg chg="delSp modSp add mod ord">
        <pc:chgData name="Reed Navara" userId="c24476df-5543-40c4-aff2-f9b37b4e2199" providerId="ADAL" clId="{DE4EBD87-7713-4937-BB2F-40F61ABFC847}" dt="2026-09-24T23:47:40.576" v="414" actId="20577"/>
        <pc:sldMkLst>
          <pc:docMk/>
          <pc:sldMk cId="0" sldId="2147327724"/>
        </pc:sldMkLst>
        <pc:spChg chg="mod">
          <ac:chgData name="Reed Navara" userId="c24476df-5543-40c4-aff2-f9b37b4e2199" providerId="ADAL" clId="{DE4EBD87-7713-4937-BB2F-40F61ABFC847}" dt="2026-09-24T15:35:50.223" v="59" actId="20577"/>
          <ac:spMkLst>
            <pc:docMk/>
            <pc:sldMk cId="0" sldId="2147327724"/>
            <ac:spMk id="2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15:35:57.631" v="61" actId="478"/>
          <ac:spMkLst>
            <pc:docMk/>
            <pc:sldMk cId="0" sldId="2147327724"/>
            <ac:spMk id="901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46:30.121" v="367" actId="20577"/>
          <ac:spMkLst>
            <pc:docMk/>
            <pc:sldMk cId="0" sldId="2147327724"/>
            <ac:spMk id="902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46:40.616" v="373" actId="20577"/>
          <ac:spMkLst>
            <pc:docMk/>
            <pc:sldMk cId="0" sldId="2147327724"/>
            <ac:spMk id="908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15:36:10.817" v="63" actId="14100"/>
          <ac:spMkLst>
            <pc:docMk/>
            <pc:sldMk cId="0" sldId="2147327724"/>
            <ac:spMk id="911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7:03.568" v="168" actId="20577"/>
          <ac:spMkLst>
            <pc:docMk/>
            <pc:sldMk cId="0" sldId="2147327724"/>
            <ac:spMk id="916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7:00.333" v="166" actId="20577"/>
          <ac:spMkLst>
            <pc:docMk/>
            <pc:sldMk cId="0" sldId="2147327724"/>
            <ac:spMk id="917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7:07.239" v="170" actId="20577"/>
          <ac:spMkLst>
            <pc:docMk/>
            <pc:sldMk cId="0" sldId="2147327724"/>
            <ac:spMk id="918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6:37.639" v="133" actId="20577"/>
          <ac:spMkLst>
            <pc:docMk/>
            <pc:sldMk cId="0" sldId="2147327724"/>
            <ac:spMk id="919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16:51.954" v="164" actId="20577"/>
          <ac:spMkLst>
            <pc:docMk/>
            <pc:sldMk cId="0" sldId="2147327724"/>
            <ac:spMk id="921" creationId="{00000000-0000-0000-0000-000000000000}"/>
          </ac:spMkLst>
        </pc:spChg>
        <pc:spChg chg="del mod">
          <ac:chgData name="Reed Navara" userId="c24476df-5543-40c4-aff2-f9b37b4e2199" providerId="ADAL" clId="{DE4EBD87-7713-4937-BB2F-40F61ABFC847}" dt="2026-09-24T23:44:33.729" v="278" actId="20577"/>
          <ac:spMkLst>
            <pc:docMk/>
            <pc:sldMk cId="0" sldId="2147327724"/>
            <ac:spMk id="924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44:45.716" v="306" actId="20577"/>
          <ac:spMkLst>
            <pc:docMk/>
            <pc:sldMk cId="0" sldId="2147327724"/>
            <ac:spMk id="926" creationId="{00000000-0000-0000-0000-000000000000}"/>
          </ac:spMkLst>
        </pc:spChg>
        <pc:spChg chg="mod">
          <ac:chgData name="Reed Navara" userId="c24476df-5543-40c4-aff2-f9b37b4e2199" providerId="ADAL" clId="{DE4EBD87-7713-4937-BB2F-40F61ABFC847}" dt="2026-09-24T23:47:40.576" v="414" actId="20577"/>
          <ac:spMkLst>
            <pc:docMk/>
            <pc:sldMk cId="0" sldId="2147327724"/>
            <ac:spMk id="928" creationId="{00000000-0000-0000-0000-000000000000}"/>
          </ac:spMkLst>
        </pc:spChg>
        <pc:spChg chg="del">
          <ac:chgData name="Reed Navara" userId="c24476df-5543-40c4-aff2-f9b37b4e2199" providerId="ADAL" clId="{DE4EBD87-7713-4937-BB2F-40F61ABFC847}" dt="2026-09-24T15:36:01.676" v="62" actId="478"/>
          <ac:spMkLst>
            <pc:docMk/>
            <pc:sldMk cId="0" sldId="2147327724"/>
            <ac:spMk id="93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D3FFB-ECF6-4148-B895-0C2C3FEFEFB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6CCB5-C92D-914A-9E84-276068BE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77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–Blue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45294" y="4283075"/>
            <a:ext cx="11593156" cy="311846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1000"/>
              </a:lnSpc>
              <a:defRPr sz="11000" b="0" i="0">
                <a:solidFill>
                  <a:schemeClr val="bg1"/>
                </a:solidFill>
                <a:latin typeface="Delight Medium" pitchFamily="2" charset="77"/>
                <a:cs typeface="Delight Medium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281A33B-1B20-5C81-E2D2-260E685F51E0}"/>
              </a:ext>
            </a:extLst>
          </p:cNvPr>
          <p:cNvSpPr txBox="1"/>
          <p:nvPr userDrawn="1"/>
        </p:nvSpPr>
        <p:spPr>
          <a:xfrm>
            <a:off x="744693" y="676911"/>
            <a:ext cx="1344295" cy="190437"/>
          </a:xfrm>
          <a:prstGeom prst="rect">
            <a:avLst/>
          </a:prstGeom>
        </p:spPr>
        <p:txBody>
          <a:bodyPr vert="horz" wrap="non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i="0" spc="1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ORIGIN</a:t>
            </a:r>
            <a:r>
              <a:rPr sz="1150" b="1" i="0" spc="3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1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UTILIT</a:t>
            </a:r>
            <a:r>
              <a:rPr sz="1150" b="1" i="0" spc="-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-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Y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81AB839-9041-55C6-23FC-846A3E706A5D}"/>
              </a:ext>
            </a:extLst>
          </p:cNvPr>
          <p:cNvSpPr/>
          <p:nvPr userDrawn="1"/>
        </p:nvSpPr>
        <p:spPr>
          <a:xfrm>
            <a:off x="18324083" y="669925"/>
            <a:ext cx="1057910" cy="488950"/>
          </a:xfrm>
          <a:custGeom>
            <a:avLst/>
            <a:gdLst/>
            <a:ahLst/>
            <a:cxnLst/>
            <a:rect l="l" t="t" r="r" b="b"/>
            <a:pathLst>
              <a:path w="1057909" h="488950">
                <a:moveTo>
                  <a:pt x="984075" y="396998"/>
                </a:moveTo>
                <a:lnTo>
                  <a:pt x="274456" y="396998"/>
                </a:lnTo>
                <a:lnTo>
                  <a:pt x="282011" y="397483"/>
                </a:lnTo>
                <a:lnTo>
                  <a:pt x="289417" y="399428"/>
                </a:lnTo>
                <a:lnTo>
                  <a:pt x="339308" y="416752"/>
                </a:lnTo>
                <a:lnTo>
                  <a:pt x="416480" y="440139"/>
                </a:lnTo>
                <a:lnTo>
                  <a:pt x="462744" y="452293"/>
                </a:lnTo>
                <a:lnTo>
                  <a:pt x="512767" y="463786"/>
                </a:lnTo>
                <a:lnTo>
                  <a:pt x="565526" y="473895"/>
                </a:lnTo>
                <a:lnTo>
                  <a:pt x="620002" y="481893"/>
                </a:lnTo>
                <a:lnTo>
                  <a:pt x="675173" y="487055"/>
                </a:lnTo>
                <a:lnTo>
                  <a:pt x="730019" y="488656"/>
                </a:lnTo>
                <a:lnTo>
                  <a:pt x="783518" y="485971"/>
                </a:lnTo>
                <a:lnTo>
                  <a:pt x="834651" y="478275"/>
                </a:lnTo>
                <a:lnTo>
                  <a:pt x="882395" y="464842"/>
                </a:lnTo>
                <a:lnTo>
                  <a:pt x="925731" y="444948"/>
                </a:lnTo>
                <a:lnTo>
                  <a:pt x="963637" y="417867"/>
                </a:lnTo>
                <a:lnTo>
                  <a:pt x="984075" y="396998"/>
                </a:lnTo>
                <a:close/>
              </a:path>
              <a:path w="1057909" h="488950">
                <a:moveTo>
                  <a:pt x="327476" y="0"/>
                </a:moveTo>
                <a:lnTo>
                  <a:pt x="273977" y="2684"/>
                </a:lnTo>
                <a:lnTo>
                  <a:pt x="222845" y="10380"/>
                </a:lnTo>
                <a:lnTo>
                  <a:pt x="175102" y="23813"/>
                </a:lnTo>
                <a:lnTo>
                  <a:pt x="131767" y="43707"/>
                </a:lnTo>
                <a:lnTo>
                  <a:pt x="93863" y="70789"/>
                </a:lnTo>
                <a:lnTo>
                  <a:pt x="51623" y="113915"/>
                </a:lnTo>
                <a:lnTo>
                  <a:pt x="22677" y="156023"/>
                </a:lnTo>
                <a:lnTo>
                  <a:pt x="5858" y="197339"/>
                </a:lnTo>
                <a:lnTo>
                  <a:pt x="0" y="238092"/>
                </a:lnTo>
                <a:lnTo>
                  <a:pt x="3935" y="278510"/>
                </a:lnTo>
                <a:lnTo>
                  <a:pt x="16498" y="318820"/>
                </a:lnTo>
                <a:lnTo>
                  <a:pt x="36521" y="359250"/>
                </a:lnTo>
                <a:lnTo>
                  <a:pt x="62838" y="400029"/>
                </a:lnTo>
                <a:lnTo>
                  <a:pt x="94282" y="441385"/>
                </a:lnTo>
                <a:lnTo>
                  <a:pt x="128614" y="456080"/>
                </a:lnTo>
                <a:lnTo>
                  <a:pt x="141306" y="452829"/>
                </a:lnTo>
                <a:lnTo>
                  <a:pt x="259690" y="400381"/>
                </a:lnTo>
                <a:lnTo>
                  <a:pt x="266949" y="397967"/>
                </a:lnTo>
                <a:lnTo>
                  <a:pt x="274456" y="396998"/>
                </a:lnTo>
                <a:lnTo>
                  <a:pt x="984075" y="396998"/>
                </a:lnTo>
                <a:lnTo>
                  <a:pt x="987902" y="393091"/>
                </a:lnTo>
                <a:lnTo>
                  <a:pt x="853329" y="393091"/>
                </a:lnTo>
                <a:lnTo>
                  <a:pt x="804263" y="389851"/>
                </a:lnTo>
                <a:lnTo>
                  <a:pt x="749241" y="381272"/>
                </a:lnTo>
                <a:lnTo>
                  <a:pt x="698489" y="370377"/>
                </a:lnTo>
                <a:lnTo>
                  <a:pt x="282074" y="370377"/>
                </a:lnTo>
                <a:lnTo>
                  <a:pt x="165975" y="266089"/>
                </a:lnTo>
                <a:lnTo>
                  <a:pt x="135315" y="228263"/>
                </a:lnTo>
                <a:lnTo>
                  <a:pt x="114544" y="194584"/>
                </a:lnTo>
                <a:lnTo>
                  <a:pt x="106070" y="164302"/>
                </a:lnTo>
                <a:lnTo>
                  <a:pt x="112303" y="136665"/>
                </a:lnTo>
                <a:lnTo>
                  <a:pt x="135652" y="110923"/>
                </a:lnTo>
                <a:lnTo>
                  <a:pt x="163993" y="99116"/>
                </a:lnTo>
                <a:lnTo>
                  <a:pt x="204165" y="95560"/>
                </a:lnTo>
                <a:lnTo>
                  <a:pt x="999134" y="95560"/>
                </a:lnTo>
                <a:lnTo>
                  <a:pt x="996615" y="91657"/>
                </a:lnTo>
                <a:lnTo>
                  <a:pt x="783036" y="91657"/>
                </a:lnTo>
                <a:lnTo>
                  <a:pt x="775479" y="91173"/>
                </a:lnTo>
                <a:lnTo>
                  <a:pt x="768073" y="89228"/>
                </a:lnTo>
                <a:lnTo>
                  <a:pt x="747050" y="81686"/>
                </a:lnTo>
                <a:lnTo>
                  <a:pt x="718185" y="71903"/>
                </a:lnTo>
                <a:lnTo>
                  <a:pt x="641015" y="48516"/>
                </a:lnTo>
                <a:lnTo>
                  <a:pt x="594750" y="36363"/>
                </a:lnTo>
                <a:lnTo>
                  <a:pt x="544728" y="24869"/>
                </a:lnTo>
                <a:lnTo>
                  <a:pt x="491969" y="14761"/>
                </a:lnTo>
                <a:lnTo>
                  <a:pt x="437493" y="6763"/>
                </a:lnTo>
                <a:lnTo>
                  <a:pt x="382322" y="1601"/>
                </a:lnTo>
                <a:lnTo>
                  <a:pt x="327476" y="0"/>
                </a:lnTo>
                <a:close/>
              </a:path>
              <a:path w="1057909" h="488950">
                <a:moveTo>
                  <a:pt x="1013794" y="118278"/>
                </a:moveTo>
                <a:lnTo>
                  <a:pt x="775415" y="118278"/>
                </a:lnTo>
                <a:lnTo>
                  <a:pt x="788148" y="118739"/>
                </a:lnTo>
                <a:lnTo>
                  <a:pt x="800076" y="123202"/>
                </a:lnTo>
                <a:lnTo>
                  <a:pt x="891522" y="222562"/>
                </a:lnTo>
                <a:lnTo>
                  <a:pt x="922183" y="260388"/>
                </a:lnTo>
                <a:lnTo>
                  <a:pt x="942954" y="294068"/>
                </a:lnTo>
                <a:lnTo>
                  <a:pt x="951426" y="324352"/>
                </a:lnTo>
                <a:lnTo>
                  <a:pt x="945190" y="351990"/>
                </a:lnTo>
                <a:lnTo>
                  <a:pt x="921838" y="377732"/>
                </a:lnTo>
                <a:lnTo>
                  <a:pt x="893500" y="389537"/>
                </a:lnTo>
                <a:lnTo>
                  <a:pt x="853329" y="393091"/>
                </a:lnTo>
                <a:lnTo>
                  <a:pt x="987902" y="393091"/>
                </a:lnTo>
                <a:lnTo>
                  <a:pt x="1005874" y="374740"/>
                </a:lnTo>
                <a:lnTo>
                  <a:pt x="1034818" y="332632"/>
                </a:lnTo>
                <a:lnTo>
                  <a:pt x="1051636" y="291316"/>
                </a:lnTo>
                <a:lnTo>
                  <a:pt x="1057493" y="250563"/>
                </a:lnTo>
                <a:lnTo>
                  <a:pt x="1053557" y="210146"/>
                </a:lnTo>
                <a:lnTo>
                  <a:pt x="1040996" y="169836"/>
                </a:lnTo>
                <a:lnTo>
                  <a:pt x="1020974" y="129405"/>
                </a:lnTo>
                <a:lnTo>
                  <a:pt x="1013794" y="118278"/>
                </a:lnTo>
                <a:close/>
              </a:path>
              <a:path w="1057909" h="488950">
                <a:moveTo>
                  <a:pt x="443085" y="297108"/>
                </a:moveTo>
                <a:lnTo>
                  <a:pt x="435384" y="298345"/>
                </a:lnTo>
                <a:lnTo>
                  <a:pt x="427989" y="301106"/>
                </a:lnTo>
                <a:lnTo>
                  <a:pt x="294579" y="366633"/>
                </a:lnTo>
                <a:lnTo>
                  <a:pt x="282074" y="370377"/>
                </a:lnTo>
                <a:lnTo>
                  <a:pt x="698489" y="370377"/>
                </a:lnTo>
                <a:lnTo>
                  <a:pt x="691199" y="368812"/>
                </a:lnTo>
                <a:lnTo>
                  <a:pt x="633077" y="353928"/>
                </a:lnTo>
                <a:lnTo>
                  <a:pt x="577813" y="338075"/>
                </a:lnTo>
                <a:lnTo>
                  <a:pt x="528343" y="322710"/>
                </a:lnTo>
                <a:lnTo>
                  <a:pt x="487607" y="309291"/>
                </a:lnTo>
                <a:lnTo>
                  <a:pt x="458543" y="299274"/>
                </a:lnTo>
                <a:lnTo>
                  <a:pt x="450877" y="297412"/>
                </a:lnTo>
                <a:lnTo>
                  <a:pt x="443085" y="297108"/>
                </a:lnTo>
                <a:close/>
              </a:path>
              <a:path w="1057909" h="488950">
                <a:moveTo>
                  <a:pt x="999134" y="95560"/>
                </a:moveTo>
                <a:lnTo>
                  <a:pt x="204165" y="95560"/>
                </a:lnTo>
                <a:lnTo>
                  <a:pt x="253231" y="98800"/>
                </a:lnTo>
                <a:lnTo>
                  <a:pt x="308254" y="107379"/>
                </a:lnTo>
                <a:lnTo>
                  <a:pt x="366294" y="119839"/>
                </a:lnTo>
                <a:lnTo>
                  <a:pt x="424415" y="134725"/>
                </a:lnTo>
                <a:lnTo>
                  <a:pt x="479679" y="150579"/>
                </a:lnTo>
                <a:lnTo>
                  <a:pt x="529147" y="165944"/>
                </a:lnTo>
                <a:lnTo>
                  <a:pt x="569883" y="179364"/>
                </a:lnTo>
                <a:lnTo>
                  <a:pt x="598947" y="189382"/>
                </a:lnTo>
                <a:lnTo>
                  <a:pt x="606619" y="191244"/>
                </a:lnTo>
                <a:lnTo>
                  <a:pt x="614412" y="191547"/>
                </a:lnTo>
                <a:lnTo>
                  <a:pt x="622112" y="190306"/>
                </a:lnTo>
                <a:lnTo>
                  <a:pt x="629501" y="187539"/>
                </a:lnTo>
                <a:lnTo>
                  <a:pt x="762911" y="122023"/>
                </a:lnTo>
                <a:lnTo>
                  <a:pt x="775415" y="118278"/>
                </a:lnTo>
                <a:lnTo>
                  <a:pt x="1013794" y="118278"/>
                </a:lnTo>
                <a:lnTo>
                  <a:pt x="999134" y="95560"/>
                </a:lnTo>
                <a:close/>
              </a:path>
              <a:path w="1057909" h="488950">
                <a:moveTo>
                  <a:pt x="928878" y="32576"/>
                </a:moveTo>
                <a:lnTo>
                  <a:pt x="916183" y="35826"/>
                </a:lnTo>
                <a:lnTo>
                  <a:pt x="797810" y="88275"/>
                </a:lnTo>
                <a:lnTo>
                  <a:pt x="790546" y="90688"/>
                </a:lnTo>
                <a:lnTo>
                  <a:pt x="783036" y="91657"/>
                </a:lnTo>
                <a:lnTo>
                  <a:pt x="996615" y="91657"/>
                </a:lnTo>
                <a:lnTo>
                  <a:pt x="994659" y="88626"/>
                </a:lnTo>
                <a:lnTo>
                  <a:pt x="963219" y="47271"/>
                </a:lnTo>
                <a:lnTo>
                  <a:pt x="953422" y="38553"/>
                </a:lnTo>
                <a:lnTo>
                  <a:pt x="941633" y="33570"/>
                </a:lnTo>
                <a:lnTo>
                  <a:pt x="928878" y="32576"/>
                </a:lnTo>
                <a:close/>
              </a:path>
            </a:pathLst>
          </a:custGeom>
          <a:solidFill>
            <a:srgbClr val="F5EFE8"/>
          </a:solidFill>
        </p:spPr>
        <p:txBody>
          <a:bodyPr wrap="square" lIns="0" tIns="0" rIns="0" bIns="0" rtlCol="0"/>
          <a:lstStyle/>
          <a:p>
            <a:endParaRPr b="1" i="0">
              <a:latin typeface="Delight Semi Bold" pitchFamily="2" charset="7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1789" y="1291981"/>
            <a:ext cx="11593156" cy="150519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1000"/>
              </a:lnSpc>
              <a:defRPr sz="8000" b="0" i="0">
                <a:solidFill>
                  <a:schemeClr val="bg1"/>
                </a:solidFill>
                <a:latin typeface="Delight Medium" pitchFamily="2" charset="77"/>
                <a:cs typeface="Delight Medium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D0D04F6-CE8F-4B3D-254C-16C3EA7CEFE5}"/>
              </a:ext>
            </a:extLst>
          </p:cNvPr>
          <p:cNvSpPr txBox="1"/>
          <p:nvPr userDrawn="1"/>
        </p:nvSpPr>
        <p:spPr>
          <a:xfrm>
            <a:off x="709791" y="10379138"/>
            <a:ext cx="823594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50" b="1" i="0" spc="10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AGENDA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281A33B-1B20-5C81-E2D2-260E685F51E0}"/>
              </a:ext>
            </a:extLst>
          </p:cNvPr>
          <p:cNvSpPr txBox="1"/>
          <p:nvPr userDrawn="1"/>
        </p:nvSpPr>
        <p:spPr>
          <a:xfrm>
            <a:off x="744693" y="676911"/>
            <a:ext cx="1344295" cy="190437"/>
          </a:xfrm>
          <a:prstGeom prst="rect">
            <a:avLst/>
          </a:prstGeom>
        </p:spPr>
        <p:txBody>
          <a:bodyPr vert="horz" wrap="non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i="0" spc="1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ORIGIN</a:t>
            </a:r>
            <a:r>
              <a:rPr sz="1150" b="1" i="0" spc="3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1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UTILIT</a:t>
            </a:r>
            <a:r>
              <a:rPr sz="1150" b="1" i="0" spc="-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-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Y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83AC1B9-1309-ED25-3E3B-C1B0AAD47B71}"/>
              </a:ext>
            </a:extLst>
          </p:cNvPr>
          <p:cNvSpPr txBox="1"/>
          <p:nvPr userDrawn="1"/>
        </p:nvSpPr>
        <p:spPr>
          <a:xfrm>
            <a:off x="3945294" y="676911"/>
            <a:ext cx="366395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i="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P</a:t>
            </a:r>
            <a:r>
              <a:rPr sz="1150" b="1" i="0" spc="-5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PT 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CDC16121-AF0E-C344-65B6-08416D0DF56E}"/>
              </a:ext>
            </a:extLst>
          </p:cNvPr>
          <p:cNvSpPr txBox="1"/>
          <p:nvPr userDrawn="1"/>
        </p:nvSpPr>
        <p:spPr>
          <a:xfrm>
            <a:off x="17337453" y="10379138"/>
            <a:ext cx="2077720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5"/>
              </a:spcBef>
            </a:pPr>
            <a:r>
              <a:rPr sz="1150" b="1" i="0" spc="13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DEVELOPED</a:t>
            </a:r>
            <a:r>
              <a:rPr sz="1150" b="1" i="0" spc="31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5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BY</a:t>
            </a:r>
            <a:r>
              <a:rPr sz="1150" b="1" i="0" spc="33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 </a:t>
            </a:r>
            <a:r>
              <a:rPr sz="1150" b="1" i="0" spc="105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END</a:t>
            </a:r>
            <a:r>
              <a:rPr sz="1150" b="1" i="0" spc="80">
                <a:solidFill>
                  <a:srgbClr val="F5EFE8"/>
                </a:solidFill>
                <a:latin typeface="Delight Semi Bold" pitchFamily="2" charset="77"/>
                <a:cs typeface="Delight-SemiBold"/>
              </a:rPr>
              <a:t>URE </a:t>
            </a:r>
            <a:endParaRPr sz="1150" b="1" i="0">
              <a:latin typeface="Delight Semi Bold" pitchFamily="2" charset="77"/>
              <a:cs typeface="Delight-SemiBold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81AB839-9041-55C6-23FC-846A3E706A5D}"/>
              </a:ext>
            </a:extLst>
          </p:cNvPr>
          <p:cNvSpPr/>
          <p:nvPr userDrawn="1"/>
        </p:nvSpPr>
        <p:spPr>
          <a:xfrm>
            <a:off x="18324083" y="669925"/>
            <a:ext cx="1057910" cy="488950"/>
          </a:xfrm>
          <a:custGeom>
            <a:avLst/>
            <a:gdLst/>
            <a:ahLst/>
            <a:cxnLst/>
            <a:rect l="l" t="t" r="r" b="b"/>
            <a:pathLst>
              <a:path w="1057909" h="488950">
                <a:moveTo>
                  <a:pt x="984075" y="396998"/>
                </a:moveTo>
                <a:lnTo>
                  <a:pt x="274456" y="396998"/>
                </a:lnTo>
                <a:lnTo>
                  <a:pt x="282011" y="397483"/>
                </a:lnTo>
                <a:lnTo>
                  <a:pt x="289417" y="399428"/>
                </a:lnTo>
                <a:lnTo>
                  <a:pt x="339308" y="416752"/>
                </a:lnTo>
                <a:lnTo>
                  <a:pt x="416480" y="440139"/>
                </a:lnTo>
                <a:lnTo>
                  <a:pt x="462744" y="452293"/>
                </a:lnTo>
                <a:lnTo>
                  <a:pt x="512767" y="463786"/>
                </a:lnTo>
                <a:lnTo>
                  <a:pt x="565526" y="473895"/>
                </a:lnTo>
                <a:lnTo>
                  <a:pt x="620002" y="481893"/>
                </a:lnTo>
                <a:lnTo>
                  <a:pt x="675173" y="487055"/>
                </a:lnTo>
                <a:lnTo>
                  <a:pt x="730019" y="488656"/>
                </a:lnTo>
                <a:lnTo>
                  <a:pt x="783518" y="485971"/>
                </a:lnTo>
                <a:lnTo>
                  <a:pt x="834651" y="478275"/>
                </a:lnTo>
                <a:lnTo>
                  <a:pt x="882395" y="464842"/>
                </a:lnTo>
                <a:lnTo>
                  <a:pt x="925731" y="444948"/>
                </a:lnTo>
                <a:lnTo>
                  <a:pt x="963637" y="417867"/>
                </a:lnTo>
                <a:lnTo>
                  <a:pt x="984075" y="396998"/>
                </a:lnTo>
                <a:close/>
              </a:path>
              <a:path w="1057909" h="488950">
                <a:moveTo>
                  <a:pt x="327476" y="0"/>
                </a:moveTo>
                <a:lnTo>
                  <a:pt x="273977" y="2684"/>
                </a:lnTo>
                <a:lnTo>
                  <a:pt x="222845" y="10380"/>
                </a:lnTo>
                <a:lnTo>
                  <a:pt x="175102" y="23813"/>
                </a:lnTo>
                <a:lnTo>
                  <a:pt x="131767" y="43707"/>
                </a:lnTo>
                <a:lnTo>
                  <a:pt x="93863" y="70789"/>
                </a:lnTo>
                <a:lnTo>
                  <a:pt x="51623" y="113915"/>
                </a:lnTo>
                <a:lnTo>
                  <a:pt x="22677" y="156023"/>
                </a:lnTo>
                <a:lnTo>
                  <a:pt x="5858" y="197339"/>
                </a:lnTo>
                <a:lnTo>
                  <a:pt x="0" y="238092"/>
                </a:lnTo>
                <a:lnTo>
                  <a:pt x="3935" y="278510"/>
                </a:lnTo>
                <a:lnTo>
                  <a:pt x="16498" y="318820"/>
                </a:lnTo>
                <a:lnTo>
                  <a:pt x="36521" y="359250"/>
                </a:lnTo>
                <a:lnTo>
                  <a:pt x="62838" y="400029"/>
                </a:lnTo>
                <a:lnTo>
                  <a:pt x="94282" y="441385"/>
                </a:lnTo>
                <a:lnTo>
                  <a:pt x="128614" y="456080"/>
                </a:lnTo>
                <a:lnTo>
                  <a:pt x="141306" y="452829"/>
                </a:lnTo>
                <a:lnTo>
                  <a:pt x="259690" y="400381"/>
                </a:lnTo>
                <a:lnTo>
                  <a:pt x="266949" y="397967"/>
                </a:lnTo>
                <a:lnTo>
                  <a:pt x="274456" y="396998"/>
                </a:lnTo>
                <a:lnTo>
                  <a:pt x="984075" y="396998"/>
                </a:lnTo>
                <a:lnTo>
                  <a:pt x="987902" y="393091"/>
                </a:lnTo>
                <a:lnTo>
                  <a:pt x="853329" y="393091"/>
                </a:lnTo>
                <a:lnTo>
                  <a:pt x="804263" y="389851"/>
                </a:lnTo>
                <a:lnTo>
                  <a:pt x="749241" y="381272"/>
                </a:lnTo>
                <a:lnTo>
                  <a:pt x="698489" y="370377"/>
                </a:lnTo>
                <a:lnTo>
                  <a:pt x="282074" y="370377"/>
                </a:lnTo>
                <a:lnTo>
                  <a:pt x="165975" y="266089"/>
                </a:lnTo>
                <a:lnTo>
                  <a:pt x="135315" y="228263"/>
                </a:lnTo>
                <a:lnTo>
                  <a:pt x="114544" y="194584"/>
                </a:lnTo>
                <a:lnTo>
                  <a:pt x="106070" y="164302"/>
                </a:lnTo>
                <a:lnTo>
                  <a:pt x="112303" y="136665"/>
                </a:lnTo>
                <a:lnTo>
                  <a:pt x="135652" y="110923"/>
                </a:lnTo>
                <a:lnTo>
                  <a:pt x="163993" y="99116"/>
                </a:lnTo>
                <a:lnTo>
                  <a:pt x="204165" y="95560"/>
                </a:lnTo>
                <a:lnTo>
                  <a:pt x="999134" y="95560"/>
                </a:lnTo>
                <a:lnTo>
                  <a:pt x="996615" y="91657"/>
                </a:lnTo>
                <a:lnTo>
                  <a:pt x="783036" y="91657"/>
                </a:lnTo>
                <a:lnTo>
                  <a:pt x="775479" y="91173"/>
                </a:lnTo>
                <a:lnTo>
                  <a:pt x="768073" y="89228"/>
                </a:lnTo>
                <a:lnTo>
                  <a:pt x="747050" y="81686"/>
                </a:lnTo>
                <a:lnTo>
                  <a:pt x="718185" y="71903"/>
                </a:lnTo>
                <a:lnTo>
                  <a:pt x="641015" y="48516"/>
                </a:lnTo>
                <a:lnTo>
                  <a:pt x="594750" y="36363"/>
                </a:lnTo>
                <a:lnTo>
                  <a:pt x="544728" y="24869"/>
                </a:lnTo>
                <a:lnTo>
                  <a:pt x="491969" y="14761"/>
                </a:lnTo>
                <a:lnTo>
                  <a:pt x="437493" y="6763"/>
                </a:lnTo>
                <a:lnTo>
                  <a:pt x="382322" y="1601"/>
                </a:lnTo>
                <a:lnTo>
                  <a:pt x="327476" y="0"/>
                </a:lnTo>
                <a:close/>
              </a:path>
              <a:path w="1057909" h="488950">
                <a:moveTo>
                  <a:pt x="1013794" y="118278"/>
                </a:moveTo>
                <a:lnTo>
                  <a:pt x="775415" y="118278"/>
                </a:lnTo>
                <a:lnTo>
                  <a:pt x="788148" y="118739"/>
                </a:lnTo>
                <a:lnTo>
                  <a:pt x="800076" y="123202"/>
                </a:lnTo>
                <a:lnTo>
                  <a:pt x="891522" y="222562"/>
                </a:lnTo>
                <a:lnTo>
                  <a:pt x="922183" y="260388"/>
                </a:lnTo>
                <a:lnTo>
                  <a:pt x="942954" y="294068"/>
                </a:lnTo>
                <a:lnTo>
                  <a:pt x="951426" y="324352"/>
                </a:lnTo>
                <a:lnTo>
                  <a:pt x="945190" y="351990"/>
                </a:lnTo>
                <a:lnTo>
                  <a:pt x="921838" y="377732"/>
                </a:lnTo>
                <a:lnTo>
                  <a:pt x="893500" y="389537"/>
                </a:lnTo>
                <a:lnTo>
                  <a:pt x="853329" y="393091"/>
                </a:lnTo>
                <a:lnTo>
                  <a:pt x="987902" y="393091"/>
                </a:lnTo>
                <a:lnTo>
                  <a:pt x="1005874" y="374740"/>
                </a:lnTo>
                <a:lnTo>
                  <a:pt x="1034818" y="332632"/>
                </a:lnTo>
                <a:lnTo>
                  <a:pt x="1051636" y="291316"/>
                </a:lnTo>
                <a:lnTo>
                  <a:pt x="1057493" y="250563"/>
                </a:lnTo>
                <a:lnTo>
                  <a:pt x="1053557" y="210146"/>
                </a:lnTo>
                <a:lnTo>
                  <a:pt x="1040996" y="169836"/>
                </a:lnTo>
                <a:lnTo>
                  <a:pt x="1020974" y="129405"/>
                </a:lnTo>
                <a:lnTo>
                  <a:pt x="1013794" y="118278"/>
                </a:lnTo>
                <a:close/>
              </a:path>
              <a:path w="1057909" h="488950">
                <a:moveTo>
                  <a:pt x="443085" y="297108"/>
                </a:moveTo>
                <a:lnTo>
                  <a:pt x="435384" y="298345"/>
                </a:lnTo>
                <a:lnTo>
                  <a:pt x="427989" y="301106"/>
                </a:lnTo>
                <a:lnTo>
                  <a:pt x="294579" y="366633"/>
                </a:lnTo>
                <a:lnTo>
                  <a:pt x="282074" y="370377"/>
                </a:lnTo>
                <a:lnTo>
                  <a:pt x="698489" y="370377"/>
                </a:lnTo>
                <a:lnTo>
                  <a:pt x="691199" y="368812"/>
                </a:lnTo>
                <a:lnTo>
                  <a:pt x="633077" y="353928"/>
                </a:lnTo>
                <a:lnTo>
                  <a:pt x="577813" y="338075"/>
                </a:lnTo>
                <a:lnTo>
                  <a:pt x="528343" y="322710"/>
                </a:lnTo>
                <a:lnTo>
                  <a:pt x="487607" y="309291"/>
                </a:lnTo>
                <a:lnTo>
                  <a:pt x="458543" y="299274"/>
                </a:lnTo>
                <a:lnTo>
                  <a:pt x="450877" y="297412"/>
                </a:lnTo>
                <a:lnTo>
                  <a:pt x="443085" y="297108"/>
                </a:lnTo>
                <a:close/>
              </a:path>
              <a:path w="1057909" h="488950">
                <a:moveTo>
                  <a:pt x="999134" y="95560"/>
                </a:moveTo>
                <a:lnTo>
                  <a:pt x="204165" y="95560"/>
                </a:lnTo>
                <a:lnTo>
                  <a:pt x="253231" y="98800"/>
                </a:lnTo>
                <a:lnTo>
                  <a:pt x="308254" y="107379"/>
                </a:lnTo>
                <a:lnTo>
                  <a:pt x="366294" y="119839"/>
                </a:lnTo>
                <a:lnTo>
                  <a:pt x="424415" y="134725"/>
                </a:lnTo>
                <a:lnTo>
                  <a:pt x="479679" y="150579"/>
                </a:lnTo>
                <a:lnTo>
                  <a:pt x="529147" y="165944"/>
                </a:lnTo>
                <a:lnTo>
                  <a:pt x="569883" y="179364"/>
                </a:lnTo>
                <a:lnTo>
                  <a:pt x="598947" y="189382"/>
                </a:lnTo>
                <a:lnTo>
                  <a:pt x="606619" y="191244"/>
                </a:lnTo>
                <a:lnTo>
                  <a:pt x="614412" y="191547"/>
                </a:lnTo>
                <a:lnTo>
                  <a:pt x="622112" y="190306"/>
                </a:lnTo>
                <a:lnTo>
                  <a:pt x="629501" y="187539"/>
                </a:lnTo>
                <a:lnTo>
                  <a:pt x="762911" y="122023"/>
                </a:lnTo>
                <a:lnTo>
                  <a:pt x="775415" y="118278"/>
                </a:lnTo>
                <a:lnTo>
                  <a:pt x="1013794" y="118278"/>
                </a:lnTo>
                <a:lnTo>
                  <a:pt x="999134" y="95560"/>
                </a:lnTo>
                <a:close/>
              </a:path>
              <a:path w="1057909" h="488950">
                <a:moveTo>
                  <a:pt x="928878" y="32576"/>
                </a:moveTo>
                <a:lnTo>
                  <a:pt x="916183" y="35826"/>
                </a:lnTo>
                <a:lnTo>
                  <a:pt x="797810" y="88275"/>
                </a:lnTo>
                <a:lnTo>
                  <a:pt x="790546" y="90688"/>
                </a:lnTo>
                <a:lnTo>
                  <a:pt x="783036" y="91657"/>
                </a:lnTo>
                <a:lnTo>
                  <a:pt x="996615" y="91657"/>
                </a:lnTo>
                <a:lnTo>
                  <a:pt x="994659" y="88626"/>
                </a:lnTo>
                <a:lnTo>
                  <a:pt x="963219" y="47271"/>
                </a:lnTo>
                <a:lnTo>
                  <a:pt x="953422" y="38553"/>
                </a:lnTo>
                <a:lnTo>
                  <a:pt x="941633" y="33570"/>
                </a:lnTo>
                <a:lnTo>
                  <a:pt x="928878" y="32576"/>
                </a:lnTo>
                <a:close/>
              </a:path>
            </a:pathLst>
          </a:custGeom>
          <a:solidFill>
            <a:srgbClr val="F5EFE8"/>
          </a:solidFill>
        </p:spPr>
        <p:txBody>
          <a:bodyPr wrap="square" lIns="0" tIns="0" rIns="0" bIns="0" rtlCol="0"/>
          <a:lstStyle/>
          <a:p>
            <a:endParaRPr b="1" i="0">
              <a:latin typeface="Delight Semi Bol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89F71E-AD1B-9C7E-5F24-DFE3AA2CCC0E}"/>
              </a:ext>
            </a:extLst>
          </p:cNvPr>
          <p:cNvSpPr/>
          <p:nvPr userDrawn="1"/>
        </p:nvSpPr>
        <p:spPr>
          <a:xfrm>
            <a:off x="744693" y="3592666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22CC6CA9-7B09-4B71-5C99-F1322A3F34FC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3003550" y="429700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5B41249-52B9-058C-A2D2-AEFA307C6ECB}"/>
              </a:ext>
            </a:extLst>
          </p:cNvPr>
          <p:cNvSpPr/>
          <p:nvPr userDrawn="1"/>
        </p:nvSpPr>
        <p:spPr>
          <a:xfrm>
            <a:off x="744693" y="5692775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229941AD-2968-47FA-B8A4-CF2ACDB0D8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003550" y="6397117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6ADB498-948E-374B-63FC-885671A1FFD9}"/>
              </a:ext>
            </a:extLst>
          </p:cNvPr>
          <p:cNvSpPr/>
          <p:nvPr userDrawn="1"/>
        </p:nvSpPr>
        <p:spPr>
          <a:xfrm>
            <a:off x="744693" y="7799572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15AE6D7C-A5A6-259A-EFEA-23C86FF2135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003550" y="8503914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F5E01BF-5917-E579-7B1E-8DAB57D96E96}"/>
              </a:ext>
            </a:extLst>
          </p:cNvPr>
          <p:cNvSpPr/>
          <p:nvPr userDrawn="1"/>
        </p:nvSpPr>
        <p:spPr>
          <a:xfrm>
            <a:off x="7602538" y="3592666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16" name="Holder 3">
            <a:extLst>
              <a:ext uri="{FF2B5EF4-FFF2-40B4-BE49-F238E27FC236}">
                <a16:creationId xmlns:a16="http://schemas.microsoft.com/office/drawing/2014/main" id="{C5E9CA3F-F89A-9C4C-9663-A0DE4E38420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861395" y="429700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9721468-036B-85EC-F925-B83D2B669D62}"/>
              </a:ext>
            </a:extLst>
          </p:cNvPr>
          <p:cNvSpPr/>
          <p:nvPr userDrawn="1"/>
        </p:nvSpPr>
        <p:spPr>
          <a:xfrm>
            <a:off x="7602538" y="5692775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BE575A3A-82D0-F43B-DB49-F447FB4E0D9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861395" y="6397117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D7883A9-0CD2-7CA9-7F76-79FDE3EBC7A0}"/>
              </a:ext>
            </a:extLst>
          </p:cNvPr>
          <p:cNvSpPr/>
          <p:nvPr userDrawn="1"/>
        </p:nvSpPr>
        <p:spPr>
          <a:xfrm>
            <a:off x="7575550" y="7826375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20" name="Holder 3">
            <a:extLst>
              <a:ext uri="{FF2B5EF4-FFF2-40B4-BE49-F238E27FC236}">
                <a16:creationId xmlns:a16="http://schemas.microsoft.com/office/drawing/2014/main" id="{6CB859BD-8FE4-FA28-DFA1-58B21F48AA10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861395" y="8530717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262CAD7-8638-E927-F611-CF9EA4BFF046}"/>
              </a:ext>
            </a:extLst>
          </p:cNvPr>
          <p:cNvSpPr/>
          <p:nvPr userDrawn="1"/>
        </p:nvSpPr>
        <p:spPr>
          <a:xfrm>
            <a:off x="14179339" y="3592666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22" name="Holder 3">
            <a:extLst>
              <a:ext uri="{FF2B5EF4-FFF2-40B4-BE49-F238E27FC236}">
                <a16:creationId xmlns:a16="http://schemas.microsoft.com/office/drawing/2014/main" id="{7D201DB3-6A91-4680-EFC7-A03DBD654C9A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6438196" y="429700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4768C2C-9089-2398-6178-9746C1C79C8A}"/>
              </a:ext>
            </a:extLst>
          </p:cNvPr>
          <p:cNvSpPr/>
          <p:nvPr userDrawn="1"/>
        </p:nvSpPr>
        <p:spPr>
          <a:xfrm>
            <a:off x="14179339" y="5692775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24" name="Holder 3">
            <a:extLst>
              <a:ext uri="{FF2B5EF4-FFF2-40B4-BE49-F238E27FC236}">
                <a16:creationId xmlns:a16="http://schemas.microsoft.com/office/drawing/2014/main" id="{B37A72DE-1C60-CB94-EA8C-A15D50FF757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6438196" y="6397117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868D2E0-2E25-5BAA-A59F-3B032EEF30AD}"/>
              </a:ext>
            </a:extLst>
          </p:cNvPr>
          <p:cNvSpPr/>
          <p:nvPr userDrawn="1"/>
        </p:nvSpPr>
        <p:spPr>
          <a:xfrm>
            <a:off x="14179339" y="7799572"/>
            <a:ext cx="1790700" cy="1790700"/>
          </a:xfrm>
          <a:prstGeom prst="roundRect">
            <a:avLst>
              <a:gd name="adj" fmla="val 488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2"/>
                </a:solidFill>
              </a:rPr>
              <a:t>#</a:t>
            </a:r>
          </a:p>
        </p:txBody>
      </p:sp>
      <p:sp>
        <p:nvSpPr>
          <p:cNvPr id="26" name="Holder 3">
            <a:extLst>
              <a:ext uri="{FF2B5EF4-FFF2-40B4-BE49-F238E27FC236}">
                <a16:creationId xmlns:a16="http://schemas.microsoft.com/office/drawing/2014/main" id="{9C005CB6-4F18-D26E-F95F-E84676E9310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6438196" y="8503914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800" b="0" i="0">
                <a:solidFill>
                  <a:schemeClr val="bg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Item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621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-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7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1265"/>
            <a:ext cx="20104099" cy="112980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5974E6-2DAC-AE5E-212D-D23385994A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8874" y="255592"/>
            <a:ext cx="19486349" cy="1079816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470" y="5186510"/>
            <a:ext cx="11593156" cy="1701004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1000"/>
              </a:lnSpc>
              <a:defRPr sz="11000" b="0" i="0">
                <a:solidFill>
                  <a:schemeClr val="tx1"/>
                </a:solidFill>
                <a:latin typeface="Delight Medium" pitchFamily="2" charset="77"/>
                <a:cs typeface="Delight Medium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05B7FC25-FD76-8528-9670-3C67F94EBFD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053726" y="4304730"/>
            <a:ext cx="1996643" cy="576258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256155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693" y="1750789"/>
            <a:ext cx="16317757" cy="2760886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1200"/>
              </a:lnSpc>
              <a:defRPr sz="12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609FD37F-1F9A-0B13-CC57-F3A7F010E80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4693" y="722784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6255E875-0480-5E3D-5165-DE8266E4BC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350" y="701676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6B57680-2E7C-5E3A-5960-B4592A08B5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815050" y="10013950"/>
            <a:ext cx="571500" cy="517525"/>
          </a:xfrm>
          <a:prstGeom prst="roundRect">
            <a:avLst>
              <a:gd name="adj" fmla="val 2667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44A785A1-950B-8C77-5E6A-01939DCEDD1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886323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2EB4CD6A-60E0-7874-92C3-2B8B65BC25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4538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70ACE302-95B3-911F-AB83-273E008E5D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169893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42C6BB06-0E8B-702B-4085-BF8215AAC54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8108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73A66E9F-7C0F-B1DF-F5EF-43EB7FBDDF8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6453461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E25B2D14-543F-FB2C-CCCB-6BDBF377E44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3311678" y="4816475"/>
            <a:ext cx="2944812" cy="3848099"/>
          </a:xfrm>
          <a:prstGeom prst="roundRect">
            <a:avLst>
              <a:gd name="adj" fmla="val 392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Holder 3">
            <a:extLst>
              <a:ext uri="{FF2B5EF4-FFF2-40B4-BE49-F238E27FC236}">
                <a16:creationId xmlns:a16="http://schemas.microsoft.com/office/drawing/2014/main" id="{9E418B74-8E5F-9A17-57D1-E1763CBEBE3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41964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1" name="Holder 3">
            <a:extLst>
              <a:ext uri="{FF2B5EF4-FFF2-40B4-BE49-F238E27FC236}">
                <a16:creationId xmlns:a16="http://schemas.microsoft.com/office/drawing/2014/main" id="{1F264448-CA6F-C43B-A1CE-FE78D413A732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883749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2" name="Holder 3">
            <a:extLst>
              <a:ext uri="{FF2B5EF4-FFF2-40B4-BE49-F238E27FC236}">
                <a16:creationId xmlns:a16="http://schemas.microsoft.com/office/drawing/2014/main" id="{AB5A724C-73F9-0363-7489-306BD50D8D0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7025533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3" name="Holder 3">
            <a:extLst>
              <a:ext uri="{FF2B5EF4-FFF2-40B4-BE49-F238E27FC236}">
                <a16:creationId xmlns:a16="http://schemas.microsoft.com/office/drawing/2014/main" id="{2154B34E-ECD4-73B9-B325-D58CEB385D4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167318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4" name="Holder 3">
            <a:extLst>
              <a:ext uri="{FF2B5EF4-FFF2-40B4-BE49-F238E27FC236}">
                <a16:creationId xmlns:a16="http://schemas.microsoft.com/office/drawing/2014/main" id="{43B8CAE3-21D2-8123-547B-CBB7EA334720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3309102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19B10D4D-8F9D-DD06-1735-1514DCD73278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6450887" y="8854058"/>
            <a:ext cx="2944812" cy="382016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2800"/>
              </a:lnSpc>
              <a:defRPr sz="2800" b="0" i="0">
                <a:solidFill>
                  <a:schemeClr val="tx2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Add Name</a:t>
            </a:r>
            <a:endParaRPr/>
          </a:p>
        </p:txBody>
      </p:sp>
      <p:sp>
        <p:nvSpPr>
          <p:cNvPr id="26" name="Holder 3">
            <a:extLst>
              <a:ext uri="{FF2B5EF4-FFF2-40B4-BE49-F238E27FC236}">
                <a16:creationId xmlns:a16="http://schemas.microsoft.com/office/drawing/2014/main" id="{FE34137D-ACAD-06D0-CE12-5391A7401E3A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79560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27" name="Holder 3">
            <a:extLst>
              <a:ext uri="{FF2B5EF4-FFF2-40B4-BE49-F238E27FC236}">
                <a16:creationId xmlns:a16="http://schemas.microsoft.com/office/drawing/2014/main" id="{FBAB60A6-0E50-C96F-04E2-DDB8405119C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21345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28" name="Holder 3">
            <a:extLst>
              <a:ext uri="{FF2B5EF4-FFF2-40B4-BE49-F238E27FC236}">
                <a16:creationId xmlns:a16="http://schemas.microsoft.com/office/drawing/2014/main" id="{EEFA4546-85D7-FC0B-F300-41A78A6A0AB1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363129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29" name="Holder 3">
            <a:extLst>
              <a:ext uri="{FF2B5EF4-FFF2-40B4-BE49-F238E27FC236}">
                <a16:creationId xmlns:a16="http://schemas.microsoft.com/office/drawing/2014/main" id="{03898B82-DD93-74CE-6D15-3F13CA7B2E68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0504914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30" name="Holder 3">
            <a:extLst>
              <a:ext uri="{FF2B5EF4-FFF2-40B4-BE49-F238E27FC236}">
                <a16:creationId xmlns:a16="http://schemas.microsoft.com/office/drawing/2014/main" id="{099ECA2E-429A-280F-5DFB-9263E8697DF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3646698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  <p:sp>
        <p:nvSpPr>
          <p:cNvPr id="31" name="Holder 3">
            <a:extLst>
              <a:ext uri="{FF2B5EF4-FFF2-40B4-BE49-F238E27FC236}">
                <a16:creationId xmlns:a16="http://schemas.microsoft.com/office/drawing/2014/main" id="{C22C5E4D-2DAA-B000-969B-561E453EA17E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16788483" y="9273158"/>
            <a:ext cx="2269620" cy="382016"/>
          </a:xfrm>
          <a:prstGeom prst="roundRect">
            <a:avLst/>
          </a:prstGeom>
          <a:noFill/>
          <a:ln w="31750">
            <a:solidFill>
              <a:schemeClr val="tx2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1400" b="1" i="0" cap="all" spc="150" baseline="0">
                <a:solidFill>
                  <a:schemeClr val="tx2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Title/Role</a:t>
            </a:r>
          </a:p>
        </p:txBody>
      </p:sp>
    </p:spTree>
    <p:extLst>
      <p:ext uri="{BB962C8B-B14F-4D97-AF65-F5344CB8AC3E}">
        <p14:creationId xmlns:p14="http://schemas.microsoft.com/office/powerpoint/2010/main" val="282699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693" y="4936506"/>
            <a:ext cx="6983257" cy="90866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7200"/>
              </a:lnSpc>
              <a:defRPr sz="9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1964" y="6502042"/>
            <a:ext cx="6985326" cy="329514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ts val="2800"/>
              </a:lnSpc>
              <a:defRPr sz="1800" b="0" i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F3DD9A05-AE8A-9AC6-1A42-A4FEDCB0A67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44693" y="3504083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342CE527-A21D-AAF0-2D13-7D2C7EBE10A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350" y="3482975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749675"/>
            <a:ext cx="20104100" cy="7559040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</p:spPr>
        <p:txBody>
          <a:bodyPr wrap="none" lIns="0" tIns="0" rIns="0" bIns="0" rtlCol="0"/>
          <a:lstStyle/>
          <a:p>
            <a:endParaRPr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24F22982-C7A9-20ED-6AC5-491666638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693" y="1750789"/>
            <a:ext cx="16317757" cy="1617886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1200"/>
              </a:lnSpc>
              <a:defRPr sz="12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CA6491BE-8854-7189-828D-5C72467E103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4693" y="722784"/>
            <a:ext cx="544357" cy="51229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64D7073E-CD35-2745-71B7-D4F04DEC22B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41450" y="701676"/>
            <a:ext cx="2743199" cy="533400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8AE1BC8D-BE96-7269-7ECB-3D596DC500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815050" y="10013950"/>
            <a:ext cx="571500" cy="517525"/>
          </a:xfrm>
          <a:prstGeom prst="roundRect">
            <a:avLst>
              <a:gd name="adj" fmla="val 2667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210F118-55CD-500F-F228-601C33A8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4281" y="10531475"/>
            <a:ext cx="10015538" cy="601662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26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72356" y="3280434"/>
            <a:ext cx="10714193" cy="23622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7200"/>
              </a:lnSpc>
              <a:defRPr sz="72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4063FE08-DDBA-ABDB-766E-51E600C04D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815050" y="10013950"/>
            <a:ext cx="571500" cy="517525"/>
          </a:xfrm>
          <a:prstGeom prst="roundRect">
            <a:avLst>
              <a:gd name="adj" fmla="val 2667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47A53557-AE03-2084-6047-D3D9E2E59DA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642350" y="2429071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DE177557-72B5-0B7D-5C61-39F7D120577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01007" y="2407963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848FF-CDF3-C3CC-36EC-611638477EC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4616" y="2407964"/>
            <a:ext cx="7460534" cy="6154332"/>
          </a:xfrm>
          <a:prstGeom prst="roundRect">
            <a:avLst>
              <a:gd name="adj" fmla="val 2427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F0DC79B5-FB6E-6753-9A09-F18B49FABC1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66006" y="7731770"/>
            <a:ext cx="3371851" cy="830533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300"/>
              </a:lnSpc>
              <a:defRPr sz="1600" b="0" i="0" spc="50" baseline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r>
              <a:rPr lang="en-US"/>
              <a:t>The right partner anticipates your needs and remains engaged beyond go-live.</a:t>
            </a:r>
            <a:endParaRPr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35A4B8CD-2206-BF17-16E0-300313D9676F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672357" y="7334250"/>
            <a:ext cx="3345734" cy="339725"/>
          </a:xfrm>
          <a:prstGeom prst="rect">
            <a:avLst/>
          </a:prstGeom>
          <a:noFill/>
          <a:ln w="28575">
            <a:noFill/>
          </a:ln>
          <a:effectLst>
            <a:softEdge rad="0"/>
          </a:effectLst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ts val="2800"/>
              </a:lnSpc>
              <a:defRPr sz="1200" b="1" i="0" cap="all" spc="300" baseline="0">
                <a:solidFill>
                  <a:schemeClr val="accent6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Point 01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F6CB32-0F57-875F-B6E6-5A7D926912AD}"/>
              </a:ext>
            </a:extLst>
          </p:cNvPr>
          <p:cNvCxnSpPr>
            <a:cxnSpLocks/>
          </p:cNvCxnSpPr>
          <p:nvPr userDrawn="1"/>
        </p:nvCxnSpPr>
        <p:spPr>
          <a:xfrm>
            <a:off x="8666007" y="6988175"/>
            <a:ext cx="10720543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Holder 3">
            <a:extLst>
              <a:ext uri="{FF2B5EF4-FFF2-40B4-BE49-F238E27FC236}">
                <a16:creationId xmlns:a16="http://schemas.microsoft.com/office/drawing/2014/main" id="{5A52CAFA-01C6-C31D-2C9D-13CA6660AFE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12342655" y="7731770"/>
            <a:ext cx="3371851" cy="830533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300"/>
              </a:lnSpc>
              <a:defRPr sz="1600" b="0" i="0" spc="50" baseline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r>
              <a:rPr lang="en-US"/>
              <a:t>The right partner anticipates your needs and remains engaged beyond go-live.</a:t>
            </a:r>
            <a:endParaRPr/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EA5AAD78-A9A9-AC5C-DB63-E3ECE3225BC6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12349006" y="7334250"/>
            <a:ext cx="3345734" cy="339725"/>
          </a:xfrm>
          <a:prstGeom prst="rect">
            <a:avLst/>
          </a:prstGeom>
          <a:noFill/>
          <a:ln w="28575">
            <a:noFill/>
          </a:ln>
          <a:effectLst>
            <a:softEdge rad="0"/>
          </a:effectLst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ts val="2800"/>
              </a:lnSpc>
              <a:defRPr sz="1200" b="1" i="0" cap="all" spc="300" baseline="0">
                <a:solidFill>
                  <a:schemeClr val="accent6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Point 02</a:t>
            </a:r>
          </a:p>
        </p:txBody>
      </p:sp>
      <p:sp>
        <p:nvSpPr>
          <p:cNvPr id="11" name="Holder 3">
            <a:extLst>
              <a:ext uri="{FF2B5EF4-FFF2-40B4-BE49-F238E27FC236}">
                <a16:creationId xmlns:a16="http://schemas.microsoft.com/office/drawing/2014/main" id="{F8483C8D-121F-7158-C0DE-431C181DBBB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6032006" y="7731770"/>
            <a:ext cx="3371851" cy="830533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300"/>
              </a:lnSpc>
              <a:defRPr sz="1600" b="0" i="0" spc="50" baseline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r>
              <a:rPr lang="en-US"/>
              <a:t>The right partner anticipates your needs and remains engaged beyond go-live.</a:t>
            </a:r>
            <a:endParaRPr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8484FB8D-31B9-69BC-D174-965C8ABDB1E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6038357" y="7334250"/>
            <a:ext cx="3345734" cy="339725"/>
          </a:xfrm>
          <a:prstGeom prst="rect">
            <a:avLst/>
          </a:prstGeom>
          <a:noFill/>
          <a:ln w="28575">
            <a:noFill/>
          </a:ln>
          <a:effectLst>
            <a:softEdge rad="0"/>
          </a:effectLst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ts val="2800"/>
              </a:lnSpc>
              <a:defRPr sz="1200" b="1" i="0" cap="all" spc="300" baseline="0">
                <a:solidFill>
                  <a:schemeClr val="accent6"/>
                </a:solidFill>
                <a:latin typeface="Delight Semi Bold" pitchFamily="2" charset="77"/>
                <a:cs typeface="Arial"/>
              </a:defRPr>
            </a:lvl1pPr>
          </a:lstStyle>
          <a:p>
            <a:r>
              <a:rPr lang="en-US" noProof="0"/>
              <a:t>Point 03</a:t>
            </a:r>
          </a:p>
        </p:txBody>
      </p:sp>
    </p:spTree>
    <p:extLst>
      <p:ext uri="{BB962C8B-B14F-4D97-AF65-F5344CB8AC3E}">
        <p14:creationId xmlns:p14="http://schemas.microsoft.com/office/powerpoint/2010/main" val="4097486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693" y="4936506"/>
            <a:ext cx="6983257" cy="90866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7200"/>
              </a:lnSpc>
              <a:defRPr sz="9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1964" y="6502042"/>
            <a:ext cx="6985326" cy="329514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ts val="2800"/>
              </a:lnSpc>
              <a:defRPr sz="1800" b="0" i="0">
                <a:solidFill>
                  <a:schemeClr val="accent6"/>
                </a:solidFill>
                <a:latin typeface="Delight Regular" pitchFamily="2" charset="77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4063FE08-DDBA-ABDB-766E-51E600C04D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815050" y="10013950"/>
            <a:ext cx="571500" cy="517525"/>
          </a:xfrm>
          <a:prstGeom prst="roundRect">
            <a:avLst>
              <a:gd name="adj" fmla="val 2667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F3DD9A05-AE8A-9AC6-1A42-A4FEDCB0A67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44693" y="3504083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342CE527-A21D-AAF0-2D13-7D2C7EBE10A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350" y="3482975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8610E84-6F6D-9211-9DFC-1C03020A2CE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5150" y="282575"/>
            <a:ext cx="11620500" cy="10706100"/>
          </a:xfrm>
          <a:prstGeom prst="roundRect">
            <a:avLst>
              <a:gd name="adj" fmla="val 1894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71049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693" y="1750789"/>
            <a:ext cx="16317757" cy="3370486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1200"/>
              </a:lnSpc>
              <a:defRPr sz="12000" b="0" i="0">
                <a:solidFill>
                  <a:schemeClr val="tx1"/>
                </a:solidFill>
                <a:latin typeface="Delight Medium"/>
                <a:cs typeface="Delight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609FD37F-1F9A-0B13-CC57-F3A7F010E80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4693" y="722784"/>
            <a:ext cx="544357" cy="512291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2"/>
            </a:solidFill>
          </a:ln>
          <a:effectLst>
            <a:softEdge rad="0"/>
          </a:effectLst>
        </p:spPr>
        <p:txBody>
          <a:bodyPr wrap="none" lIns="45720" tIns="91440" rIns="45720" bIns="91440" anchor="ctr" anchorCtr="1">
            <a:noAutofit/>
          </a:bodyPr>
          <a:lstStyle>
            <a:lvl1pPr algn="ctr">
              <a:lnSpc>
                <a:spcPts val="2800"/>
              </a:lnSpc>
              <a:defRPr sz="2000" b="0" i="0" kern="0" cap="all" spc="300" baseline="0">
                <a:solidFill>
                  <a:schemeClr val="bg1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/>
              <a:t>S#</a:t>
            </a:r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6255E875-0480-5E3D-5165-DE8266E4BC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350" y="701676"/>
            <a:ext cx="2743199" cy="533400"/>
          </a:xfrm>
          <a:prstGeom prst="roundRect">
            <a:avLst/>
          </a:prstGeom>
          <a:noFill/>
          <a:ln w="31750">
            <a:solidFill>
              <a:schemeClr val="accent5"/>
            </a:solidFill>
          </a:ln>
          <a:effectLst>
            <a:softEdge rad="0"/>
          </a:effectLst>
        </p:spPr>
        <p:txBody>
          <a:bodyPr wrap="none" lIns="91440" tIns="91440" rIns="91440" bIns="91440" anchor="ctr" anchorCtr="1">
            <a:noAutofit/>
          </a:bodyPr>
          <a:lstStyle>
            <a:lvl1pPr algn="just">
              <a:lnSpc>
                <a:spcPts val="2800"/>
              </a:lnSpc>
              <a:defRPr sz="2000" b="0" i="0" cap="all" spc="300" baseline="0">
                <a:solidFill>
                  <a:schemeClr val="accent6"/>
                </a:solidFill>
                <a:latin typeface="Delight Medium" pitchFamily="2" charset="77"/>
                <a:cs typeface="Arial"/>
              </a:defRPr>
            </a:lvl1pPr>
          </a:lstStyle>
          <a:p>
            <a:r>
              <a:rPr lang="en-US" noProof="0"/>
              <a:t>Section name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B545B6F-8A16-4470-1FFE-CE5291C6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5771" y="10656765"/>
            <a:ext cx="10015538" cy="601662"/>
          </a:xfrm>
        </p:spPr>
        <p:txBody>
          <a:bodyPr/>
          <a:lstStyle>
            <a:lvl1pPr>
              <a:defRPr sz="1200"/>
            </a:lvl1pPr>
          </a:lstStyle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098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03E7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1129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4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wer Statem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logo  AI-generated content may be incorrect.">
            <a:extLst>
              <a:ext uri="{FF2B5EF4-FFF2-40B4-BE49-F238E27FC236}">
                <a16:creationId xmlns:a16="http://schemas.microsoft.com/office/drawing/2014/main" id="{BA9809BA-C40D-CD53-FB7A-4B6286BF70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19769" y="-715963"/>
            <a:ext cx="27543638" cy="12741275"/>
          </a:xfrm>
          <a:prstGeom prst="rect">
            <a:avLst/>
          </a:prstGeom>
        </p:spPr>
      </p:pic>
      <p:sp>
        <p:nvSpPr>
          <p:cNvPr id="6" name="Holder 2">
            <a:extLst>
              <a:ext uri="{FF2B5EF4-FFF2-40B4-BE49-F238E27FC236}">
                <a16:creationId xmlns:a16="http://schemas.microsoft.com/office/drawing/2014/main" id="{E15183D9-D1DB-385D-678F-DCD262335E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5185" y="4677571"/>
            <a:ext cx="16013730" cy="1701004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6500"/>
              </a:lnSpc>
              <a:defRPr sz="4800" b="0" i="0">
                <a:solidFill>
                  <a:schemeClr val="bg1"/>
                </a:solidFill>
                <a:latin typeface="Delight Medium" pitchFamily="2" charset="77"/>
                <a:cs typeface="Delight Medium" pitchFamily="2" charset="77"/>
              </a:defRPr>
            </a:lvl1pPr>
          </a:lstStyle>
          <a:p>
            <a:r>
              <a:rPr lang="en-US"/>
              <a:t>Add Power Statement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8652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013" y="1850860"/>
            <a:ext cx="15078075" cy="3937329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2730474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0594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DD213-5353-21AD-09CC-1925F60E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38A62-45C0-5967-7362-BDD0D041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8A5F3-11FB-A9AE-7E80-7FF0675D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070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F3B2C66-5CCD-5234-0C52-97267551F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3009900"/>
            <a:ext cx="17338675" cy="717708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E262EE1D-5419-1607-C90B-A603F6BF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3"/>
            <a:ext cx="17338675" cy="218598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9">
            <a:extLst>
              <a:ext uri="{FF2B5EF4-FFF2-40B4-BE49-F238E27FC236}">
                <a16:creationId xmlns:a16="http://schemas.microsoft.com/office/drawing/2014/main" id="{90C5EA89-0E1C-524E-1418-A4C325BDE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0" i="0">
                <a:solidFill>
                  <a:schemeClr val="tx2"/>
                </a:solidFill>
                <a:latin typeface="Delight Medium" pitchFamily="2" charset="77"/>
              </a:defRPr>
            </a:lvl1pPr>
          </a:lstStyle>
          <a:p>
            <a:endParaRPr lang="en-US"/>
          </a:p>
        </p:txBody>
      </p:sp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747DA8CB-9EC9-067D-D3BE-B8A2D9047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0" i="0">
                <a:solidFill>
                  <a:schemeClr val="tx2"/>
                </a:solidFill>
                <a:latin typeface="Delight Medium" pitchFamily="2" charset="77"/>
              </a:defRPr>
            </a:lvl1pPr>
          </a:lstStyle>
          <a:p>
            <a:endParaRPr lang="en-US"/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193039B6-5B1F-C342-CAC2-4E3C97B67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2000" b="0" i="0">
                <a:solidFill>
                  <a:schemeClr val="tx2"/>
                </a:solidFill>
                <a:latin typeface="Delight Medium" pitchFamily="2" charset="77"/>
              </a:defRPr>
            </a:lvl1pPr>
          </a:lstStyle>
          <a:p>
            <a:fld id="{481B4AAB-B4EA-D749-AC5F-B7E5E0E99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4" r:id="rId2"/>
    <p:sldLayoutId id="2147483679" r:id="rId3"/>
    <p:sldLayoutId id="2147483680" r:id="rId4"/>
    <p:sldLayoutId id="2147483676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8" r:id="rId11"/>
    <p:sldLayoutId id="2147483684" r:id="rId12"/>
    <p:sldLayoutId id="2147483675" r:id="rId13"/>
    <p:sldLayoutId id="2147483685" r:id="rId14"/>
  </p:sldLayoutIdLst>
  <p:hf hdr="0" ftr="0" dt="0"/>
  <p:txStyles>
    <p:titleStyle>
      <a:lvl1pPr eaLnBrk="1" hangingPunct="1">
        <a:lnSpc>
          <a:spcPts val="7200"/>
        </a:lnSpc>
        <a:defRPr sz="9000" b="0" i="0">
          <a:solidFill>
            <a:schemeClr val="tx1"/>
          </a:solidFill>
          <a:latin typeface="Delight Medium" pitchFamily="2" charset="77"/>
          <a:ea typeface="+mj-ea"/>
          <a:cs typeface="+mj-cs"/>
        </a:defRPr>
      </a:lvl1pPr>
    </p:titleStyle>
    <p:bodyStyle>
      <a:lvl1pPr marL="0" algn="just" eaLnBrk="1" hangingPunct="1">
        <a:lnSpc>
          <a:spcPts val="2800"/>
        </a:lnSpc>
        <a:defRPr sz="1800" b="0" i="0">
          <a:solidFill>
            <a:schemeClr val="accent6"/>
          </a:solidFill>
          <a:latin typeface="Delight Regular" pitchFamily="2" charset="77"/>
          <a:ea typeface="+mn-ea"/>
          <a:cs typeface="+mn-cs"/>
        </a:defRPr>
      </a:lvl1pPr>
      <a:lvl2pPr marL="742950" indent="-285750" algn="just" eaLnBrk="1" hangingPunct="1">
        <a:lnSpc>
          <a:spcPts val="2800"/>
        </a:lnSpc>
        <a:buFont typeface="Arial" panose="020B0604020202020204" pitchFamily="34" charset="0"/>
        <a:buChar char="•"/>
        <a:defRPr sz="1800" b="0" i="0">
          <a:solidFill>
            <a:schemeClr val="accent6"/>
          </a:solidFill>
          <a:latin typeface="Delight Regular" pitchFamily="2" charset="77"/>
          <a:ea typeface="+mn-ea"/>
          <a:cs typeface="+mn-cs"/>
        </a:defRPr>
      </a:lvl2pPr>
      <a:lvl3pPr marL="1200150" indent="-285750" algn="just" eaLnBrk="1" hangingPunct="1">
        <a:lnSpc>
          <a:spcPts val="2800"/>
        </a:lnSpc>
        <a:buFont typeface="Arial" panose="020B0604020202020204" pitchFamily="34" charset="0"/>
        <a:buChar char="•"/>
        <a:defRPr sz="1800" b="0" i="0">
          <a:solidFill>
            <a:schemeClr val="bg2"/>
          </a:solidFill>
          <a:latin typeface="Delight Regular" pitchFamily="2" charset="77"/>
          <a:ea typeface="+mn-ea"/>
          <a:cs typeface="+mn-cs"/>
        </a:defRPr>
      </a:lvl3pPr>
      <a:lvl4pPr marL="1657350" indent="-285750" algn="just" eaLnBrk="1" hangingPunct="1">
        <a:lnSpc>
          <a:spcPts val="2800"/>
        </a:lnSpc>
        <a:buFont typeface="Arial" panose="020B0604020202020204" pitchFamily="34" charset="0"/>
        <a:buChar char="•"/>
        <a:defRPr sz="1800" b="0" i="0">
          <a:solidFill>
            <a:schemeClr val="accent2"/>
          </a:solidFill>
          <a:latin typeface="Delight Regular" pitchFamily="2" charset="77"/>
          <a:ea typeface="+mn-ea"/>
          <a:cs typeface="+mn-cs"/>
        </a:defRPr>
      </a:lvl4pPr>
      <a:lvl5pPr marL="2114550" indent="-285750" algn="just" eaLnBrk="1" hangingPunct="1">
        <a:lnSpc>
          <a:spcPts val="2800"/>
        </a:lnSpc>
        <a:buFont typeface="Arial" panose="020B0604020202020204" pitchFamily="34" charset="0"/>
        <a:buChar char="•"/>
        <a:defRPr sz="1800" b="0" i="0">
          <a:solidFill>
            <a:schemeClr val="accent5"/>
          </a:solidFill>
          <a:latin typeface="Delight Regular" pitchFamily="2" charset="77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42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6634" userDrawn="1">
          <p15:clr>
            <a:srgbClr val="F26B43"/>
          </p15:clr>
        </p15:guide>
        <p15:guide id="4" pos="12212" userDrawn="1">
          <p15:clr>
            <a:srgbClr val="F26B43"/>
          </p15:clr>
        </p15:guide>
        <p15:guide id="5" orient="horz" pos="6298" userDrawn="1">
          <p15:clr>
            <a:srgbClr val="F26B43"/>
          </p15:clr>
        </p15:guide>
        <p15:guide id="6" orient="horz" pos="778" userDrawn="1">
          <p15:clr>
            <a:srgbClr val="F26B43"/>
          </p15:clr>
        </p15:guide>
        <p15:guide id="7" pos="5444" userDrawn="1">
          <p15:clr>
            <a:srgbClr val="F26B43"/>
          </p15:clr>
        </p15:guide>
        <p15:guide id="8" pos="5156" userDrawn="1">
          <p15:clr>
            <a:srgbClr val="F26B43"/>
          </p15:clr>
        </p15:guide>
        <p15:guide id="9" pos="4868" userDrawn="1">
          <p15:clr>
            <a:srgbClr val="F26B43"/>
          </p15:clr>
        </p15:guide>
        <p15:guide id="10" pos="6332" userDrawn="1">
          <p15:clr>
            <a:srgbClr val="5ACBF0"/>
          </p15:clr>
        </p15:guide>
        <p15:guide id="11" orient="horz" pos="3562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OriginBA Automated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1063" y="7589520"/>
            <a:ext cx="11594592" cy="9144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F5EFE9"/>
                </a:solidFill>
              </a:rPr>
              <a:t>How client data becomes reports, end to end, and how AI runs the pipeline  |  internal documentation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OriginBA In One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1828800"/>
            <a:ext cx="18653760" cy="1600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023360" cy="16002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Client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C5D69"/>
                </a:solidFill>
              </a:rPr>
              <a:t>Oracle Utilities C2M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148840"/>
            <a:ext cx="4450080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CISADM schema, read-only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36480" y="2148840"/>
            <a:ext cx="4450080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One PDB per client, reached over the VPN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0879" y="2148840"/>
            <a:ext cx="4450080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Six clients: Ellensburg, Fond du Lac, CityCorp, College Station, Newark, Odessa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0" y="3483864"/>
            <a:ext cx="0" cy="301752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" y="3840480"/>
            <a:ext cx="18653760" cy="1600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4023360" cy="16002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Data layer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C5D69"/>
                </a:solidFill>
              </a:rPr>
              <a:t>originba_dbt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4160520"/>
            <a:ext cx="3268979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dbt warehouse in the client's own instance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55380" y="4160520"/>
            <a:ext cx="3268979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153 staging, 61 core, 38 reporting canvases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298680" y="4160520"/>
            <a:ext cx="3268979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Snapshot tables in CISADM (production today)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841980" y="4160520"/>
            <a:ext cx="3268979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Nightly QA: 121 parity checks, 8 snapshot checks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0" y="5495544"/>
            <a:ext cx="0" cy="301752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" y="5852160"/>
            <a:ext cx="18653760" cy="1600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4023360" cy="16002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Delivery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C5D69"/>
                </a:solidFill>
              </a:rPr>
              <a:t>OriginBA-3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6172200"/>
            <a:ext cx="3268979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Standard Offering domains per workstream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5380" y="6172200"/>
            <a:ext cx="3268979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Standardized SQL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98680" y="6172200"/>
            <a:ext cx="3268979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Promotion tools with proofs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841980" y="6172200"/>
            <a:ext cx="3268979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Sign-off documents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0" y="7507224"/>
            <a:ext cx="0" cy="301751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0664" y="7863840"/>
            <a:ext cx="18653760" cy="1600200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7863840"/>
            <a:ext cx="4023360" cy="16002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Clients use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C5D69"/>
                </a:solidFill>
              </a:rPr>
              <a:t>JasperReports Server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8183880"/>
            <a:ext cx="4450080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Ad Hoc views and dashboards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6480" y="8183880"/>
            <a:ext cx="4450080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Scheduled CSV and PDF exports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60879" y="8183880"/>
            <a:ext cx="4450080" cy="9601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3D7A"/>
                </a:solidFill>
              </a:rPr>
              <a:t>One org and one datasource per client, test and prod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By Hand Then, Automated Now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9659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EFE9"/>
                </a:solidFill>
              </a:rPr>
              <a:t>How it was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19659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EFE9"/>
                </a:solidFill>
              </a:rPr>
              <a:t>How it runs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" y="2560320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5EFE9"/>
                </a:solidFill>
              </a:rPr>
              <a:t>Domain edits in Domain Designer, one org at a time, no record of what 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7040" y="2560320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7A"/>
                </a:solidFill>
              </a:rPr>
              <a:t>Domain builders and patches in code, additive-only guard, seven proofs per org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C5D69"/>
                </a:solidFill>
              </a:rPr>
              <a:t>read-back byte-equal, every bound view executes, rows tie to Oracle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46920" y="3182111"/>
            <a:ext cx="868680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0664" y="4078224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5EFE9"/>
                </a:solidFill>
              </a:rPr>
              <a:t>Report and view moves by export and import zips, datasource fixed by hand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0" y="4078224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7A"/>
                </a:solidFill>
              </a:rPr>
              <a:t>One promote command for any resource, any org, any server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C5D69"/>
                </a:solidFill>
              </a:rPr>
              <a:t>package from the target's own datasource, re-export compare, execute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46920" y="4700016"/>
            <a:ext cx="868680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" y="5596128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5EFE9"/>
                </a:solidFill>
              </a:rPr>
              <a:t>Validation in spreadsheets and by opening reports one by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5596128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7A"/>
                </a:solidFill>
              </a:rPr>
              <a:t>Sweep executes every view, report and dashboard; the sign-off document is generated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C5D69"/>
                </a:solidFill>
              </a:rPr>
              <a:t>PASS, EMPTY, FAIL per row with timings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46920" y="6217920"/>
            <a:ext cx="868680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" y="7114032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5EFE9"/>
                </a:solidFill>
              </a:rPr>
              <a:t>Snapshot deployment scripts run one by one in SQL Developer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7114032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7A"/>
                </a:solidFill>
              </a:rPr>
              <a:t>Runner per step with validation gates and logs per client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C5D69"/>
                </a:solidFill>
              </a:rPr>
              <a:t>no empty tables, no duplicate keys, FT parity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46920" y="7735824"/>
            <a:ext cx="868680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" y="8631936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5EFE9"/>
                </a:solidFill>
              </a:rPr>
              <a:t>No warehouse; every number derived again in each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07040" y="8631936"/>
            <a:ext cx="8778240" cy="1243584"/>
          </a:xfrm>
          <a:prstGeom prst="roundRect">
            <a:avLst>
              <a:gd name="adj" fmla="val 10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7A"/>
                </a:solidFill>
              </a:rPr>
              <a:t>dbt warehouse with contracts, built nightly, parity-checked against CISADM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C5D69"/>
                </a:solidFill>
              </a:rPr>
              <a:t>120 of 120 checks, balances to the cent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46920" y="9253728"/>
            <a:ext cx="868680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End To 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Client C2M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Oracle CISADM, read-only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1848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Reporting layer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dbt warehouse or snapshot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Domains and reports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Standard Offering, one datasource per org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444216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JasperReports Server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dev, test, client test, client prod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41848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5EFE9"/>
                </a:solidFill>
              </a:rPr>
              <a:t>Nightly QA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5EFE9"/>
                </a:solidFill>
              </a:rPr>
              <a:t>parity against CISADM after every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43032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Promotion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package, import, compare, execute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444216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Client users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Ad Hoc, dashboards, scheduled exports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5806440"/>
            <a:ext cx="8833104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B3D7A"/>
                </a:solidFill>
              </a:rPr>
              <a:t>Claude Code runs the tools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C5D69"/>
                </a:solidFill>
              </a:rPr>
              <a:t>on instruction, with the skills as the operating manual; every step prints its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33888" y="5806440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B3D7A"/>
                </a:solidFill>
              </a:rPr>
              <a:t>Everything client-side needs the VPN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435072" y="6309360"/>
            <a:ext cx="2084831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15435072" y="6309360"/>
            <a:ext cx="2084831" cy="329184"/>
          </a:xfrm>
          <a:prstGeom prst="round2SameRect">
            <a:avLst/>
          </a:prstGeom>
          <a:solidFill>
            <a:srgbClr val="1D6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563088" y="6766560"/>
          <a:ext cx="182879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199"/>
                <a:gridCol w="457199"/>
                <a:gridCol w="457199"/>
                <a:gridCol w="457202"/>
              </a:tblGrid>
              <a:tr h="292608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5489935" y="7772400"/>
            <a:ext cx="1975103" cy="1097280"/>
          </a:xfrm>
          <a:prstGeom prst="rect">
            <a:avLst/>
          </a:prstGeom>
          <a:noFill/>
        </p:spPr>
        <p:txBody>
          <a:bodyPr wrap="square" anchor="ctr" lIns="45720" rIns="4572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B3D7A"/>
                </a:solidFill>
              </a:rPr>
              <a:t>Sign-off document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C5D69"/>
                </a:solidFill>
              </a:rPr>
              <a:t>one per org, from the sweep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64023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65207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566392" y="2720340"/>
            <a:ext cx="786384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7808" y="3520440"/>
            <a:ext cx="0" cy="27432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508992" y="3520440"/>
            <a:ext cx="0" cy="27432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410176" y="3520440"/>
            <a:ext cx="0" cy="27432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7401031" y="5394959"/>
            <a:ext cx="9145" cy="822961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0664" y="9829800"/>
            <a:ext cx="18288000" cy="5486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9"/>
                </a:solidFill>
              </a:rPr>
              <a:t>Cream = a tool with a proof   Grey = scheduled QA   Orange = the standing constraint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Client Database Side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1. Registry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clients.yml: org, datasource, PDB,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1848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5EFE9"/>
                </a:solidFill>
              </a:rPr>
              <a:t>2. Capacity gate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5EFE9"/>
                </a:solidFill>
              </a:rPr>
              <a:t>size it, cap TEMP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3. Drift check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compat views only where columns differ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444216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4. Schemas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ORIGINBA_STAGING, CORE,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44216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5. Build both paths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full refresh, then incremental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43032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6. Merge proofs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idempotent, propagates, reconciles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7. Views and domains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BI views, generated domains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8. Schedule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every 6 hours, overnight full refresh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5806440"/>
            <a:ext cx="1371600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The nightly chain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C5D69"/>
                </a:solidFill>
              </a:rPr>
              <a:t>lock, VPN gate, build, BI views, canary, source parity, snapshot parity, scorecard, alert on 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435072" y="5806440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B3D7A"/>
                </a:solidFill>
              </a:rPr>
              <a:t>Live on INT_DEV and Ellensburg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64023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65207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566392" y="2720340"/>
            <a:ext cx="786384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410176" y="3520440"/>
            <a:ext cx="0" cy="27432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4566392" y="4594860"/>
            <a:ext cx="786384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665207" y="459486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764023" y="459486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0664" y="854964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EFE9"/>
                </a:solidFill>
              </a:rPr>
              <a:t>Proofs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8503920"/>
            <a:ext cx="1595628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318 dbt tests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18787" y="8503920"/>
            <a:ext cx="2016252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121 parity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8503920"/>
            <a:ext cx="2016252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8 snapshot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8492" y="8503920"/>
            <a:ext cx="1911095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merge idempotent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48188" y="8503920"/>
            <a:ext cx="2016252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balances tie 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9829800"/>
            <a:ext cx="18288000" cy="5486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9"/>
                </a:solidFill>
              </a:rPr>
              <a:t>Steps 1 to 8 are the onboarding runbook. Grey = still a manual measurement.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The Data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Staging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153 views, one per table, trimmed and labelled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1848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Core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61 dims and facts at natural grain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Reporting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38 canvases, the only layer 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444216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Contracts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enforced; a rename fails the 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44216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Dictionary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1,476 columns with CISADM lineage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43032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Generated domains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9 per target, byte-identical on rebuild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Portal catalog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what the assistant may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5806440"/>
            <a:ext cx="1371600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B3D7A"/>
                </a:solidFill>
              </a:rPr>
              <a:t>One regeneration script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C5D69"/>
                </a:solidFill>
              </a:rPr>
              <a:t>contracts, dictionary, catalog, domains, explorer, scripts index: nothing hand-maintained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35072" y="5806440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B3D7A"/>
                </a:solidFill>
              </a:rPr>
              <a:t>CI builds both paths per pull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4023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65207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566392" y="2720340"/>
            <a:ext cx="786384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410176" y="3520440"/>
            <a:ext cx="0" cy="27432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4566392" y="4594860"/>
            <a:ext cx="786384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665207" y="459486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0664" y="854964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EFE9"/>
                </a:solidFill>
              </a:rPr>
              <a:t>Proofs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8503920"/>
            <a:ext cx="2121408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contracts enforced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4568" y="8503920"/>
            <a:ext cx="2226564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fixtures 391 of 391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9732" y="8503920"/>
            <a:ext cx="2962656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incremental = full refresh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0988" y="8503920"/>
            <a:ext cx="2542032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domains byte-identical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Snapshot Layer (Production Today)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01. Tables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the active 8 and CMS_SA_SNAPSHOT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1848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02. Procedures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full history, then rolling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03. Baselines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staggered jobs, ready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444216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04. Gates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no empty tables, no duplicates, FT parity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44216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05 to 08. Schedule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twice daily, 30-minute stagger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43032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Domains bind here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the Standard Offering reads these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5EFE9"/>
                </a:solidFill>
              </a:rPr>
              <a:t>dbt parity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5EFE9"/>
                </a:solidFill>
              </a:rPr>
              <a:t>the warehouse is tied to these nightly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5806440"/>
            <a:ext cx="8833104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Runner per step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one command per step and client, logs kept per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33888" y="5806440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B3D7A"/>
                </a:solidFill>
              </a:rPr>
              <a:t>Long refreshes run as background jobs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4023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65207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566392" y="2720340"/>
            <a:ext cx="786384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410176" y="3520440"/>
            <a:ext cx="0" cy="27432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4566392" y="4594860"/>
            <a:ext cx="786384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665207" y="459486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0664" y="854964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EFE9"/>
                </a:solidFill>
              </a:rPr>
              <a:t>Proofs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8503920"/>
            <a:ext cx="1595628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install gates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8787" y="8503920"/>
            <a:ext cx="1595628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coverage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43016" y="8503920"/>
            <a:ext cx="3172968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138,086 balances to the cent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9829800"/>
            <a:ext cx="18288000" cy="5486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9"/>
                </a:solidFill>
              </a:rPr>
              <a:t>The layer the dbt warehouse replaces; until then, what every client's Standard Offering reads.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Jaspersoft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Origin_DEV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where changes are authored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1848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Origin_TEST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internal promotion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Client test orgs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each on its own datasource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444216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Client prod orgs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only when named, with --i-mean-prod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44216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Sweep and sign-off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execute everything, write the docx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43032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Inventory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snapshot before, diff after: the rollback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Any resource, any org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domains, views, reports, folders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Domain changes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additive only, restore in one command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5806440"/>
            <a:ext cx="1371600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Standardized reports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C5D69"/>
                </a:solidFill>
              </a:rPr>
              <a:t>generated from specs with tests, deployed by REST, one folder clients schedule from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435072" y="5806440"/>
            <a:ext cx="2084831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15435072" y="5806440"/>
            <a:ext cx="2084831" cy="329184"/>
          </a:xfrm>
          <a:prstGeom prst="round2SameRect">
            <a:avLst/>
          </a:prstGeom>
          <a:solidFill>
            <a:srgbClr val="1D6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563088" y="6263640"/>
          <a:ext cx="182879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199"/>
                <a:gridCol w="457199"/>
                <a:gridCol w="457199"/>
                <a:gridCol w="457202"/>
              </a:tblGrid>
              <a:tr h="292608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5489935" y="7269479"/>
            <a:ext cx="1975103" cy="822960"/>
          </a:xfrm>
          <a:prstGeom prst="rect">
            <a:avLst/>
          </a:prstGeom>
          <a:noFill/>
        </p:spPr>
        <p:txBody>
          <a:bodyPr wrap="square" anchor="ctr" lIns="45720" rIns="4572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B3D7A"/>
                </a:solidFill>
              </a:rPr>
              <a:t>Sign-off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C5D69"/>
                </a:solidFill>
              </a:rPr>
              <a:t>per org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64023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65207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566392" y="2720340"/>
            <a:ext cx="786384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7410176" y="3520440"/>
            <a:ext cx="0" cy="27432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0664" y="854964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EFE9"/>
                </a:solidFill>
              </a:rPr>
              <a:t>Proofs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8503920"/>
            <a:ext cx="2647188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import without warnings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0348" y="8503920"/>
            <a:ext cx="2331720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re-export byte-equal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0668" y="8503920"/>
            <a:ext cx="2647188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every resource executes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06456" y="8503920"/>
            <a:ext cx="2121408" cy="5029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B3D7A"/>
                </a:solidFill>
              </a:rPr>
              <a:t>rollback zip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How AI Runs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Instruction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Chase names the org and the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1848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Skills load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runbooks, measured facts, dated lessons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Tool runs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export, patch, build, promote, sweep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444216" y="201168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Proof printed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or the step stops and names the rollback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44216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Skill updated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C5D69"/>
                </a:solidFill>
              </a:rPr>
              <a:t>the new fact, with its number, same 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What it runs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C5D69"/>
                </a:solidFill>
              </a:rPr>
              <a:t>builds, promotions, domain patches, sweeps, sign-off docs, diagnostics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0B3D7A"/>
                </a:solidFill>
              </a:rPr>
              <a:t>What it knows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C5D69"/>
                </a:solidFill>
              </a:rPr>
              <a:t>C2M joins and cardinalities, the server estate, every dated lesson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43032" y="3886200"/>
            <a:ext cx="3931920" cy="1417320"/>
          </a:xfrm>
          <a:prstGeom prst="roundRect">
            <a:avLst>
              <a:gd name="adj" fmla="val 12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5EFE9"/>
                </a:solidFill>
              </a:rPr>
              <a:t>What it never does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5EFE9"/>
                </a:solidFill>
              </a:rPr>
              <a:t>write to prod unasked, print a credential, guess a client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5806440"/>
            <a:ext cx="13716000" cy="118872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B3D7A"/>
                </a:solidFill>
              </a:rPr>
              <a:t>Guardrails live in the tools, not in the conversation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C5D69"/>
                </a:solidFill>
              </a:rPr>
              <a:t>--confirm on every write, --i-mean-prod on prod, read-only Oracle with prod disabled, additive-only domain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435072" y="5806440"/>
            <a:ext cx="3931920" cy="822960"/>
          </a:xfrm>
          <a:prstGeom prst="roundRect">
            <a:avLst>
              <a:gd name="adj" fmla="val 5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B3D7A"/>
                </a:solidFill>
              </a:rPr>
              <a:t>303 of 379 commits in OriginBA-3, 255 of 351 in originba_dbt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435072" y="6812280"/>
            <a:ext cx="3931920" cy="1188720"/>
          </a:xfrm>
          <a:prstGeom prst="roundRect">
            <a:avLst>
              <a:gd name="adj" fmla="val 12000"/>
            </a:avLst>
          </a:prstGeom>
          <a:solidFill>
            <a:srgbClr val="4C5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5EFE9"/>
                </a:solidFill>
              </a:rPr>
              <a:t>Human-only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5EFE9"/>
                </a:solidFill>
              </a:rPr>
              <a:t>Ad Hoc designer checks, users, themes, server config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64023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65207" y="2720340"/>
            <a:ext cx="786385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566392" y="2720340"/>
            <a:ext cx="786384" cy="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410176" y="3520440"/>
            <a:ext cx="0" cy="274320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467576" y="4594860"/>
            <a:ext cx="374904" cy="0"/>
          </a:xfrm>
          <a:prstGeom prst="line">
            <a:avLst/>
          </a:prstGeom>
          <a:ln w="3492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842480" y="1810512"/>
            <a:ext cx="0" cy="2784348"/>
          </a:xfrm>
          <a:prstGeom prst="line">
            <a:avLst/>
          </a:prstGeom>
          <a:ln w="3492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607808" y="1810512"/>
            <a:ext cx="12234672" cy="0"/>
          </a:xfrm>
          <a:prstGeom prst="line">
            <a:avLst/>
          </a:prstGeom>
          <a:ln w="34925">
            <a:solidFill>
              <a:srgbClr val="F5E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07808" y="1810512"/>
            <a:ext cx="0" cy="109728"/>
          </a:xfrm>
          <a:prstGeom prst="line">
            <a:avLst/>
          </a:prstGeom>
          <a:ln w="34925">
            <a:solidFill>
              <a:srgbClr val="F5EF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0664" y="9829800"/>
            <a:ext cx="18288000" cy="5486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FE9"/>
                </a:solidFill>
              </a:rPr>
              <a:t>The loop: what a session learns goes back into the skills the next session 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A Worked Example: College Station, One Morning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Locate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offline, from the inventory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the 21 by exact label, their domains, what test already had</a:t>
            </a:r>
          </a:p>
        </p:txBody>
      </p:sp>
      <p:sp>
        <p:nvSpPr>
          <p:cNvPr id="6" name="Oval 5"/>
          <p:cNvSpPr/>
          <p:nvPr/>
        </p:nvSpPr>
        <p:spPr>
          <a:xfrm>
            <a:off x="2061972" y="4864608"/>
            <a:ext cx="822960" cy="822960"/>
          </a:xfrm>
          <a:prstGeom prst="ellipse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542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Prerequisites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2 promotions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the domain and the view test lacked</a:t>
            </a:r>
          </a:p>
        </p:txBody>
      </p:sp>
      <p:sp>
        <p:nvSpPr>
          <p:cNvPr id="8" name="Oval 7"/>
          <p:cNvSpPr/>
          <p:nvPr/>
        </p:nvSpPr>
        <p:spPr>
          <a:xfrm>
            <a:off x="5856732" y="4864608"/>
            <a:ext cx="822960" cy="822960"/>
          </a:xfrm>
          <a:prstGeom prst="ellipse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3018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Promote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21 promotions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each: package, import, byte-equal compare, execute</a:t>
            </a:r>
          </a:p>
        </p:txBody>
      </p:sp>
      <p:sp>
        <p:nvSpPr>
          <p:cNvPr id="10" name="Oval 9"/>
          <p:cNvSpPr/>
          <p:nvPr/>
        </p:nvSpPr>
        <p:spPr>
          <a:xfrm>
            <a:off x="9651492" y="4864608"/>
            <a:ext cx="822960" cy="822960"/>
          </a:xfrm>
          <a:prstGeom prst="ellipse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2494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Replace domains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13 promotions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prod's versions, so the views match exactly</a:t>
            </a:r>
          </a:p>
        </p:txBody>
      </p:sp>
      <p:sp>
        <p:nvSpPr>
          <p:cNvPr id="12" name="Oval 11"/>
          <p:cNvSpPr/>
          <p:nvPr/>
        </p:nvSpPr>
        <p:spPr>
          <a:xfrm>
            <a:off x="13446252" y="4864608"/>
            <a:ext cx="822960" cy="822960"/>
          </a:xfrm>
          <a:prstGeom prst="ellipse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91970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Prove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3D7A"/>
                </a:solidFill>
              </a:rPr>
              <a:t>22 executions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3D7A"/>
                </a:solidFill>
              </a:rPr>
              <a:t>every item runs on test; prod never written</a:t>
            </a:r>
          </a:p>
        </p:txBody>
      </p:sp>
      <p:sp>
        <p:nvSpPr>
          <p:cNvPr id="14" name="Oval 13"/>
          <p:cNvSpPr/>
          <p:nvPr/>
        </p:nvSpPr>
        <p:spPr>
          <a:xfrm>
            <a:off x="17241012" y="4864608"/>
            <a:ext cx="822960" cy="822960"/>
          </a:xfrm>
          <a:prstGeom prst="ellipse">
            <a:avLst/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1828800"/>
            <a:ext cx="18288000" cy="23774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5EFE9"/>
                </a:solidFill>
              </a:rPr>
              <a:t>21 production reports the client asked to have in Test: 20 Ad Hoc views, 1 report, and the 13 domains behind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What Is Automated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" y="1828800"/>
            <a:ext cx="5913119" cy="34290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Warehouse build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One entry point, nine gates, a preflight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Incremental 11 min, full refresh 33 min at 5.4M FTs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Merge proven idempotent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0983" y="1828800"/>
            <a:ext cx="5913119" cy="34290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Nightly QA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Every 6 hours per client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Canary, 121 parity checks, 8 snapshot checks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Scorecard, fleet page, alert on 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1303" y="1828800"/>
            <a:ext cx="5913119" cy="34290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Regeneration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Contracts, dictionary, catalog, domains, explorer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One script; the build fails on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" y="5715000"/>
            <a:ext cx="5913119" cy="34290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Promotion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Any resource, any org, any server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Import, re-export compare, execute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Rollback zip before every 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0983" y="5715000"/>
            <a:ext cx="5913119" cy="34290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Domain changes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Additive-only guard on every patch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Seven proofs per org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Rows tied to Oracle before promotion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81303" y="5715000"/>
            <a:ext cx="5913119" cy="34290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Reports and sign-off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JRXML generated from specs with tests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Deployed by REST, rendered as proof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Sign-off documents from the sweep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What Runs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" y="1828800"/>
          <a:ext cx="1865376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583680"/>
                <a:gridCol w="7315200"/>
              </a:tblGrid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Job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Does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</a:tr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Nightly INT_DEV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launchd 05:45, 11:45, 17:45, 23:45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Oracle-native build and the QA chain on the bench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Nightly Ellensburg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launchd 00:30, 06:30, 12:30, 18:30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Same chain on Ellensburg 25.4 test; 00:30 is the full 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Weekly QA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launchd Monday 07:00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Fixtures, slices, DQ rules, drift, tenant sweep, regenerate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Snapshot refreshes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Oracle DBMS_SCHEDULER, twice 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REFRESH procedures per client in CISADM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CI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GitHub Actions on pull request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dbt build both paths on Postgres 13 and 16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GitHub Actions on merge to 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Slim CI per client warehouse (failing: no reachable warehouse)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Promotions, patches, sign-offs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On instruction, in a Claude Code session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tools above, each with its proof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Results,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" y="1828800"/>
            <a:ext cx="5913119" cy="34290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Build speed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fct_billed_charge: 31 min and 246 GB TEMP, now 21 seconds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BODA staging: 1,898 s to 6.8 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rpt_unbilled_revenue: 14 min to 4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0983" y="1828800"/>
            <a:ext cx="5913119" cy="34290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Proven parity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120 of 120 checks across 38 tables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138,086 of 138,086 balances to the cent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Adjustment domain exact on six client orgs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1303" y="1828800"/>
            <a:ext cx="5913119" cy="34290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Delivery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Standard Offering to prod: 11 min Ellensburg, 21 min Newark, 0 errors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111 views repaired the morning prod went 10.0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5D69"/>
                </a:solidFill>
              </a:rPr>
              <a:t>21 client reports moved prod to test, byte-equal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Where It Needs To Improve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" y="1828800"/>
            <a:ext cx="5913119" cy="43434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Runs on a laptop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4C5D69"/>
                </a:solidFill>
              </a:rPr>
              <a:t>•  The nightlies need the VPN from one Mac: 93% of runs in the last 30 days were skipped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4C5D69"/>
                </a:solidFill>
              </a:rPr>
              <a:t>•  The CD workflow has failed 13 of 13 times: no reachable warehouse from GitHub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4C5D69"/>
                </a:solidFill>
              </a:rPr>
              <a:t>•  The fix is a runner inside the VCN; designed, not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0983" y="1828800"/>
            <a:ext cx="5913119" cy="43434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Two reporting layers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4C5D69"/>
                </a:solidFill>
              </a:rPr>
              <a:t>•  Clients read the snapshot tables; the dbt warehouse is live only on INT_DEV and Ellensburg test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4C5D69"/>
                </a:solidFill>
              </a:rPr>
              <a:t>•  Generated domains exist but no server binds to them yet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4C5D69"/>
                </a:solidFill>
              </a:rPr>
              <a:t>•  Other clients wait on DBA approval for schemas and a service account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1303" y="1828800"/>
            <a:ext cx="5913119" cy="4343400"/>
          </a:xfrm>
          <a:prstGeom prst="roundRect">
            <a:avLst>
              <a:gd name="adj" fmla="val 8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54864" bIns="54864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7A"/>
                </a:solidFill>
              </a:rPr>
              <a:t>Gaps in the tooling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4C5D69"/>
                </a:solidFill>
              </a:rPr>
              <a:t>•  No capacity-gate script; it is manual SQL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4C5D69"/>
                </a:solidFill>
              </a:rPr>
              <a:t>•  Standard Offering on prod for three of five clients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4C5D69"/>
                </a:solidFill>
              </a:rPr>
              <a:t>•  Standardized reports not yet schedulable with relative dates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0664" y="1417320"/>
            <a:ext cx="548640" cy="457200"/>
          </a:xfrm>
          <a:prstGeom prst="roundRect">
            <a:avLst>
              <a:gd name="adj" fmla="val 30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3D7A"/>
                </a:solidFill>
              </a:rPr>
              <a:t>S10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Runner in the VCN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Chase / infrastructure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so nightlies never skip</a:t>
            </a:r>
          </a:p>
        </p:txBody>
      </p:sp>
      <p:sp>
        <p:nvSpPr>
          <p:cNvPr id="6" name="Oval 5"/>
          <p:cNvSpPr/>
          <p:nvPr/>
        </p:nvSpPr>
        <p:spPr>
          <a:xfrm>
            <a:off x="2061972" y="4864608"/>
            <a:ext cx="822960" cy="822960"/>
          </a:xfrm>
          <a:prstGeom prst="ellipse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542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Capacity gate tool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Chase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size, TEMP cap, go or no-go</a:t>
            </a:r>
          </a:p>
        </p:txBody>
      </p:sp>
      <p:sp>
        <p:nvSpPr>
          <p:cNvPr id="8" name="Oval 7"/>
          <p:cNvSpPr/>
          <p:nvPr/>
        </p:nvSpPr>
        <p:spPr>
          <a:xfrm>
            <a:off x="5856732" y="4864608"/>
            <a:ext cx="822960" cy="822960"/>
          </a:xfrm>
          <a:prstGeom prst="ellipse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3018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First client onboarded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Chase / DBAs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schemas, service account, the in-database warehouse</a:t>
            </a:r>
          </a:p>
        </p:txBody>
      </p:sp>
      <p:sp>
        <p:nvSpPr>
          <p:cNvPr id="10" name="Oval 9"/>
          <p:cNvSpPr/>
          <p:nvPr/>
        </p:nvSpPr>
        <p:spPr>
          <a:xfrm>
            <a:off x="9651492" y="4864608"/>
            <a:ext cx="822960" cy="822960"/>
          </a:xfrm>
          <a:prstGeom prst="ellipse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2494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Standardized reports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Chase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C5D69"/>
                </a:solidFill>
              </a:rPr>
              <a:t>interactive tables, as-of, relative dates</a:t>
            </a:r>
          </a:p>
        </p:txBody>
      </p:sp>
      <p:sp>
        <p:nvSpPr>
          <p:cNvPr id="12" name="Oval 11"/>
          <p:cNvSpPr/>
          <p:nvPr/>
        </p:nvSpPr>
        <p:spPr>
          <a:xfrm>
            <a:off x="13446252" y="4864608"/>
            <a:ext cx="822960" cy="822960"/>
          </a:xfrm>
          <a:prstGeom prst="ellipse">
            <a:avLst/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919704" y="6099048"/>
            <a:ext cx="3465576" cy="3383280"/>
          </a:xfrm>
          <a:prstGeom prst="roundRect">
            <a:avLst>
              <a:gd name="adj" fmla="val 12000"/>
            </a:avLst>
          </a:prstGeom>
          <a:solidFill>
            <a:srgbClr val="FFA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Prod coverage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3D7A"/>
                </a:solidFill>
              </a:rPr>
              <a:t>Chase / clients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3D7A"/>
                </a:solidFill>
              </a:rPr>
              <a:t>every prod org, domains on the warehouse</a:t>
            </a:r>
          </a:p>
        </p:txBody>
      </p:sp>
      <p:sp>
        <p:nvSpPr>
          <p:cNvPr id="14" name="Oval 13"/>
          <p:cNvSpPr/>
          <p:nvPr/>
        </p:nvSpPr>
        <p:spPr>
          <a:xfrm>
            <a:off x="17241012" y="4864608"/>
            <a:ext cx="822960" cy="822960"/>
          </a:xfrm>
          <a:prstGeom prst="ellipse">
            <a:avLst/>
          </a:prstGeom>
          <a:solidFill>
            <a:srgbClr val="F5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3D7A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1828800"/>
            <a:ext cx="18288000" cy="237744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5EFE9"/>
                </a:solidFill>
              </a:rPr>
              <a:t>In the order that unblocks the most.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384048"/>
            <a:ext cx="13716000" cy="96012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0">
                <a:solidFill>
                  <a:srgbClr val="F5EFE9"/>
                </a:solidFill>
              </a:rPr>
              <a:t>Read These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7488" y="10707624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F5EFE9"/>
                </a:solidFill>
              </a:rPr>
              <a:t>@2026, Origin Utility, Inc / Proprietary &amp; Confidential / Internal Use Only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" y="1828800"/>
          <a:ext cx="18653760" cy="8138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0"/>
                <a:gridCol w="10972800"/>
              </a:tblGrid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200" b="1">
                          <a:solidFill>
                            <a:srgbClr val="F5EFE9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B3D7A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originba_dbt/CLAUDE.md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rules of the data layer and where everything is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originba_dbt/docs/ORACLE_NATIVE_ROLLOUT_PLAN.md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in-database shape, its phases and what blocks 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originba_dbt/.claude/skills/oracle-native-rollout/SKILL.md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per-client onboarding runbook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originba_dbt/.claude/skills/oracle-nightly-operations/SKILL.md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How to read a red night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originba_dbt/scripts: build_oracle_warehouse.sh, nightly_oracle_build.sh, weekly_qa.sh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three entry points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originba_dbt/clients.yml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one client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OriginBA-3/.claude/skills/jaspersoft-server-operations/SKILL.md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server estate, every tool, every dated lesson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OriginBA-3/jaspersoft/docs/origin_dev_to_origin_test_promotion_plan.md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promotion path, proven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OriginBA-3/sql/performance/snapshots/deployment_steps/README.md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snapshot layer, step by step</a:t>
                      </a:r>
                    </a:p>
                  </a:txBody>
                  <a:tcPr>
                    <a:solidFill>
                      <a:srgbClr val="F5EFE9"/>
                    </a:solidFill>
                  </a:tcPr>
                </a:tc>
              </a:tr>
              <a:tr h="739832"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1">
                          <a:solidFill>
                            <a:srgbClr val="0B3D7A"/>
                          </a:solidFill>
                        </a:rPr>
                        <a:t>OriginBA-3/jaspersoft/docs/ba_automated_deployment_end_to_end.md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37160" rIns="137160" tIns="54864" bIns="54864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900" b="0">
                          <a:solidFill>
                            <a:srgbClr val="4C5D69"/>
                          </a:solidFill>
                        </a:rPr>
                        <a:t>The written version of this deck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igin Utility 2025">
      <a:dk1>
        <a:srgbClr val="006DA7"/>
      </a:dk1>
      <a:lt1>
        <a:srgbClr val="F5EFE9"/>
      </a:lt1>
      <a:dk2>
        <a:srgbClr val="006DA7"/>
      </a:dk2>
      <a:lt2>
        <a:srgbClr val="F4EFE9"/>
      </a:lt2>
      <a:accent1>
        <a:srgbClr val="FFA418"/>
      </a:accent1>
      <a:accent2>
        <a:srgbClr val="E9860D"/>
      </a:accent2>
      <a:accent3>
        <a:srgbClr val="BD5720"/>
      </a:accent3>
      <a:accent4>
        <a:srgbClr val="DBD3CC"/>
      </a:accent4>
      <a:accent5>
        <a:srgbClr val="BDB2AC"/>
      </a:accent5>
      <a:accent6>
        <a:srgbClr val="8E837E"/>
      </a:accent6>
      <a:hlink>
        <a:srgbClr val="FFA418"/>
      </a:hlink>
      <a:folHlink>
        <a:srgbClr val="BD572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-Deck Template-V1.1.0" id="{543EA141-4271-724E-B203-433C213E4E47}" vid="{7CB0B064-B97B-A240-BD28-B45B388501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EC55FE308B3F479D76AF450841754E" ma:contentTypeVersion="12" ma:contentTypeDescription="Create a new document." ma:contentTypeScope="" ma:versionID="e790027c7c34249bb98666c8c9119eaa">
  <xsd:schema xmlns:xsd="http://www.w3.org/2001/XMLSchema" xmlns:xs="http://www.w3.org/2001/XMLSchema" xmlns:p="http://schemas.microsoft.com/office/2006/metadata/properties" xmlns:ns2="12ca6ba9-4514-42dd-bdc3-b6324cc23e5f" xmlns:ns3="d357c37f-953d-43f0-9d5c-41b6999fc31b" targetNamespace="http://schemas.microsoft.com/office/2006/metadata/properties" ma:root="true" ma:fieldsID="bd009a1edaaf9ab5d6f665727a0fec8b" ns2:_="" ns3:_="">
    <xsd:import namespace="12ca6ba9-4514-42dd-bdc3-b6324cc23e5f"/>
    <xsd:import namespace="d357c37f-953d-43f0-9d5c-41b6999fc3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a6ba9-4514-42dd-bdc3-b6324cc23e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57c37f-953d-43f0-9d5c-41b6999fc31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F15CB5-6569-4BED-87D8-DF74EBB45C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4E750B-86ED-4509-BE57-275555DF1C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ca6ba9-4514-42dd-bdc3-b6324cc23e5f"/>
    <ds:schemaRef ds:uri="d357c37f-953d-43f0-9d5c-41b6999fc3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7C8049-9568-4DE9-AB0C-6845984CADEA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d357c37f-953d-43f0-9d5c-41b6999fc31b"/>
    <ds:schemaRef ds:uri="http://www.w3.org/XML/1998/namespace"/>
    <ds:schemaRef ds:uri="12ca6ba9-4514-42dd-bdc3-b6324cc23e5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ORG-Deck Template-V1.1.0</Template>
  <TotalTime>574</TotalTime>
  <Words>528</Words>
  <Application>Microsoft Office PowerPoint</Application>
  <PresentationFormat>Custom</PresentationFormat>
  <Paragraphs>95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Delight Semi Bold</vt:lpstr>
      <vt:lpstr>Delight Regular</vt:lpstr>
      <vt:lpstr>Arial</vt:lpstr>
      <vt:lpstr>Aptos</vt:lpstr>
      <vt:lpstr>Delight Medium</vt:lpstr>
      <vt:lpstr>Office Theme</vt:lpstr>
      <vt:lpstr>DataVergence App</vt:lpstr>
      <vt:lpstr>PowerPoint Presentation</vt:lpstr>
      <vt:lpstr>PowerPoint Presentation</vt:lpstr>
      <vt:lpstr>What is being solved?</vt:lpstr>
      <vt:lpstr>PowerPoint Presentation</vt:lpstr>
      <vt:lpstr>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Geraldine Roddie</dc:creator>
  <cp:lastModifiedBy>Reed Navara</cp:lastModifiedBy>
  <cp:revision>4</cp:revision>
  <dcterms:created xsi:type="dcterms:W3CDTF">2025-11-19T15:32:52Z</dcterms:created>
  <dcterms:modified xsi:type="dcterms:W3CDTF">2026-09-25T00:07:49Z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2025-09-02T00:00:00Z</vt:filetime>
  </property>
  <property fmtid="{D5CDD505-2E9C-101B-9397-08002B2CF9AE}" pid="3" name="Creator">
    <vt:lpwstr>Adobe InDesign 20.5 (Macintosh)</vt:lpwstr>
  </property>
  <property fmtid="{D5CDD505-2E9C-101B-9397-08002B2CF9AE}" pid="4" name="LastSaved">
    <vt:filetime>2025-09-02T00:00:00Z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0x01010000EC55FE308B3F479D76AF450841754E</vt:lpwstr>
  </property>
  <property fmtid="{D5CDD505-2E9C-101B-9397-08002B2CF9AE}" pid="7" name="MediaServiceImageTags">
    <vt:lpwstr/>
  </property>
</Properties>
</file>