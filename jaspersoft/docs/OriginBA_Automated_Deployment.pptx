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006FAC"/>
              </a:solidFill>
              <a:ln>
                <a:noFill/>
              </a:ln>
            </c:spPr>
          </c:dPt>
          <c:dPt>
            <c:idx val="1"/>
            <c:spPr>
              <a:solidFill>
                <a:srgbClr val="5DA5B0"/>
              </a:solidFill>
              <a:ln>
                <a:noFill/>
              </a:ln>
            </c:spPr>
          </c:dPt>
          <c:dPt>
            <c:idx val="2"/>
            <c:spPr>
              <a:solidFill>
                <a:srgbClr val="F2F5F8"/>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a:solidFill>
                  <a:srgbClr val="E6ECF2"/>
                </a:solidFill>
              </a:rPr>
              <a:t>Standard Offering Release 26</a:t>
            </a:r>
          </a:p>
        </p:txBody>
      </p:sp>
      <p:sp>
        <p:nvSpPr>
          <p:cNvPr id="4" name="TextBox 3"/>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E6ECF2"/>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What Ships In Release 26</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Snapshot layer</a:t>
            </a:r>
          </a:p>
          <a:p>
            <a:pPr algn="l">
              <a:spcAft>
                <a:spcPts val="600"/>
              </a:spcAft>
            </a:pPr>
            <a:r>
              <a:rPr sz="1500" b="0">
                <a:solidFill>
                  <a:srgbClr val="56636E"/>
                </a:solidFill>
              </a:rPr>
              <a:t>built inside the client's CISADM</a:t>
            </a:r>
          </a:p>
        </p:txBody>
      </p:sp>
      <p:sp>
        <p:nvSpPr>
          <p:cNvPr id="8" name="Rounded Rectangle 7"/>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8 reporting tables (the active 8) loaded once from the retained history</a:t>
            </a:r>
          </a:p>
        </p:txBody>
      </p:sp>
      <p:sp>
        <p:nvSpPr>
          <p:cNvPr id="9" name="Rounded Rectangle 8"/>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Refresh procedures: the retained 24 months once, then a rolling window</a:t>
            </a:r>
          </a:p>
        </p:txBody>
      </p:sp>
      <p:sp>
        <p:nvSpPr>
          <p:cNvPr id="10" name="Rounded Rectangle 9"/>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Database scheduler jobs, twice daily, staggered so they never overlap</a:t>
            </a:r>
          </a:p>
        </p:txBody>
      </p:sp>
      <p:cxnSp>
        <p:nvCxnSpPr>
          <p:cNvPr id="11" name="Connector 10"/>
          <p:cNvCxnSpPr/>
          <p:nvPr/>
        </p:nvCxnSpPr>
        <p:spPr>
          <a:xfrm>
            <a:off x="10058400" y="3483864"/>
            <a:ext cx="0" cy="301752"/>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0664" y="384048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Standard Offering</a:t>
            </a:r>
          </a:p>
          <a:p>
            <a:pPr algn="l">
              <a:spcAft>
                <a:spcPts val="600"/>
              </a:spcAft>
            </a:pPr>
            <a:r>
              <a:rPr sz="1500" b="0">
                <a:solidFill>
                  <a:srgbClr val="56636E"/>
                </a:solidFill>
              </a:rPr>
              <a:t>the Jaspersoft content</a:t>
            </a:r>
          </a:p>
        </p:txBody>
      </p:sp>
      <p:sp>
        <p:nvSpPr>
          <p:cNvPr id="14" name="Rounded Rectangle 13"/>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9 workstream folders, 53 domains, 156 Ad Hoc views, 14 dashboards</a:t>
            </a:r>
          </a:p>
        </p:txBody>
      </p:sp>
      <p:sp>
        <p:nvSpPr>
          <p:cNvPr id="15" name="Rounded Rectangle 14"/>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Standardized Reports folder of scheduled SQL reports</a:t>
            </a:r>
          </a:p>
        </p:txBody>
      </p:sp>
      <p:sp>
        <p:nvSpPr>
          <p:cNvPr id="16" name="Rounded Rectangle 15"/>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Theme, input controls, saved filters, folder permissions</a:t>
            </a:r>
          </a:p>
        </p:txBody>
      </p:sp>
      <p:cxnSp>
        <p:nvCxnSpPr>
          <p:cNvPr id="17" name="Connector 16"/>
          <p:cNvCxnSpPr/>
          <p:nvPr/>
        </p:nvCxnSpPr>
        <p:spPr>
          <a:xfrm>
            <a:off x="10058400" y="5495544"/>
            <a:ext cx="0" cy="301752"/>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0664" y="585216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Per client</a:t>
            </a:r>
          </a:p>
          <a:p>
            <a:pPr algn="l">
              <a:spcAft>
                <a:spcPts val="600"/>
              </a:spcAft>
            </a:pPr>
            <a:r>
              <a:rPr sz="1500" b="0">
                <a:solidFill>
                  <a:srgbClr val="56636E"/>
                </a:solidFill>
              </a:rPr>
              <a:t>one org, one datasource, one proof</a:t>
            </a:r>
          </a:p>
        </p:txBody>
      </p:sp>
      <p:sp>
        <p:nvSpPr>
          <p:cNvPr id="20" name="Rounded Rectangle 19"/>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Authored on Origin_DEV, proven on Origin_TEST before any client</a:t>
            </a:r>
          </a:p>
        </p:txBody>
      </p:sp>
      <p:sp>
        <p:nvSpPr>
          <p:cNvPr id="21" name="Rounded Rectangle 20"/>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Client test org first, then the client prod org</a:t>
            </a:r>
          </a:p>
        </p:txBody>
      </p:sp>
      <p:sp>
        <p:nvSpPr>
          <p:cNvPr id="22" name="Rounded Rectangle 21"/>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Ellensburg, CityCorp, Newark on prod; Fond du Lac and College Station next</a:t>
            </a:r>
          </a:p>
        </p:txBody>
      </p:sp>
      <p:cxnSp>
        <p:nvCxnSpPr>
          <p:cNvPr id="23" name="Connector 22"/>
          <p:cNvCxnSpPr/>
          <p:nvPr/>
        </p:nvCxnSpPr>
        <p:spPr>
          <a:xfrm>
            <a:off x="10058400" y="7507224"/>
            <a:ext cx="0" cy="301751"/>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40664" y="786384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Proof</a:t>
            </a:r>
          </a:p>
          <a:p>
            <a:pPr algn="l">
              <a:spcAft>
                <a:spcPts val="600"/>
              </a:spcAft>
            </a:pPr>
            <a:r>
              <a:rPr sz="1500" b="0">
                <a:solidFill>
                  <a:srgbClr val="56636E"/>
                </a:solidFill>
              </a:rPr>
              <a:t>before anything counts as done</a:t>
            </a:r>
          </a:p>
        </p:txBody>
      </p:sp>
      <p:sp>
        <p:nvSpPr>
          <p:cNvPr id="26" name="Rounded Rectangle 25"/>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Install gates in the database: no empty table, no duplicate key, balances tie</a:t>
            </a:r>
          </a:p>
        </p:txBody>
      </p:sp>
      <p:sp>
        <p:nvSpPr>
          <p:cNvPr id="27" name="Rounded Rectangle 26"/>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sweep executes every view, report and dashboard on the org</a:t>
            </a:r>
          </a:p>
        </p:txBody>
      </p:sp>
      <p:sp>
        <p:nvSpPr>
          <p:cNvPr id="28" name="Rounded Rectangle 27"/>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Before: Every Step By Hand</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 each report</a:t>
            </a:r>
          </a:p>
          <a:p>
            <a:pPr algn="l">
              <a:spcAft>
                <a:spcPts val="600"/>
              </a:spcAft>
            </a:pPr>
            <a:r>
              <a:rPr sz="1600" b="0">
                <a:solidFill>
                  <a:srgbClr val="56636E"/>
                </a:solidFill>
              </a:rPr>
              <a:t>one at a time from the server UI, folder by folder, per client</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Open in Notepad++</a:t>
            </a:r>
          </a:p>
          <a:p>
            <a:pPr algn="l">
              <a:spcAft>
                <a:spcPts val="600"/>
              </a:spcAft>
            </a:pPr>
            <a:r>
              <a:rPr sz="2000" b="0">
                <a:solidFill>
                  <a:srgbClr val="56636E"/>
                </a:solidFill>
              </a:rPr>
              <a:t>find every server endpoint, org path and folder path by eye</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Replace all</a:t>
            </a:r>
          </a:p>
          <a:p>
            <a:pPr algn="l">
              <a:spcAft>
                <a:spcPts val="600"/>
              </a:spcAft>
            </a:pPr>
            <a:r>
              <a:rPr sz="1600" b="0">
                <a:solidFill>
                  <a:srgbClr val="56636E"/>
                </a:solidFill>
              </a:rPr>
              <a:t>host, org, folder and datasource strings, in every file, hoping nothing was missed</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4. Export the datasource</a:t>
            </a:r>
          </a:p>
          <a:p>
            <a:pPr algn="l">
              <a:spcAft>
                <a:spcPts val="600"/>
              </a:spcAft>
            </a:pPr>
            <a:r>
              <a:rPr sz="1600" b="0">
                <a:solidFill>
                  <a:srgbClr val="56636E"/>
                </a:solidFill>
              </a:rPr>
              <a:t>separately from the target server, then hand-edit its reference into each file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5. Re-zip and import</a:t>
            </a:r>
          </a:p>
          <a:p>
            <a:pPr algn="l">
              <a:spcAft>
                <a:spcPts val="600"/>
              </a:spcAft>
            </a:pPr>
            <a:r>
              <a:rPr sz="2000" b="0">
                <a:solidFill>
                  <a:srgbClr val="56636E"/>
                </a:solidFill>
              </a:rPr>
              <a:t>read the import log, fix the file, import again</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Open every report</a:t>
            </a:r>
          </a:p>
          <a:p>
            <a:pPr algn="l">
              <a:spcAft>
                <a:spcPts val="600"/>
              </a:spcAft>
            </a:pPr>
            <a:r>
              <a:rPr sz="1600" b="0">
                <a:solidFill>
                  <a:srgbClr val="56636E"/>
                </a:solidFill>
              </a:rPr>
              <a:t>click through each one; a broken topic only shows in the editor</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Fix and repeat</a:t>
            </a:r>
          </a:p>
          <a:p>
            <a:pPr algn="l">
              <a:spcAft>
                <a:spcPts val="600"/>
              </a:spcAft>
            </a:pPr>
            <a:r>
              <a:rPr sz="1600" b="0">
                <a:solidFill>
                  <a:srgbClr val="56636E"/>
                </a:solidFill>
              </a:rPr>
              <a:t>back to step 2 for whatever broke; no record of what changed</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8. Next client</a:t>
            </a:r>
          </a:p>
          <a:p>
            <a:pPr algn="l">
              <a:spcAft>
                <a:spcPts val="600"/>
              </a:spcAft>
            </a:pPr>
            <a:r>
              <a:rPr sz="2000" b="0">
                <a:solidFill>
                  <a:srgbClr val="56636E"/>
                </a:solidFill>
              </a:rPr>
              <a:t>the same again for every org on every server</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cost</a:t>
            </a:r>
          </a:p>
          <a:p>
            <a:pPr algn="l">
              <a:spcAft>
                <a:spcPts val="600"/>
              </a:spcAft>
            </a:pPr>
            <a:r>
              <a:rPr sz="1600" b="0">
                <a:solidFill>
                  <a:srgbClr val="56636E"/>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5" name="Rounded Rectangle 14"/>
          <p:cNvSpPr/>
          <p:nvPr/>
        </p:nvSpPr>
        <p:spPr>
          <a:xfrm>
            <a:off x="15435072" y="5806440"/>
            <a:ext cx="3931920" cy="566928"/>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Days and days of hand edits</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Missing</a:t>
            </a:r>
          </a:p>
        </p:txBody>
      </p:sp>
      <p:sp>
        <p:nvSpPr>
          <p:cNvPr id="24" name="Rounded Rectangle 23"/>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test</a:t>
            </a:r>
          </a:p>
        </p:txBody>
      </p:sp>
      <p:sp>
        <p:nvSpPr>
          <p:cNvPr id="25" name="Rounded Rectangle 24"/>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record of the change</a:t>
            </a:r>
          </a:p>
        </p:txBody>
      </p:sp>
      <p:sp>
        <p:nvSpPr>
          <p:cNvPr id="26" name="Rounded Rectangle 25"/>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rollback</a:t>
            </a:r>
          </a:p>
        </p:txBody>
      </p:sp>
      <p:sp>
        <p:nvSpPr>
          <p:cNvPr id="27" name="Rounded Rectangle 26"/>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two runs alike</a:t>
            </a:r>
          </a:p>
        </p:txBody>
      </p:sp>
      <p:sp>
        <p:nvSpPr>
          <p:cNvPr id="28" name="Rounded Rectangle 27"/>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Now: Every Step Is A Tool With A Test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S3</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 by API</a:t>
            </a:r>
          </a:p>
          <a:p>
            <a:pPr algn="l">
              <a:spcAft>
                <a:spcPts val="600"/>
              </a:spcAft>
            </a:pPr>
            <a:r>
              <a:rPr sz="2000" b="0">
                <a:solidFill>
                  <a:srgbClr val="56636E"/>
                </a:solidFill>
              </a:rPr>
              <a:t>the whole folder in one export task, polled and downloaded</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Rewrite by rule</a:t>
            </a:r>
          </a:p>
          <a:p>
            <a:pPr algn="l">
              <a:spcAft>
                <a:spcPts val="600"/>
              </a:spcAft>
            </a:pPr>
            <a:r>
              <a:rPr sz="1600" b="0">
                <a:solidFill>
                  <a:srgbClr val="56636E"/>
                </a:solidFill>
              </a:rPr>
              <a:t>every endpoint, org path and folder replaced by a tested function, longest match first</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3. Carry the datasource</a:t>
            </a:r>
          </a:p>
          <a:p>
            <a:pPr algn="l">
              <a:spcAft>
                <a:spcPts val="600"/>
              </a:spcAft>
            </a:pPr>
            <a:r>
              <a:rPr sz="1600" b="0">
                <a:solidFill>
                  <a:srgbClr val="56636E"/>
                </a:solidFill>
              </a:rPr>
              <a:t>the target's own datasource export goes into the package byte for byte</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4. Verify before import</a:t>
            </a:r>
          </a:p>
          <a:p>
            <a:pPr algn="l">
              <a:spcAft>
                <a:spcPts val="600"/>
              </a:spcAft>
            </a:pPr>
            <a:r>
              <a:rPr sz="1600" b="0">
                <a:solidFill>
                  <a:srgbClr val="56636E"/>
                </a:solidFill>
              </a:rPr>
              <a:t>nothing from the source host survives; every reference exists; every field resolves</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5. Import and read back</a:t>
            </a:r>
          </a:p>
          <a:p>
            <a:pPr algn="l">
              <a:spcAft>
                <a:spcPts val="600"/>
              </a:spcAft>
            </a:pPr>
            <a:r>
              <a:rPr sz="1600" b="0">
                <a:solidFill>
                  <a:srgbClr val="56636E"/>
                </a:solidFill>
              </a:rPr>
              <a:t>re-exported and compared byte for byte; an importer warning is a failure</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Execute everything</a:t>
            </a:r>
          </a:p>
          <a:p>
            <a:pPr algn="l">
              <a:spcAft>
                <a:spcPts val="600"/>
              </a:spcAft>
            </a:pPr>
            <a:r>
              <a:rPr sz="1600" b="0">
                <a:solidFill>
                  <a:srgbClr val="56636E"/>
                </a:solidFill>
              </a:rPr>
              <a:t>every view queried, every report rendered, every domain probed for rows</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Sign-off generated</a:t>
            </a:r>
          </a:p>
          <a:p>
            <a:pPr algn="l">
              <a:spcAft>
                <a:spcPts val="600"/>
              </a:spcAft>
            </a:pPr>
            <a:r>
              <a:rPr sz="1600" b="0">
                <a:solidFill>
                  <a:srgbClr val="56636E"/>
                </a:solidFill>
              </a:rPr>
              <a:t>PASS, EMPTY or FAIL per resource with timings, one document per org</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8. Same result every time</a:t>
            </a:r>
          </a:p>
          <a:p>
            <a:pPr algn="l">
              <a:spcAft>
                <a:spcPts val="600"/>
              </a:spcAft>
            </a:pPr>
            <a:r>
              <a:rPr sz="1600" b="0">
                <a:solidFill>
                  <a:srgbClr val="56636E"/>
                </a:solidFill>
              </a:rPr>
              <a:t>the same tests, the same order, the same evidence, for every org</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Why the result is consistent</a:t>
            </a:r>
          </a:p>
          <a:p>
            <a:pPr algn="l">
              <a:spcAft>
                <a:spcPts val="600"/>
              </a:spcAft>
            </a:pPr>
            <a:r>
              <a:rPr sz="1600" b="0">
                <a:solidFill>
                  <a:srgbClr val="56636E"/>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5" name="Rounded Rectangle 14"/>
          <p:cNvSpPr/>
          <p:nvPr/>
        </p:nvSpPr>
        <p:spPr>
          <a:xfrm>
            <a:off x="15435072" y="5806440"/>
            <a:ext cx="3931920" cy="566928"/>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Hours, with proof</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import without warnings</a:t>
            </a:r>
          </a:p>
        </p:txBody>
      </p:sp>
      <p:sp>
        <p:nvSpPr>
          <p:cNvPr id="25" name="Rounded Rectangle 24"/>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re-export byte-equal</a:t>
            </a:r>
          </a:p>
        </p:txBody>
      </p:sp>
      <p:sp>
        <p:nvSpPr>
          <p:cNvPr id="26" name="Rounded Rectangle 25"/>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every resource executes</a:t>
            </a:r>
          </a:p>
        </p:txBody>
      </p:sp>
      <p:sp>
        <p:nvSpPr>
          <p:cNvPr id="27" name="Rounded Rectangle 26"/>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Two Weeks Then, Hours Now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S4</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Before: by hand, one to two weeks per client</a:t>
            </a:r>
          </a:p>
        </p:txBody>
      </p:sp>
      <p:sp>
        <p:nvSpPr>
          <p:cNvPr id="7" name="TextBox 6"/>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Now: AI-built tools, hours, repeatable</a:t>
            </a:r>
          </a:p>
        </p:txBody>
      </p:sp>
      <p:sp>
        <p:nvSpPr>
          <p:cNvPr id="8" name="Rounded Rectangle 7"/>
          <p:cNvSpPr/>
          <p:nvPr/>
        </p:nvSpPr>
        <p:spPr>
          <a:xfrm>
            <a:off x="740664" y="2560320"/>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Snapshot deployment: nineteen scripts run one by one in SQL Developer, baselines watched in a session that could time out, validation totals copied into spreadsheets</a:t>
            </a:r>
          </a:p>
        </p:txBody>
      </p:sp>
      <p:sp>
        <p:nvSpPr>
          <p:cNvPr id="9" name="Rounded Rectangle 8"/>
          <p:cNvSpPr/>
          <p:nvPr/>
        </p:nvSpPr>
        <p:spPr>
          <a:xfrm>
            <a:off x="10607040" y="2560320"/>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runner command per step; the eight baselines submitted as parallel database jobs and gated; every step logged per client</a:t>
            </a:r>
          </a:p>
          <a:p>
            <a:pPr algn="l">
              <a:spcAft>
                <a:spcPts val="600"/>
              </a:spcAft>
            </a:pPr>
            <a:r>
              <a:rPr sz="1500" b="0">
                <a:solidFill>
                  <a:srgbClr val="56636E"/>
                </a:solidFill>
              </a:rPr>
              <a:t>baseline ready gate, install gates, 12-month parity, duplicate-key safety</a:t>
            </a:r>
          </a:p>
        </p:txBody>
      </p:sp>
      <p:cxnSp>
        <p:nvCxnSpPr>
          <p:cNvPr id="10" name="Connector 9"/>
          <p:cNvCxnSpPr/>
          <p:nvPr/>
        </p:nvCxnSpPr>
        <p:spPr>
          <a:xfrm>
            <a:off x="9646920" y="3182111"/>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4078224"/>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Standard Offering to a client: export, hand-edit the package in Notepad++, swap the datasource by hand, import, open the reports one at a time</a:t>
            </a:r>
          </a:p>
        </p:txBody>
      </p:sp>
      <p:sp>
        <p:nvSpPr>
          <p:cNvPr id="12" name="Rounded Rectangle 11"/>
          <p:cNvSpPr/>
          <p:nvPr/>
        </p:nvSpPr>
        <p:spPr>
          <a:xfrm>
            <a:off x="10607040" y="4078224"/>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promotion command: the datasource is the target's own export, every resource is re-exported, compared and executed</a:t>
            </a:r>
          </a:p>
          <a:p>
            <a:pPr algn="l">
              <a:spcAft>
                <a:spcPts val="600"/>
              </a:spcAft>
            </a:pPr>
            <a:r>
              <a:rPr sz="1500" b="0">
                <a:solidFill>
                  <a:srgbClr val="56636E"/>
                </a:solidFill>
              </a:rPr>
              <a:t>Ellensburg prod in 11 minutes, Newark in 21, 0 errors</a:t>
            </a:r>
          </a:p>
        </p:txBody>
      </p:sp>
      <p:cxnSp>
        <p:nvCxnSpPr>
          <p:cNvPr id="13" name="Connector 12"/>
          <p:cNvCxnSpPr/>
          <p:nvPr/>
        </p:nvCxnSpPr>
        <p:spPr>
          <a:xfrm>
            <a:off x="9646920" y="4700016"/>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 y="5596128"/>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Moving a client's reports between environments: a day per batch, and breakage found later by the users</a:t>
            </a:r>
          </a:p>
        </p:txBody>
      </p:sp>
      <p:sp>
        <p:nvSpPr>
          <p:cNvPr id="15" name="Rounded Rectangle 14"/>
          <p:cNvSpPr/>
          <p:nvPr/>
        </p:nvSpPr>
        <p:spPr>
          <a:xfrm>
            <a:off x="10607040" y="5596128"/>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21 College Station reports and their 13 domains moved prod to test in one morning, byte-equal, prod never written</a:t>
            </a:r>
          </a:p>
          <a:p>
            <a:pPr algn="l">
              <a:spcAft>
                <a:spcPts val="600"/>
              </a:spcAft>
            </a:pPr>
            <a:r>
              <a:rPr sz="1500" b="0">
                <a:solidFill>
                  <a:srgbClr val="56636E"/>
                </a:solidFill>
              </a:rPr>
              <a:t>22 executions on test, every domain and view matched</a:t>
            </a:r>
          </a:p>
        </p:txBody>
      </p:sp>
      <p:cxnSp>
        <p:nvCxnSpPr>
          <p:cNvPr id="16" name="Connector 15"/>
          <p:cNvCxnSpPr/>
          <p:nvPr/>
        </p:nvCxnSpPr>
        <p:spPr>
          <a:xfrm>
            <a:off x="9646920" y="621792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7114032"/>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A domain change on every client: the Domain Designer opened per org, days of clicking, nothing recorded</a:t>
            </a:r>
          </a:p>
        </p:txBody>
      </p:sp>
      <p:sp>
        <p:nvSpPr>
          <p:cNvPr id="18" name="Rounded Rectangle 17"/>
          <p:cNvSpPr/>
          <p:nvPr/>
        </p:nvSpPr>
        <p:spPr>
          <a:xfrm>
            <a:off x="10607040" y="7114032"/>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patch definition, an additive-only guard, applied to six orgs with seven proofs each and a one-command rollback</a:t>
            </a:r>
          </a:p>
          <a:p>
            <a:pPr algn="l">
              <a:spcAft>
                <a:spcPts val="600"/>
              </a:spcAft>
            </a:pPr>
            <a:r>
              <a:rPr sz="1500" b="0">
                <a:solidFill>
                  <a:srgbClr val="56636E"/>
                </a:solidFill>
              </a:rPr>
              <a:t>read-back byte-equal, bound views run, rows tie to Oracle</a:t>
            </a:r>
          </a:p>
        </p:txBody>
      </p:sp>
      <p:cxnSp>
        <p:nvCxnSpPr>
          <p:cNvPr id="19" name="Connector 18"/>
          <p:cNvCxnSpPr/>
          <p:nvPr/>
        </p:nvCxnSpPr>
        <p:spPr>
          <a:xfrm>
            <a:off x="9646920" y="7735824"/>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0664" y="8631936"/>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Validation sign-off: assembled from screenshots over days, different every time</a:t>
            </a:r>
          </a:p>
        </p:txBody>
      </p:sp>
      <p:sp>
        <p:nvSpPr>
          <p:cNvPr id="21" name="Rounded Rectangle 20"/>
          <p:cNvSpPr/>
          <p:nvPr/>
        </p:nvSpPr>
        <p:spPr>
          <a:xfrm>
            <a:off x="10607040" y="8631936"/>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Generated from the sweep in minutes: PASS, EMPTY or FAIL per row with timings and the evidence file beside it</a:t>
            </a:r>
          </a:p>
          <a:p>
            <a:pPr algn="l">
              <a:spcAft>
                <a:spcPts val="600"/>
              </a:spcAft>
            </a:pPr>
            <a:r>
              <a:rPr sz="1500" b="0">
                <a:solidFill>
                  <a:srgbClr val="56636E"/>
                </a:solidFill>
              </a:rPr>
              <a:t>one document per org, identical structure every time</a:t>
            </a:r>
          </a:p>
        </p:txBody>
      </p:sp>
      <p:cxnSp>
        <p:nvCxnSpPr>
          <p:cNvPr id="22" name="Connector 21"/>
          <p:cNvCxnSpPr/>
          <p:nvPr/>
        </p:nvCxnSpPr>
        <p:spPr>
          <a:xfrm>
            <a:off x="9646920" y="9253728"/>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Time Per Client, To Scale</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S5</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E6ECF2"/>
                </a:solidFill>
              </a:rPr>
              <a:t>Working days by hand (cream) against hours now (orange), drawn to the same scale</a:t>
            </a:r>
          </a:p>
        </p:txBody>
      </p:sp>
      <p:sp>
        <p:nvSpPr>
          <p:cNvPr id="7" name="TextBox 6"/>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Standard Offering to a client org</a:t>
            </a:r>
          </a:p>
          <a:p>
            <a:pPr algn="l">
              <a:spcAft>
                <a:spcPts val="600"/>
              </a:spcAft>
            </a:pPr>
            <a:r>
              <a:rPr sz="1400" b="0">
                <a:solidFill>
                  <a:srgbClr val="E6ECF2"/>
                </a:solidFill>
              </a:rPr>
              <a:t>export, rewrite, datasource, import, verify, execute, sign off</a:t>
            </a:r>
          </a:p>
        </p:txBody>
      </p:sp>
      <p:sp>
        <p:nvSpPr>
          <p:cNvPr id="8" name="Rounded Rectangle 7"/>
          <p:cNvSpPr/>
          <p:nvPr/>
        </p:nvSpPr>
        <p:spPr>
          <a:xfrm>
            <a:off x="5852160" y="2514600"/>
            <a:ext cx="12070080"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one to two weeks</a:t>
            </a:r>
          </a:p>
        </p:txBody>
      </p:sp>
      <p:sp>
        <p:nvSpPr>
          <p:cNvPr id="9" name="Rounded Rectangle 8"/>
          <p:cNvSpPr/>
          <p:nvPr/>
        </p:nvSpPr>
        <p:spPr>
          <a:xfrm>
            <a:off x="5852160" y="3105302"/>
            <a:ext cx="256032"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11 minutes at Ellensburg, 21 at Newark</a:t>
            </a:r>
          </a:p>
        </p:txBody>
      </p:sp>
      <p:sp>
        <p:nvSpPr>
          <p:cNvPr id="11" name="TextBox 10"/>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Snapshot layer to a client</a:t>
            </a:r>
          </a:p>
          <a:p>
            <a:pPr algn="l">
              <a:spcAft>
                <a:spcPts val="600"/>
              </a:spcAft>
            </a:pPr>
            <a:r>
              <a:rPr sz="1400" b="0">
                <a:solidFill>
                  <a:srgbClr val="E6ECF2"/>
                </a:solidFill>
              </a:rPr>
              <a:t>tables, procedures, baselines, gates, schedule</a:t>
            </a:r>
          </a:p>
        </p:txBody>
      </p:sp>
      <p:sp>
        <p:nvSpPr>
          <p:cNvPr id="12" name="Rounded Rectangle 11"/>
          <p:cNvSpPr/>
          <p:nvPr/>
        </p:nvSpPr>
        <p:spPr>
          <a:xfrm>
            <a:off x="5852160" y="3977640"/>
            <a:ext cx="6035040"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a working week</a:t>
            </a:r>
          </a:p>
        </p:txBody>
      </p:sp>
      <p:sp>
        <p:nvSpPr>
          <p:cNvPr id="13" name="Rounded Rectangle 12"/>
          <p:cNvSpPr/>
          <p:nvPr/>
        </p:nvSpPr>
        <p:spPr>
          <a:xfrm>
            <a:off x="5852160" y="4568342"/>
            <a:ext cx="603503"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 morning, then the baselines load unattended</a:t>
            </a:r>
          </a:p>
        </p:txBody>
      </p:sp>
      <p:sp>
        <p:nvSpPr>
          <p:cNvPr id="15" name="TextBox 14"/>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A domain change on every client</a:t>
            </a:r>
          </a:p>
          <a:p>
            <a:pPr algn="l">
              <a:spcAft>
                <a:spcPts val="600"/>
              </a:spcAft>
            </a:pPr>
            <a:r>
              <a:rPr sz="1400" b="0">
                <a:solidFill>
                  <a:srgbClr val="E6ECF2"/>
                </a:solidFill>
              </a:rPr>
              <a:t>one patch, additive-only, six orgs</a:t>
            </a:r>
          </a:p>
        </p:txBody>
      </p:sp>
      <p:sp>
        <p:nvSpPr>
          <p:cNvPr id="16" name="Rounded Rectangle 15"/>
          <p:cNvSpPr/>
          <p:nvPr/>
        </p:nvSpPr>
        <p:spPr>
          <a:xfrm>
            <a:off x="5852160" y="5440680"/>
            <a:ext cx="3621023"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days, one org at a time</a:t>
            </a:r>
          </a:p>
        </p:txBody>
      </p:sp>
      <p:sp>
        <p:nvSpPr>
          <p:cNvPr id="17" name="Rounded Rectangle 16"/>
          <p:cNvSpPr/>
          <p:nvPr/>
        </p:nvSpPr>
        <p:spPr>
          <a:xfrm>
            <a:off x="5852160" y="6031382"/>
            <a:ext cx="603503"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an afternoon for six orgs, seven proofs each</a:t>
            </a:r>
          </a:p>
        </p:txBody>
      </p:sp>
      <p:sp>
        <p:nvSpPr>
          <p:cNvPr id="19" name="TextBox 18"/>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A batch of reports between environments</a:t>
            </a:r>
          </a:p>
          <a:p>
            <a:pPr algn="l">
              <a:spcAft>
                <a:spcPts val="600"/>
              </a:spcAft>
            </a:pPr>
            <a:r>
              <a:rPr sz="1400" b="0">
                <a:solidFill>
                  <a:srgbClr val="E6ECF2"/>
                </a:solidFill>
              </a:rPr>
              <a:t>21 reports and their 13 domains</a:t>
            </a:r>
          </a:p>
        </p:txBody>
      </p:sp>
      <p:sp>
        <p:nvSpPr>
          <p:cNvPr id="20" name="Rounded Rectangle 19"/>
          <p:cNvSpPr/>
          <p:nvPr/>
        </p:nvSpPr>
        <p:spPr>
          <a:xfrm>
            <a:off x="5852160" y="6903720"/>
            <a:ext cx="1207007"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 day per batch</a:t>
            </a:r>
          </a:p>
        </p:txBody>
      </p:sp>
      <p:sp>
        <p:nvSpPr>
          <p:cNvPr id="22" name="Rounded Rectangle 21"/>
          <p:cNvSpPr/>
          <p:nvPr/>
        </p:nvSpPr>
        <p:spPr>
          <a:xfrm>
            <a:off x="5852160" y="7494422"/>
            <a:ext cx="452627"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one morning, byte-equal</a:t>
            </a:r>
          </a:p>
        </p:txBody>
      </p:sp>
      <p:sp>
        <p:nvSpPr>
          <p:cNvPr id="24" name="TextBox 23"/>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Validation sign-off</a:t>
            </a:r>
          </a:p>
          <a:p>
            <a:pPr algn="l">
              <a:spcAft>
                <a:spcPts val="600"/>
              </a:spcAft>
            </a:pPr>
            <a:r>
              <a:rPr sz="1400" b="0">
                <a:solidFill>
                  <a:srgbClr val="E6ECF2"/>
                </a:solidFill>
              </a:rPr>
              <a:t>one document per org</a:t>
            </a:r>
          </a:p>
        </p:txBody>
      </p:sp>
      <p:sp>
        <p:nvSpPr>
          <p:cNvPr id="25" name="Rounded Rectangle 24"/>
          <p:cNvSpPr/>
          <p:nvPr/>
        </p:nvSpPr>
        <p:spPr>
          <a:xfrm>
            <a:off x="5852160" y="8366760"/>
            <a:ext cx="2414015"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days of screenshots</a:t>
            </a:r>
          </a:p>
        </p:txBody>
      </p:sp>
      <p:sp>
        <p:nvSpPr>
          <p:cNvPr id="27" name="Rounded Rectangle 26"/>
          <p:cNvSpPr/>
          <p:nvPr/>
        </p:nvSpPr>
        <p:spPr>
          <a:xfrm>
            <a:off x="5852160" y="8957462"/>
            <a:ext cx="256032"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minutes, generated from the sweep</a:t>
            </a:r>
          </a:p>
        </p:txBody>
      </p:sp>
      <p:sp>
        <p:nvSpPr>
          <p:cNvPr id="29" name="TextBox 28"/>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Snapshot Deployment Workflow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S6</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Preflight</a:t>
            </a:r>
          </a:p>
          <a:p>
            <a:pPr algn="l">
              <a:spcAft>
                <a:spcPts val="600"/>
              </a:spcAft>
            </a:pPr>
            <a:r>
              <a:rPr sz="1600" b="0">
                <a:solidFill>
                  <a:srgbClr val="56636E"/>
                </a:solidFill>
              </a:rPr>
              <a:t>proves the deploy user can read every CISADM table and write the target schema</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Tables</a:t>
            </a:r>
          </a:p>
          <a:p>
            <a:pPr algn="l">
              <a:spcAft>
                <a:spcPts val="600"/>
              </a:spcAft>
            </a:pPr>
            <a:r>
              <a:rPr sz="2000" b="0">
                <a:solidFill>
                  <a:srgbClr val="56636E"/>
                </a:solidFill>
              </a:rPr>
              <a:t>creates the active 8 and the domain-support objects, empty</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Procedures</a:t>
            </a:r>
          </a:p>
          <a:p>
            <a:pPr algn="l">
              <a:spcAft>
                <a:spcPts val="600"/>
              </a:spcAft>
            </a:pPr>
            <a:r>
              <a:rPr sz="1600" b="0">
                <a:solidFill>
                  <a:srgbClr val="56636E"/>
                </a:solidFill>
              </a:rPr>
              <a:t>installs the full-history baseline and the domain refresh PL/SQL</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4. Baselines</a:t>
            </a:r>
          </a:p>
          <a:p>
            <a:pPr algn="l">
              <a:spcAft>
                <a:spcPts val="600"/>
              </a:spcAft>
            </a:pPr>
            <a:r>
              <a:rPr sz="2000" b="0">
                <a:solidFill>
                  <a:srgbClr val="56636E"/>
                </a:solidFill>
              </a:rPr>
              <a:t>submits 8 database jobs at once; they run unattended</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5. Wait and gate</a:t>
            </a:r>
          </a:p>
          <a:p>
            <a:pPr algn="l">
              <a:spcAft>
                <a:spcPts val="600"/>
              </a:spcAft>
            </a:pPr>
            <a:r>
              <a:rPr sz="1600" b="0">
                <a:solidFill>
                  <a:srgbClr val="56636E"/>
                </a:solidFill>
              </a:rPr>
              <a:t>polls the job table up to 8 hours until every job says SUCCEEDED</a:t>
            </a:r>
          </a:p>
        </p:txBody>
      </p:sp>
      <p:sp>
        <p:nvSpPr>
          <p:cNvPr id="11" name="Rounded Rectangle 10"/>
          <p:cNvSpPr/>
          <p:nvPr/>
        </p:nvSpPr>
        <p:spPr>
          <a:xfrm>
            <a:off x="18553176" y="3502152"/>
            <a:ext cx="73152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waits</a:t>
            </a:r>
          </a:p>
        </p:txBody>
      </p:sp>
      <p:sp>
        <p:nvSpPr>
          <p:cNvPr id="12" name="Rounded Rectangle 11"/>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Indexes</a:t>
            </a:r>
          </a:p>
          <a:p>
            <a:pPr algn="l">
              <a:spcAft>
                <a:spcPts val="600"/>
              </a:spcAft>
            </a:pPr>
            <a:r>
              <a:rPr sz="1600" b="0">
                <a:solidFill>
                  <a:srgbClr val="56636E"/>
                </a:solidFill>
              </a:rPr>
              <a:t>post-load indexes on the keys and dates the reports filter on</a:t>
            </a:r>
          </a:p>
        </p:txBody>
      </p:sp>
      <p:sp>
        <p:nvSpPr>
          <p:cNvPr id="13" name="Rounded Rectangle 12"/>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7. Rolling and schedule</a:t>
            </a:r>
          </a:p>
          <a:p>
            <a:pPr algn="l">
              <a:spcAft>
                <a:spcPts val="600"/>
              </a:spcAft>
            </a:pPr>
            <a:r>
              <a:rPr sz="1600" b="0">
                <a:solidFill>
                  <a:srgbClr val="56636E"/>
                </a:solidFill>
              </a:rPr>
              <a:t>installs the rolling procedures and creates the scheduler jobs</a:t>
            </a:r>
          </a:p>
        </p:txBody>
      </p:sp>
      <p:sp>
        <p:nvSpPr>
          <p:cNvPr id="14" name="Rounded Rectangle 13"/>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8. Refresh and gates</a:t>
            </a:r>
          </a:p>
          <a:p>
            <a:pPr algn="l">
              <a:spcAft>
                <a:spcPts val="600"/>
              </a:spcAft>
            </a:pPr>
            <a:r>
              <a:rPr sz="2000" b="0">
                <a:solidFill>
                  <a:srgbClr val="56636E"/>
                </a:solidFill>
              </a:rPr>
              <a:t>refreshes domain support, then the install and parity gates</a:t>
            </a:r>
          </a:p>
        </p:txBody>
      </p:sp>
      <p:sp>
        <p:nvSpPr>
          <p:cNvPr id="15" name="Rounded Rectangle 14"/>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One command per step, one wrapper for prod</a:t>
            </a:r>
          </a:p>
          <a:p>
            <a:pPr algn="l">
              <a:spcAft>
                <a:spcPts val="600"/>
              </a:spcAft>
            </a:pPr>
            <a:r>
              <a:rPr sz="1600" b="0">
                <a:solidFill>
                  <a:srgbClr val="56636E"/>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Network access to start; jobs keep running if it drops</a:t>
            </a:r>
          </a:p>
        </p:txBody>
      </p:sp>
      <p:cxnSp>
        <p:nvCxnSpPr>
          <p:cNvPr id="17" name="Connector 16"/>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5" name="Rounded Rectangle 24"/>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baseline jobs SUCCEEDED</a:t>
            </a:r>
          </a:p>
        </p:txBody>
      </p:sp>
      <p:sp>
        <p:nvSpPr>
          <p:cNvPr id="26" name="Rounded Rectangle 25"/>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empty tables</a:t>
            </a:r>
          </a:p>
        </p:txBody>
      </p:sp>
      <p:sp>
        <p:nvSpPr>
          <p:cNvPr id="27" name="Rounded Rectangle 26"/>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duplicate keys</a:t>
            </a:r>
          </a:p>
        </p:txBody>
      </p:sp>
      <p:sp>
        <p:nvSpPr>
          <p:cNvPr id="28" name="Rounded Rectangle 27"/>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CMS FT parity</a:t>
            </a:r>
          </a:p>
        </p:txBody>
      </p:sp>
      <p:sp>
        <p:nvSpPr>
          <p:cNvPr id="29" name="Rounded Rectangle 28"/>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Inside The Snapshot Deployment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S7</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Baseline and validate</a:t>
            </a:r>
          </a:p>
          <a:p>
            <a:pPr algn="l">
              <a:spcAft>
                <a:spcPts val="600"/>
              </a:spcAft>
            </a:pPr>
            <a:r>
              <a:rPr sz="2100" b="0">
                <a:solidFill>
                  <a:srgbClr val="56636E"/>
                </a:solidFill>
              </a:rPr>
              <a:t>•  Creates the eight reporting tables and the views the domains read, then installs the full-history procedures</a:t>
            </a:r>
          </a:p>
          <a:p>
            <a:pPr algn="l">
              <a:spcAft>
                <a:spcPts val="600"/>
              </a:spcAft>
            </a:pPr>
            <a:r>
              <a:rPr sz="2100" b="0">
                <a:solidFill>
                  <a:srgbClr val="56636E"/>
                </a:solidFill>
              </a:rPr>
              <a:t>•  Submits one database job per table so all eight load in parallel and the session is never the bottleneck</a:t>
            </a:r>
          </a:p>
          <a:p>
            <a:pPr algn="l">
              <a:spcAft>
                <a:spcPts val="600"/>
              </a:spcAft>
            </a:pPr>
            <a:r>
              <a:rPr sz="2100" b="0">
                <a:solidFill>
                  <a:srgbClr val="56636E"/>
                </a:solidFill>
              </a:rPr>
              <a:t>•  Polls the scheduler's job table until every job is SUCCEEDED; a FAILED or missing job stops the step</a:t>
            </a:r>
          </a:p>
          <a:p>
            <a:pPr algn="l">
              <a:spcAft>
                <a:spcPts val="600"/>
              </a:spcAft>
            </a:pPr>
            <a:r>
              <a:rPr sz="2100" b="0">
                <a:solidFill>
                  <a:srgbClr val="56636E"/>
                </a:solidFill>
              </a:rPr>
              <a:t>•  Validates row counts per table, twelve monthly totals against the source, and that no grain key repeats</a:t>
            </a:r>
          </a:p>
          <a:p>
            <a:pPr algn="l">
              <a:spcAft>
                <a:spcPts val="600"/>
              </a:spcAft>
            </a:pPr>
            <a:r>
              <a:rPr sz="2100" b="0">
                <a:solidFill>
                  <a:srgbClr val="56636E"/>
                </a:solidFill>
              </a:rPr>
              <a:t>•  The install gate fails on any empty table or duplicate key, so a wrong grant or filter cannot pass silently</a:t>
            </a:r>
          </a:p>
        </p:txBody>
      </p:sp>
      <p:sp>
        <p:nvSpPr>
          <p:cNvPr id="7" name="Rounded Rectangle 6"/>
          <p:cNvSpPr/>
          <p:nvPr/>
        </p:nvSpPr>
        <p:spPr>
          <a:xfrm>
            <a:off x="711098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Cutover and validate</a:t>
            </a:r>
          </a:p>
          <a:p>
            <a:pPr algn="l">
              <a:spcAft>
                <a:spcPts val="600"/>
              </a:spcAft>
            </a:pPr>
            <a:r>
              <a:rPr sz="2100" b="0">
                <a:solidFill>
                  <a:srgbClr val="56636E"/>
                </a:solidFill>
              </a:rPr>
              <a:t>•  Installs the rolling procedures: delete the newest months, rebuild them, leave the rest untouched</a:t>
            </a:r>
          </a:p>
          <a:p>
            <a:pPr algn="l">
              <a:spcAft>
                <a:spcPts val="600"/>
              </a:spcAft>
            </a:pPr>
            <a:r>
              <a:rPr sz="2100" b="0">
                <a:solidFill>
                  <a:srgbClr val="56636E"/>
                </a:solidFill>
              </a:rPr>
              <a:t>•  Runs one operational refresh by hand to prove the rolling path before it is scheduled</a:t>
            </a:r>
          </a:p>
          <a:p>
            <a:pPr algn="l">
              <a:spcAft>
                <a:spcPts val="600"/>
              </a:spcAft>
            </a:pPr>
            <a:r>
              <a:rPr sz="2100" b="0">
                <a:solidFill>
                  <a:srgbClr val="56636E"/>
                </a:solidFill>
              </a:rPr>
              <a:t>•  Runs the same validation again so the rolling result is compared to the baseline result</a:t>
            </a:r>
          </a:p>
          <a:p>
            <a:pPr algn="l">
              <a:spcAft>
                <a:spcPts val="600"/>
              </a:spcAft>
            </a:pPr>
            <a:r>
              <a:rPr sz="2100" b="0">
                <a:solidFill>
                  <a:srgbClr val="56636E"/>
                </a:solidFill>
              </a:rPr>
              <a:t>•  Refreshes the domain-support views and checks the aged-balance buckets sum to the balance</a:t>
            </a:r>
          </a:p>
          <a:p>
            <a:pPr algn="l">
              <a:spcAft>
                <a:spcPts val="600"/>
              </a:spcAft>
            </a:pPr>
            <a:r>
              <a:rPr sz="2100" b="0">
                <a:solidFill>
                  <a:srgbClr val="56636E"/>
                </a:solidFill>
              </a:rPr>
              <a:t>•  Refuses to schedule until both validations are green</a:t>
            </a:r>
          </a:p>
        </p:txBody>
      </p:sp>
      <p:sp>
        <p:nvSpPr>
          <p:cNvPr id="8" name="Rounded Rectangle 7"/>
          <p:cNvSpPr/>
          <p:nvPr/>
        </p:nvSpPr>
        <p:spPr>
          <a:xfrm>
            <a:off x="1348130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Schedule and monitor</a:t>
            </a:r>
          </a:p>
          <a:p>
            <a:pPr algn="l">
              <a:spcAft>
                <a:spcPts val="600"/>
              </a:spcAft>
            </a:pPr>
            <a:r>
              <a:rPr sz="2100" b="0">
                <a:solidFill>
                  <a:srgbClr val="56636E"/>
                </a:solidFill>
              </a:rPr>
              <a:t>•  Creates one scheduler job per table, twice daily, staggered thirty minutes so two never overlap</a:t>
            </a:r>
          </a:p>
          <a:p>
            <a:pPr algn="l">
              <a:spcAft>
                <a:spcPts val="600"/>
              </a:spcAft>
            </a:pPr>
            <a:r>
              <a:rPr sz="2100" b="0">
                <a:solidFill>
                  <a:srgbClr val="56636E"/>
                </a:solidFill>
              </a:rPr>
              <a:t>•  Long refreshes run as background jobs, never in the session, after a 15-minute timeout once committed a delete without its insert</a:t>
            </a:r>
          </a:p>
          <a:p>
            <a:pPr algn="l">
              <a:spcAft>
                <a:spcPts val="600"/>
              </a:spcAft>
            </a:pPr>
            <a:r>
              <a:rPr sz="2100" b="0">
                <a:solidFill>
                  <a:srgbClr val="56636E"/>
                </a:solidFill>
              </a:rPr>
              <a:t>•  A capture step records the last run, its duration and its status for every job</a:t>
            </a:r>
          </a:p>
          <a:p>
            <a:pPr algn="l">
              <a:spcAft>
                <a:spcPts val="600"/>
              </a:spcAft>
            </a:pPr>
            <a:r>
              <a:rPr sz="2100" b="0">
                <a:solidFill>
                  <a:srgbClr val="56636E"/>
                </a:solidFill>
              </a:rPr>
              <a:t>•  High-level data-quality checks run per client and the results are kept with the rollout log</a:t>
            </a:r>
          </a:p>
          <a:p>
            <a:pPr algn="l">
              <a:spcAft>
                <a:spcPts val="600"/>
              </a:spcAft>
            </a:pPr>
            <a:r>
              <a:rPr sz="2100" b="0">
                <a:solidFill>
                  <a:srgbClr val="56636E"/>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Database Deployment 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S8</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12262104" y="1965960"/>
            <a:ext cx="7132320" cy="150876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E6ECF2"/>
                </a:solidFill>
              </a:rPr>
              <a:t>5. Submit 8 baselines as parallel scheduler jobs</a:t>
            </a:r>
          </a:p>
          <a:p>
            <a:pPr algn="l">
              <a:spcAft>
                <a:spcPts val="600"/>
              </a:spcAft>
            </a:pPr>
            <a:r>
              <a:rPr sz="1100" b="0">
                <a:solidFill>
                  <a:srgbClr val="E6ECF2"/>
                </a:solidFill>
              </a:rPr>
              <a:t>unattended; they survive a dropped connection</a:t>
            </a:r>
          </a:p>
        </p:txBody>
      </p:sp>
      <p:sp>
        <p:nvSpPr>
          <p:cNvPr id="8" name="Rounded Rectangle 7"/>
          <p:cNvSpPr/>
          <p:nvPr/>
        </p:nvSpPr>
        <p:spPr>
          <a:xfrm>
            <a:off x="740664" y="5760720"/>
            <a:ext cx="18653760" cy="411480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What the domains read</a:t>
            </a:r>
          </a:p>
          <a:p>
            <a:pPr algn="l">
              <a:spcAft>
                <a:spcPts val="600"/>
              </a:spcAft>
            </a:pPr>
            <a:r>
              <a:rPr sz="1100" b="0">
                <a:solidFill>
                  <a:srgbClr val="E6ECF2"/>
                </a:solidFill>
              </a:rPr>
              <a:t>created in steps 2 and 3, validated at step 7 before anything is scheduled; each outlined stack feeds the domain chip beneath it</a:t>
            </a:r>
          </a:p>
        </p:txBody>
      </p:sp>
      <p:sp>
        <p:nvSpPr>
          <p:cNvPr id="10" name="Rounded Rectangle 9"/>
          <p:cNvSpPr/>
          <p:nvPr/>
        </p:nvSpPr>
        <p:spPr>
          <a:xfrm>
            <a:off x="868680"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Finance tables</a:t>
            </a:r>
          </a:p>
        </p:txBody>
      </p:sp>
      <p:sp>
        <p:nvSpPr>
          <p:cNvPr id="12" name="Rounded Rectangle 11"/>
          <p:cNvSpPr/>
          <p:nvPr/>
        </p:nvSpPr>
        <p:spPr>
          <a:xfrm>
            <a:off x="3584448"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Billing tables</a:t>
            </a:r>
          </a:p>
        </p:txBody>
      </p:sp>
      <p:sp>
        <p:nvSpPr>
          <p:cNvPr id="14" name="Rounded Rectangle 13"/>
          <p:cNvSpPr/>
          <p:nvPr/>
        </p:nvSpPr>
        <p:spPr>
          <a:xfrm>
            <a:off x="6300216"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Meter Ops tables</a:t>
            </a:r>
          </a:p>
        </p:txBody>
      </p:sp>
      <p:sp>
        <p:nvSpPr>
          <p:cNvPr id="16" name="Rounded Rectangle 15"/>
          <p:cNvSpPr/>
          <p:nvPr/>
        </p:nvSpPr>
        <p:spPr>
          <a:xfrm>
            <a:off x="9015984" y="6355080"/>
            <a:ext cx="23774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0576" y="6400800"/>
            <a:ext cx="20482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Debt Mgmt objects</a:t>
            </a:r>
          </a:p>
        </p:txBody>
      </p:sp>
      <p:sp>
        <p:nvSpPr>
          <p:cNvPr id="18" name="Rounded Rectangle 17"/>
          <p:cNvSpPr/>
          <p:nvPr/>
        </p:nvSpPr>
        <p:spPr>
          <a:xfrm>
            <a:off x="11503152" y="6355080"/>
            <a:ext cx="265176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67744" y="6400800"/>
            <a:ext cx="2322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Meter Ops views</a:t>
            </a:r>
          </a:p>
        </p:txBody>
      </p:sp>
      <p:sp>
        <p:nvSpPr>
          <p:cNvPr id="20" name="Rounded Rectangle 19"/>
          <p:cNvSpPr/>
          <p:nvPr/>
        </p:nvSpPr>
        <p:spPr>
          <a:xfrm>
            <a:off x="14264640" y="6355080"/>
            <a:ext cx="269748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429232" y="6400800"/>
            <a:ext cx="2368296" cy="411480"/>
          </a:xfrm>
          <a:prstGeom prst="rect">
            <a:avLst/>
          </a:prstGeom>
          <a:noFill/>
        </p:spPr>
        <p:txBody>
          <a:bodyPr wrap="square" anchor="t" lIns="0" rIns="0" tIns="54864" bIns="54864">
            <a:spAutoFit/>
          </a:bodyPr>
          <a:lstStyle/>
          <a:p>
            <a:pPr algn="l">
              <a:spcAft>
                <a:spcPts val="600"/>
              </a:spcAft>
            </a:pPr>
            <a:r>
              <a:rPr sz="1400" b="1">
                <a:solidFill>
                  <a:srgbClr val="E6ECF2"/>
                </a:solidFill>
              </a:rPr>
              <a:t>Field Ops views</a:t>
            </a:r>
          </a:p>
        </p:txBody>
      </p:sp>
      <p:sp>
        <p:nvSpPr>
          <p:cNvPr id="22" name="Rounded Rectangle 21"/>
          <p:cNvSpPr/>
          <p:nvPr/>
        </p:nvSpPr>
        <p:spPr>
          <a:xfrm>
            <a:off x="17071848" y="6355080"/>
            <a:ext cx="21488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236440" y="6400800"/>
            <a:ext cx="18196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Customer Ops views</a:t>
            </a:r>
          </a:p>
        </p:txBody>
      </p:sp>
      <p:sp>
        <p:nvSpPr>
          <p:cNvPr id="24" name="Rounded Rectangle 23"/>
          <p:cNvSpPr/>
          <p:nvPr/>
        </p:nvSpPr>
        <p:spPr>
          <a:xfrm>
            <a:off x="740664" y="2286000"/>
            <a:ext cx="22860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Preflight</a:t>
            </a:r>
          </a:p>
          <a:p>
            <a:pPr algn="l">
              <a:spcAft>
                <a:spcPts val="600"/>
              </a:spcAft>
            </a:pPr>
            <a:r>
              <a:rPr sz="1100" b="0">
                <a:solidFill>
                  <a:srgbClr val="56636E"/>
                </a:solidFill>
              </a:rPr>
              <a:t>the deploy user can read every source table and write the targets</a:t>
            </a:r>
          </a:p>
        </p:txBody>
      </p:sp>
      <p:sp>
        <p:nvSpPr>
          <p:cNvPr id="25" name="Oval 24"/>
          <p:cNvSpPr/>
          <p:nvPr/>
        </p:nvSpPr>
        <p:spPr>
          <a:xfrm>
            <a:off x="61264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a:t>
            </a:r>
          </a:p>
        </p:txBody>
      </p:sp>
      <p:sp>
        <p:nvSpPr>
          <p:cNvPr id="26" name="Rounded Rectangle 25"/>
          <p:cNvSpPr/>
          <p:nvPr/>
        </p:nvSpPr>
        <p:spPr>
          <a:xfrm>
            <a:off x="3300984" y="2286000"/>
            <a:ext cx="265176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Create the 7 snapshot tables</a:t>
            </a:r>
          </a:p>
          <a:p>
            <a:pPr algn="l">
              <a:spcAft>
                <a:spcPts val="600"/>
              </a:spcAft>
            </a:pPr>
            <a:r>
              <a:rPr sz="1100" b="0">
                <a:solidFill>
                  <a:srgbClr val="56636E"/>
                </a:solidFill>
              </a:rPr>
              <a:t>empty, with their keys</a:t>
            </a:r>
          </a:p>
        </p:txBody>
      </p:sp>
      <p:sp>
        <p:nvSpPr>
          <p:cNvPr id="27" name="Oval 26"/>
          <p:cNvSpPr/>
          <p:nvPr/>
        </p:nvSpPr>
        <p:spPr>
          <a:xfrm>
            <a:off x="317296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2</a:t>
            </a:r>
          </a:p>
        </p:txBody>
      </p:sp>
      <p:sp>
        <p:nvSpPr>
          <p:cNvPr id="28" name="Rounded Rectangle 27"/>
          <p:cNvSpPr/>
          <p:nvPr/>
        </p:nvSpPr>
        <p:spPr>
          <a:xfrm>
            <a:off x="6227064" y="2286000"/>
            <a:ext cx="283464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Create the domain-support objects</a:t>
            </a:r>
          </a:p>
          <a:p>
            <a:pPr algn="l">
              <a:spcAft>
                <a:spcPts val="600"/>
              </a:spcAft>
            </a:pPr>
            <a:r>
              <a:rPr sz="1100" b="0">
                <a:solidFill>
                  <a:srgbClr val="56636E"/>
                </a:solidFill>
              </a:rPr>
              <a:t>SA snapshot table, lookup seed, 8 CMS views, grants, synonyms</a:t>
            </a:r>
          </a:p>
        </p:txBody>
      </p:sp>
      <p:sp>
        <p:nvSpPr>
          <p:cNvPr id="29" name="Oval 28"/>
          <p:cNvSpPr/>
          <p:nvPr/>
        </p:nvSpPr>
        <p:spPr>
          <a:xfrm>
            <a:off x="609904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3</a:t>
            </a:r>
          </a:p>
        </p:txBody>
      </p:sp>
      <p:sp>
        <p:nvSpPr>
          <p:cNvPr id="30" name="Rounded Rectangle 29"/>
          <p:cNvSpPr/>
          <p:nvPr/>
        </p:nvSpPr>
        <p:spPr>
          <a:xfrm>
            <a:off x="9336024" y="2286000"/>
            <a:ext cx="265176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Deploy the procedures</a:t>
            </a:r>
          </a:p>
          <a:p>
            <a:pPr algn="l">
              <a:spcAft>
                <a:spcPts val="600"/>
              </a:spcAft>
            </a:pPr>
            <a:r>
              <a:rPr sz="1100" b="0">
                <a:solidFill>
                  <a:srgbClr val="56636E"/>
                </a:solidFill>
              </a:rPr>
              <a:t>baseline (the retained 24 months, once) and operational per table; the SA aged-balance refresh</a:t>
            </a:r>
          </a:p>
        </p:txBody>
      </p:sp>
      <p:sp>
        <p:nvSpPr>
          <p:cNvPr id="31" name="Oval 30"/>
          <p:cNvSpPr/>
          <p:nvPr/>
        </p:nvSpPr>
        <p:spPr>
          <a:xfrm>
            <a:off x="920800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4</a:t>
            </a:r>
          </a:p>
        </p:txBody>
      </p:sp>
      <p:sp>
        <p:nvSpPr>
          <p:cNvPr id="32" name="Rounded Rectangle 31"/>
          <p:cNvSpPr/>
          <p:nvPr/>
        </p:nvSpPr>
        <p:spPr>
          <a:xfrm>
            <a:off x="12454128"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FT</a:t>
            </a:r>
          </a:p>
        </p:txBody>
      </p:sp>
      <p:sp>
        <p:nvSpPr>
          <p:cNvPr id="33" name="Rounded Rectangle 32"/>
          <p:cNvSpPr/>
          <p:nvPr/>
        </p:nvSpPr>
        <p:spPr>
          <a:xfrm>
            <a:off x="14209776"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Billed usage</a:t>
            </a:r>
          </a:p>
        </p:txBody>
      </p:sp>
      <p:sp>
        <p:nvSpPr>
          <p:cNvPr id="34" name="Rounded Rectangle 33"/>
          <p:cNvSpPr/>
          <p:nvPr/>
        </p:nvSpPr>
        <p:spPr>
          <a:xfrm>
            <a:off x="15965424"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SQ usage</a:t>
            </a:r>
          </a:p>
        </p:txBody>
      </p:sp>
      <p:sp>
        <p:nvSpPr>
          <p:cNvPr id="35" name="Rounded Rectangle 34"/>
          <p:cNvSpPr/>
          <p:nvPr/>
        </p:nvSpPr>
        <p:spPr>
          <a:xfrm>
            <a:off x="17721072"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GL distribution</a:t>
            </a:r>
          </a:p>
        </p:txBody>
      </p:sp>
      <p:sp>
        <p:nvSpPr>
          <p:cNvPr id="36" name="Rounded Rectangle 35"/>
          <p:cNvSpPr/>
          <p:nvPr/>
        </p:nvSpPr>
        <p:spPr>
          <a:xfrm>
            <a:off x="12454128"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Measurement</a:t>
            </a:r>
          </a:p>
        </p:txBody>
      </p:sp>
      <p:sp>
        <p:nvSpPr>
          <p:cNvPr id="37" name="Rounded Rectangle 36"/>
          <p:cNvSpPr/>
          <p:nvPr/>
        </p:nvSpPr>
        <p:spPr>
          <a:xfrm>
            <a:off x="14209776"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Usage</a:t>
            </a:r>
          </a:p>
        </p:txBody>
      </p:sp>
      <p:sp>
        <p:nvSpPr>
          <p:cNvPr id="38" name="Rounded Rectangle 37"/>
          <p:cNvSpPr/>
          <p:nvPr/>
        </p:nvSpPr>
        <p:spPr>
          <a:xfrm>
            <a:off x="15965424"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Usage scalar detail</a:t>
            </a:r>
          </a:p>
        </p:txBody>
      </p:sp>
      <p:sp>
        <p:nvSpPr>
          <p:cNvPr id="39" name="Rounded Rectangle 38"/>
          <p:cNvSpPr/>
          <p:nvPr/>
        </p:nvSpPr>
        <p:spPr>
          <a:xfrm>
            <a:off x="17721072"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SA snapshot refresh</a:t>
            </a:r>
          </a:p>
        </p:txBody>
      </p:sp>
      <p:sp>
        <p:nvSpPr>
          <p:cNvPr id="40" name="Diamond 39"/>
          <p:cNvSpPr/>
          <p:nvPr/>
        </p:nvSpPr>
        <p:spPr>
          <a:xfrm>
            <a:off x="17099280" y="4069080"/>
            <a:ext cx="210312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ready gate: every job SUCCEEDED?</a:t>
            </a:r>
          </a:p>
        </p:txBody>
      </p:sp>
      <p:sp>
        <p:nvSpPr>
          <p:cNvPr id="41" name="Oval 40"/>
          <p:cNvSpPr/>
          <p:nvPr/>
        </p:nvSpPr>
        <p:spPr>
          <a:xfrm>
            <a:off x="1697126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6</a:t>
            </a:r>
          </a:p>
        </p:txBody>
      </p:sp>
      <p:sp>
        <p:nvSpPr>
          <p:cNvPr id="42" name="Rounded Rectangle 41"/>
          <p:cNvSpPr/>
          <p:nvPr/>
        </p:nvSpPr>
        <p:spPr>
          <a:xfrm>
            <a:off x="17282160" y="5257800"/>
            <a:ext cx="173736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43" name="Diamond 42"/>
          <p:cNvSpPr/>
          <p:nvPr/>
        </p:nvSpPr>
        <p:spPr>
          <a:xfrm>
            <a:off x="14264640" y="4069080"/>
            <a:ext cx="237744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validate and install gates pass?</a:t>
            </a:r>
          </a:p>
        </p:txBody>
      </p:sp>
      <p:sp>
        <p:nvSpPr>
          <p:cNvPr id="44" name="Oval 43"/>
          <p:cNvSpPr/>
          <p:nvPr/>
        </p:nvSpPr>
        <p:spPr>
          <a:xfrm>
            <a:off x="1413662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7</a:t>
            </a:r>
          </a:p>
        </p:txBody>
      </p:sp>
      <p:sp>
        <p:nvSpPr>
          <p:cNvPr id="45" name="Rounded Rectangle 44"/>
          <p:cNvSpPr/>
          <p:nvPr/>
        </p:nvSpPr>
        <p:spPr>
          <a:xfrm>
            <a:off x="14493240" y="5257800"/>
            <a:ext cx="192024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46" name="Rounded Rectangle 45"/>
          <p:cNvSpPr/>
          <p:nvPr/>
        </p:nvSpPr>
        <p:spPr>
          <a:xfrm>
            <a:off x="11612880" y="4069080"/>
            <a:ext cx="219456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Post-load indexes</a:t>
            </a:r>
          </a:p>
          <a:p>
            <a:pPr algn="l">
              <a:spcAft>
                <a:spcPts val="600"/>
              </a:spcAft>
            </a:pPr>
            <a:r>
              <a:rPr sz="1100" b="0">
                <a:solidFill>
                  <a:srgbClr val="56636E"/>
                </a:solidFill>
              </a:rPr>
              <a:t>keys and dates the domains filter on</a:t>
            </a:r>
          </a:p>
        </p:txBody>
      </p:sp>
      <p:sp>
        <p:nvSpPr>
          <p:cNvPr id="47" name="Oval 46"/>
          <p:cNvSpPr/>
          <p:nvPr/>
        </p:nvSpPr>
        <p:spPr>
          <a:xfrm>
            <a:off x="11484863"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8</a:t>
            </a:r>
          </a:p>
        </p:txBody>
      </p:sp>
      <p:sp>
        <p:nvSpPr>
          <p:cNvPr id="48" name="Rounded Rectangle 47"/>
          <p:cNvSpPr/>
          <p:nvPr/>
        </p:nvSpPr>
        <p:spPr>
          <a:xfrm>
            <a:off x="8412480" y="4069080"/>
            <a:ext cx="274320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Rolling procedures</a:t>
            </a:r>
          </a:p>
          <a:p>
            <a:pPr algn="l">
              <a:spcAft>
                <a:spcPts val="600"/>
              </a:spcAft>
            </a:pPr>
            <a:r>
              <a:rPr sz="1100" b="0">
                <a:solidFill>
                  <a:srgbClr val="56636E"/>
                </a:solidFill>
              </a:rPr>
              <a:t>3 months rebuilt, 24 kept; one operational refresh run by hand</a:t>
            </a:r>
          </a:p>
        </p:txBody>
      </p:sp>
      <p:sp>
        <p:nvSpPr>
          <p:cNvPr id="49" name="Oval 48"/>
          <p:cNvSpPr/>
          <p:nvPr/>
        </p:nvSpPr>
        <p:spPr>
          <a:xfrm>
            <a:off x="8284463"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9</a:t>
            </a:r>
          </a:p>
        </p:txBody>
      </p:sp>
      <p:sp>
        <p:nvSpPr>
          <p:cNvPr id="50" name="Diamond 49"/>
          <p:cNvSpPr/>
          <p:nvPr/>
        </p:nvSpPr>
        <p:spPr>
          <a:xfrm>
            <a:off x="5943600" y="4069080"/>
            <a:ext cx="201168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validated again?</a:t>
            </a:r>
          </a:p>
        </p:txBody>
      </p:sp>
      <p:sp>
        <p:nvSpPr>
          <p:cNvPr id="51" name="Oval 50"/>
          <p:cNvSpPr/>
          <p:nvPr/>
        </p:nvSpPr>
        <p:spPr>
          <a:xfrm>
            <a:off x="581558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10</a:t>
            </a:r>
          </a:p>
        </p:txBody>
      </p:sp>
      <p:sp>
        <p:nvSpPr>
          <p:cNvPr id="52" name="Rounded Rectangle 51"/>
          <p:cNvSpPr/>
          <p:nvPr/>
        </p:nvSpPr>
        <p:spPr>
          <a:xfrm>
            <a:off x="6035040" y="3337560"/>
            <a:ext cx="182880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53" name="Rounded Rectangle 52"/>
          <p:cNvSpPr/>
          <p:nvPr/>
        </p:nvSpPr>
        <p:spPr>
          <a:xfrm>
            <a:off x="3063240" y="4069080"/>
            <a:ext cx="246888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Schedule</a:t>
            </a:r>
          </a:p>
          <a:p>
            <a:pPr algn="l">
              <a:spcAft>
                <a:spcPts val="600"/>
              </a:spcAft>
            </a:pPr>
            <a:r>
              <a:rPr sz="1100" b="0">
                <a:solidFill>
                  <a:srgbClr val="56636E"/>
                </a:solidFill>
              </a:rPr>
              <a:t>twice daily from 10:00 and 16:00 UTC, 30-minute stagger; held on TEST until approved</a:t>
            </a:r>
          </a:p>
        </p:txBody>
      </p:sp>
      <p:sp>
        <p:nvSpPr>
          <p:cNvPr id="54" name="Oval 53"/>
          <p:cNvSpPr/>
          <p:nvPr/>
        </p:nvSpPr>
        <p:spPr>
          <a:xfrm>
            <a:off x="293522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11</a:t>
            </a:r>
          </a:p>
        </p:txBody>
      </p:sp>
      <p:sp>
        <p:nvSpPr>
          <p:cNvPr id="55" name="Rounded Rectangle 54"/>
          <p:cNvSpPr/>
          <p:nvPr/>
        </p:nvSpPr>
        <p:spPr>
          <a:xfrm>
            <a:off x="740664" y="4069080"/>
            <a:ext cx="192024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Capture runs, data quality</a:t>
            </a:r>
          </a:p>
          <a:p>
            <a:pPr algn="l">
              <a:spcAft>
                <a:spcPts val="600"/>
              </a:spcAft>
            </a:pPr>
            <a:r>
              <a:rPr sz="1100" b="0">
                <a:solidFill>
                  <a:srgbClr val="56636E"/>
                </a:solidFill>
              </a:rPr>
              <a:t>per client, kept with the log</a:t>
            </a:r>
          </a:p>
        </p:txBody>
      </p:sp>
      <p:sp>
        <p:nvSpPr>
          <p:cNvPr id="56" name="Oval 55"/>
          <p:cNvSpPr/>
          <p:nvPr/>
        </p:nvSpPr>
        <p:spPr>
          <a:xfrm>
            <a:off x="612648"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12</a:t>
            </a:r>
          </a:p>
        </p:txBody>
      </p:sp>
      <p:sp>
        <p:nvSpPr>
          <p:cNvPr id="57" name="TextBox 56"/>
          <p:cNvSpPr txBox="1"/>
          <p:nvPr/>
        </p:nvSpPr>
        <p:spPr>
          <a:xfrm>
            <a:off x="740664" y="5001768"/>
            <a:ext cx="3474720" cy="548640"/>
          </a:xfrm>
          <a:prstGeom prst="rect">
            <a:avLst/>
          </a:prstGeom>
          <a:noFill/>
        </p:spPr>
        <p:txBody>
          <a:bodyPr wrap="square" anchor="t" lIns="0" rIns="0" tIns="54864" bIns="54864">
            <a:spAutoFit/>
          </a:bodyPr>
          <a:lstStyle/>
          <a:p>
            <a:pPr algn="l">
              <a:spcAft>
                <a:spcPts val="600"/>
              </a:spcAft>
            </a:pPr>
            <a:r>
              <a:rPr sz="1200" b="1">
                <a:solidFill>
                  <a:srgbClr val="E6ECF2"/>
                </a:solidFill>
              </a:rPr>
              <a:t>runs at (UTC), one job every 30 minutes</a:t>
            </a:r>
          </a:p>
          <a:p>
            <a:pPr algn="l">
              <a:spcAft>
                <a:spcPts val="600"/>
              </a:spcAft>
            </a:pPr>
            <a:r>
              <a:rPr sz="1100" b="0">
                <a:solidFill>
                  <a:srgbClr val="E6ECF2"/>
                </a:solidFill>
              </a:rPr>
              <a:t>10:00 to 13:30, then again 16:00 to 19:30</a:t>
            </a:r>
          </a:p>
        </p:txBody>
      </p:sp>
      <p:sp>
        <p:nvSpPr>
          <p:cNvPr id="58" name="Rounded Rectangle 57"/>
          <p:cNvSpPr/>
          <p:nvPr/>
        </p:nvSpPr>
        <p:spPr>
          <a:xfrm>
            <a:off x="960120" y="67665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FT_RPT_CURR</a:t>
            </a:r>
          </a:p>
          <a:p>
            <a:pPr algn="ctr">
              <a:spcAft>
                <a:spcPts val="600"/>
              </a:spcAft>
            </a:pPr>
            <a:r>
              <a:rPr sz="950" b="0">
                <a:solidFill>
                  <a:srgbClr val="56636E"/>
                </a:solidFill>
              </a:rPr>
              <a:t>financial transactions</a:t>
            </a:r>
          </a:p>
        </p:txBody>
      </p:sp>
      <p:sp>
        <p:nvSpPr>
          <p:cNvPr id="59" name="Rounded Rectangle 58"/>
          <p:cNvSpPr/>
          <p:nvPr/>
        </p:nvSpPr>
        <p:spPr>
          <a:xfrm>
            <a:off x="960120" y="76809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FT_GL_DISTRIBUTION_RPT_CURR</a:t>
            </a:r>
          </a:p>
          <a:p>
            <a:pPr algn="ctr">
              <a:spcAft>
                <a:spcPts val="600"/>
              </a:spcAft>
            </a:pPr>
            <a:r>
              <a:rPr sz="950" b="0">
                <a:solidFill>
                  <a:srgbClr val="56636E"/>
                </a:solidFill>
              </a:rPr>
              <a:t>GL distribution</a:t>
            </a:r>
          </a:p>
        </p:txBody>
      </p:sp>
      <p:sp>
        <p:nvSpPr>
          <p:cNvPr id="60" name="Rounded Rectangle 59"/>
          <p:cNvSpPr/>
          <p:nvPr/>
        </p:nvSpPr>
        <p:spPr>
          <a:xfrm>
            <a:off x="3675887" y="67665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BSEG_BILLED_USAGE_RPT_CURR</a:t>
            </a:r>
          </a:p>
          <a:p>
            <a:pPr algn="ctr">
              <a:spcAft>
                <a:spcPts val="600"/>
              </a:spcAft>
            </a:pPr>
            <a:r>
              <a:rPr sz="950" b="0">
                <a:solidFill>
                  <a:srgbClr val="56636E"/>
                </a:solidFill>
              </a:rPr>
              <a:t>billed usage per segment</a:t>
            </a:r>
          </a:p>
        </p:txBody>
      </p:sp>
      <p:sp>
        <p:nvSpPr>
          <p:cNvPr id="61" name="Rounded Rectangle 60"/>
          <p:cNvSpPr/>
          <p:nvPr/>
        </p:nvSpPr>
        <p:spPr>
          <a:xfrm>
            <a:off x="3675887" y="76809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BSEG_SQ_USAGE_RPT_CURR</a:t>
            </a:r>
          </a:p>
          <a:p>
            <a:pPr algn="ctr">
              <a:spcAft>
                <a:spcPts val="600"/>
              </a:spcAft>
            </a:pPr>
            <a:r>
              <a:rPr sz="950" b="0">
                <a:solidFill>
                  <a:srgbClr val="56636E"/>
                </a:solidFill>
              </a:rPr>
              <a:t>service quantities</a:t>
            </a:r>
          </a:p>
        </p:txBody>
      </p:sp>
      <p:sp>
        <p:nvSpPr>
          <p:cNvPr id="62" name="Rounded Rectangle 61"/>
          <p:cNvSpPr/>
          <p:nvPr/>
        </p:nvSpPr>
        <p:spPr>
          <a:xfrm>
            <a:off x="6391656" y="6766560"/>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D1_MSRMT_RPT_CURR</a:t>
            </a:r>
          </a:p>
          <a:p>
            <a:pPr algn="ctr">
              <a:spcAft>
                <a:spcPts val="600"/>
              </a:spcAft>
            </a:pPr>
            <a:r>
              <a:rPr sz="950" b="0">
                <a:solidFill>
                  <a:srgbClr val="56636E"/>
                </a:solidFill>
              </a:rPr>
              <a:t>measurements</a:t>
            </a:r>
          </a:p>
        </p:txBody>
      </p:sp>
      <p:sp>
        <p:nvSpPr>
          <p:cNvPr id="63" name="Rounded Rectangle 62"/>
          <p:cNvSpPr/>
          <p:nvPr/>
        </p:nvSpPr>
        <p:spPr>
          <a:xfrm>
            <a:off x="6391656" y="7424927"/>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D1_USAGE_RPT_CURR</a:t>
            </a:r>
          </a:p>
          <a:p>
            <a:pPr algn="ctr">
              <a:spcAft>
                <a:spcPts val="600"/>
              </a:spcAft>
            </a:pPr>
            <a:r>
              <a:rPr sz="950" b="0">
                <a:solidFill>
                  <a:srgbClr val="56636E"/>
                </a:solidFill>
              </a:rPr>
              <a:t>usage transactions</a:t>
            </a:r>
          </a:p>
        </p:txBody>
      </p:sp>
      <p:sp>
        <p:nvSpPr>
          <p:cNvPr id="64" name="Rounded Rectangle 63"/>
          <p:cNvSpPr/>
          <p:nvPr/>
        </p:nvSpPr>
        <p:spPr>
          <a:xfrm>
            <a:off x="6391656" y="8083296"/>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D1_USAGE_SCALAR_DTL_RPT_CURR</a:t>
            </a:r>
          </a:p>
          <a:p>
            <a:pPr algn="ctr">
              <a:spcAft>
                <a:spcPts val="600"/>
              </a:spcAft>
            </a:pPr>
            <a:r>
              <a:rPr sz="950" b="0">
                <a:solidFill>
                  <a:srgbClr val="56636E"/>
                </a:solidFill>
              </a:rPr>
              <a:t>usage scalar detail</a:t>
            </a:r>
          </a:p>
        </p:txBody>
      </p:sp>
      <p:sp>
        <p:nvSpPr>
          <p:cNvPr id="65" name="Rounded Rectangle 64"/>
          <p:cNvSpPr/>
          <p:nvPr/>
        </p:nvSpPr>
        <p:spPr>
          <a:xfrm>
            <a:off x="868680"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04B86"/>
                </a:solidFill>
              </a:rPr>
              <a:t>Finance domains</a:t>
            </a:r>
          </a:p>
        </p:txBody>
      </p:sp>
      <p:sp>
        <p:nvSpPr>
          <p:cNvPr id="66" name="Rounded Rectangle 65"/>
          <p:cNvSpPr/>
          <p:nvPr/>
        </p:nvSpPr>
        <p:spPr>
          <a:xfrm>
            <a:off x="3584448"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Billing and Rates domains</a:t>
            </a:r>
          </a:p>
        </p:txBody>
      </p:sp>
      <p:sp>
        <p:nvSpPr>
          <p:cNvPr id="67" name="Rounded Rectangle 66"/>
          <p:cNvSpPr/>
          <p:nvPr/>
        </p:nvSpPr>
        <p:spPr>
          <a:xfrm>
            <a:off x="6300216"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Usage and measurement domains</a:t>
            </a:r>
          </a:p>
        </p:txBody>
      </p:sp>
      <p:sp>
        <p:nvSpPr>
          <p:cNvPr id="68" name="Rounded Rectangle 67"/>
          <p:cNvSpPr/>
          <p:nvPr/>
        </p:nvSpPr>
        <p:spPr>
          <a:xfrm>
            <a:off x="9107424" y="6766560"/>
            <a:ext cx="2194560" cy="82296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04B86"/>
                </a:solidFill>
              </a:rPr>
              <a:t>CMS_SA_SNAPSHOT</a:t>
            </a:r>
          </a:p>
          <a:p>
            <a:pPr algn="ctr">
              <a:spcAft>
                <a:spcPts val="600"/>
              </a:spcAft>
            </a:pPr>
            <a:r>
              <a:rPr sz="950" b="0">
                <a:solidFill>
                  <a:srgbClr val="56636E"/>
                </a:solidFill>
              </a:rPr>
              <a:t>aged balance per SA, refreshed by procedure</a:t>
            </a:r>
          </a:p>
        </p:txBody>
      </p:sp>
      <p:sp>
        <p:nvSpPr>
          <p:cNvPr id="69" name="Rounded Rectangle 68"/>
          <p:cNvSpPr/>
          <p:nvPr/>
        </p:nvSpPr>
        <p:spPr>
          <a:xfrm>
            <a:off x="9107424" y="7726679"/>
            <a:ext cx="2194560" cy="6400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CM_SNAPSHOT_TYPE_FLG</a:t>
            </a:r>
          </a:p>
          <a:p>
            <a:pPr algn="ctr">
              <a:spcAft>
                <a:spcPts val="600"/>
              </a:spcAft>
            </a:pPr>
            <a:r>
              <a:rPr sz="950" b="0">
                <a:solidFill>
                  <a:srgbClr val="56636E"/>
                </a:solidFill>
              </a:rPr>
              <a:t>lookup seed: LDAY, EMON, ARCH, LEMN</a:t>
            </a:r>
          </a:p>
        </p:txBody>
      </p:sp>
      <p:sp>
        <p:nvSpPr>
          <p:cNvPr id="70" name="Rounded Rectangle 69"/>
          <p:cNvSpPr/>
          <p:nvPr/>
        </p:nvSpPr>
        <p:spPr>
          <a:xfrm>
            <a:off x="9015984"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SA Snapshot Aged Balance domain</a:t>
            </a:r>
          </a:p>
        </p:txBody>
      </p:sp>
      <p:sp>
        <p:nvSpPr>
          <p:cNvPr id="71" name="Rounded Rectangle 70"/>
          <p:cNvSpPr/>
          <p:nvPr/>
        </p:nvSpPr>
        <p:spPr>
          <a:xfrm>
            <a:off x="11594592" y="676656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CMS_D1_DVC_IDENTIFIER_VW</a:t>
            </a:r>
          </a:p>
        </p:txBody>
      </p:sp>
      <p:sp>
        <p:nvSpPr>
          <p:cNvPr id="72" name="Rounded Rectangle 71"/>
          <p:cNvSpPr/>
          <p:nvPr/>
        </p:nvSpPr>
        <p:spPr>
          <a:xfrm>
            <a:off x="11594592" y="731520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CMS_D1_DVC_BODA_VW</a:t>
            </a:r>
          </a:p>
        </p:txBody>
      </p:sp>
      <p:sp>
        <p:nvSpPr>
          <p:cNvPr id="73" name="Rounded Rectangle 72"/>
          <p:cNvSpPr/>
          <p:nvPr/>
        </p:nvSpPr>
        <p:spPr>
          <a:xfrm>
            <a:off x="11594592" y="786384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CMS_W1_ASSET_IDENTIFIER_VW</a:t>
            </a:r>
          </a:p>
        </p:txBody>
      </p:sp>
      <p:sp>
        <p:nvSpPr>
          <p:cNvPr id="74" name="Rounded Rectangle 73"/>
          <p:cNvSpPr/>
          <p:nvPr/>
        </p:nvSpPr>
        <p:spPr>
          <a:xfrm>
            <a:off x="115031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Device domain</a:t>
            </a:r>
          </a:p>
        </p:txBody>
      </p:sp>
      <p:sp>
        <p:nvSpPr>
          <p:cNvPr id="75" name="Rounded Rectangle 74"/>
          <p:cNvSpPr/>
          <p:nvPr/>
        </p:nvSpPr>
        <p:spPr>
          <a:xfrm>
            <a:off x="128747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Asset domain</a:t>
            </a:r>
          </a:p>
        </p:txBody>
      </p:sp>
      <p:sp>
        <p:nvSpPr>
          <p:cNvPr id="76" name="Rounded Rectangle 75"/>
          <p:cNvSpPr/>
          <p:nvPr/>
        </p:nvSpPr>
        <p:spPr>
          <a:xfrm>
            <a:off x="14356080" y="676656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CMS_C1_REPRESENTATIVE_BODA_VW</a:t>
            </a:r>
          </a:p>
        </p:txBody>
      </p:sp>
      <p:sp>
        <p:nvSpPr>
          <p:cNvPr id="77" name="Rounded Rectangle 76"/>
          <p:cNvSpPr/>
          <p:nvPr/>
        </p:nvSpPr>
        <p:spPr>
          <a:xfrm>
            <a:off x="14356080" y="731520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CMS_D1_ACTIVITY_CHAR_VW</a:t>
            </a:r>
          </a:p>
        </p:txBody>
      </p:sp>
      <p:sp>
        <p:nvSpPr>
          <p:cNvPr id="78" name="Rounded Rectangle 77"/>
          <p:cNvSpPr/>
          <p:nvPr/>
        </p:nvSpPr>
        <p:spPr>
          <a:xfrm>
            <a:off x="14356080" y="786384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CMS_D1_ACTIVITY_D1FA_BODA_VW</a:t>
            </a:r>
          </a:p>
        </p:txBody>
      </p:sp>
      <p:sp>
        <p:nvSpPr>
          <p:cNvPr id="79" name="Rounded Rectangle 78"/>
          <p:cNvSpPr/>
          <p:nvPr/>
        </p:nvSpPr>
        <p:spPr>
          <a:xfrm>
            <a:off x="14264640"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Crew domain</a:t>
            </a:r>
          </a:p>
        </p:txBody>
      </p:sp>
      <p:sp>
        <p:nvSpPr>
          <p:cNvPr id="80" name="Rounded Rectangle 79"/>
          <p:cNvSpPr/>
          <p:nvPr/>
        </p:nvSpPr>
        <p:spPr>
          <a:xfrm>
            <a:off x="15663672"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Field Activity domain</a:t>
            </a:r>
          </a:p>
        </p:txBody>
      </p:sp>
      <p:sp>
        <p:nvSpPr>
          <p:cNvPr id="81" name="Rounded Rectangle 80"/>
          <p:cNvSpPr/>
          <p:nvPr/>
        </p:nvSpPr>
        <p:spPr>
          <a:xfrm>
            <a:off x="17163288" y="6766560"/>
            <a:ext cx="196596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CMS_CI_CASE_VW</a:t>
            </a:r>
          </a:p>
        </p:txBody>
      </p:sp>
      <p:sp>
        <p:nvSpPr>
          <p:cNvPr id="82" name="Rounded Rectangle 81"/>
          <p:cNvSpPr/>
          <p:nvPr/>
        </p:nvSpPr>
        <p:spPr>
          <a:xfrm>
            <a:off x="17163288" y="7315200"/>
            <a:ext cx="196596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CMS_CI_CASE_LOG_VW</a:t>
            </a:r>
          </a:p>
        </p:txBody>
      </p:sp>
      <p:sp>
        <p:nvSpPr>
          <p:cNvPr id="83" name="Rounded Rectangle 82"/>
          <p:cNvSpPr/>
          <p:nvPr/>
        </p:nvSpPr>
        <p:spPr>
          <a:xfrm>
            <a:off x="17071848" y="9006840"/>
            <a:ext cx="21488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Case domain</a:t>
            </a:r>
          </a:p>
        </p:txBody>
      </p:sp>
      <p:cxnSp>
        <p:nvCxnSpPr>
          <p:cNvPr id="84" name="Connector 83"/>
          <p:cNvCxnSpPr/>
          <p:nvPr/>
        </p:nvCxnSpPr>
        <p:spPr>
          <a:xfrm>
            <a:off x="302666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95274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6170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1987784" y="2720339"/>
            <a:ext cx="274320" cy="2286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828263" y="3474720"/>
            <a:ext cx="0" cy="274319"/>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828263" y="3749039"/>
            <a:ext cx="2322577"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18150839" y="3749039"/>
            <a:ext cx="1" cy="32004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8150839" y="4937760"/>
            <a:ext cx="0" cy="32004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8214848" y="49606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93" name="Connector 92"/>
          <p:cNvCxnSpPr/>
          <p:nvPr/>
        </p:nvCxnSpPr>
        <p:spPr>
          <a:xfrm flipH="1">
            <a:off x="1664208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6322039"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95" name="Connector 94"/>
          <p:cNvCxnSpPr/>
          <p:nvPr/>
        </p:nvCxnSpPr>
        <p:spPr>
          <a:xfrm>
            <a:off x="15453359" y="4937760"/>
            <a:ext cx="0" cy="32004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15517367" y="49606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97" name="Connector 96"/>
          <p:cNvCxnSpPr/>
          <p:nvPr/>
        </p:nvCxnSpPr>
        <p:spPr>
          <a:xfrm flipH="1">
            <a:off x="1380744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348740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99" name="Connector 98"/>
          <p:cNvCxnSpPr/>
          <p:nvPr/>
        </p:nvCxnSpPr>
        <p:spPr>
          <a:xfrm flipH="1">
            <a:off x="1115568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7955279" y="4503420"/>
            <a:ext cx="457201"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6949440" y="3721608"/>
            <a:ext cx="0" cy="347472"/>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013448" y="3758183"/>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103" name="Connector 102"/>
          <p:cNvCxnSpPr/>
          <p:nvPr/>
        </p:nvCxnSpPr>
        <p:spPr>
          <a:xfrm flipH="1">
            <a:off x="5532120" y="4503420"/>
            <a:ext cx="41148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518922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105" name="Connector 104"/>
          <p:cNvCxnSpPr/>
          <p:nvPr/>
        </p:nvCxnSpPr>
        <p:spPr>
          <a:xfrm flipH="1">
            <a:off x="2660904" y="4503420"/>
            <a:ext cx="40233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297680" y="4937760"/>
            <a:ext cx="0" cy="41148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4297680" y="5349240"/>
            <a:ext cx="54864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9784080" y="4937760"/>
            <a:ext cx="0" cy="4114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E6ECF2"/>
                </a:solidFill>
              </a:rPr>
              <a:t>every 12 hours: the newest 3 months rebuilt, older rows kept</a:t>
            </a:r>
          </a:p>
        </p:txBody>
      </p:sp>
      <p:cxnSp>
        <p:nvCxnSpPr>
          <p:cNvPr id="110" name="Connector 109"/>
          <p:cNvCxnSpPr/>
          <p:nvPr/>
        </p:nvCxnSpPr>
        <p:spPr>
          <a:xfrm>
            <a:off x="2171700"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4887468"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03236"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0204704"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2829032"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12143232" y="8869680"/>
            <a:ext cx="6858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2143232"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2829032"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2829032" y="8869680"/>
            <a:ext cx="6858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3514832"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5613380"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a:off x="14913863" y="8869680"/>
            <a:ext cx="699517"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4913863"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5613380"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5613380" y="8869680"/>
            <a:ext cx="69951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6312896"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8146268"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E6ECF2"/>
                </a:solidFill>
              </a:rPr>
              <a:t>Every box in the map is one database object the domains read: seven rolling snapshot tables, the SA aged-balance table with its lookup seed, and eight CMS views. Numbers are the order of one rollout; blue diamonds are gates: yes continues, no stops the rollout there.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Objects The Domains Depend On (1 of 2)</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S9</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Table 5"/>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FFFFF"/>
                          </a:solidFill>
                        </a:rPr>
                        <a:t>Object</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Kind</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is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Depended on by</a:t>
                      </a:r>
                    </a:p>
                  </a:txBody>
                  <a:tcPr>
                    <a:solidFill>
                      <a:srgbClr val="006FAC"/>
                    </a:solidFill>
                  </a:tcPr>
                </a:tc>
              </a:tr>
              <a:tr h="1325880">
                <a:tc>
                  <a:txBody>
                    <a:bodyPr wrap="square" anchor="ctr" lIns="137160" rIns="137160" tIns="54864" bIns="54864"/>
                    <a:lstStyle/>
                    <a:p>
                      <a:pPr algn="l">
                        <a:spcAft>
                          <a:spcPts val="600"/>
                        </a:spcAft>
                      </a:pPr>
                      <a:r>
                        <a:rPr sz="1600" b="1">
                          <a:solidFill>
                            <a:srgbClr val="004B86"/>
                          </a:solidFill>
                        </a:rPr>
                        <a:t>CMS_SA_SNAPSHOT</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table + refresh procedure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Debt Management: the SA Snapshot Aged Balance domain, its account roll-up (a derived query over this table, not a second object), and every aged-debt view and dashboard on it</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CM_SNAPSHOT_TYPE_FLG</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lookup seed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four snapshot-type codes (LDAY, EMON, ARCH, LEMN) written into the C2M lookup tables. The domain inner-joins them, so a fresh database without the seed returns zero rows in every Ad Hoc 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Debt Management: SA Snapshot Aged Balance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CMS_D1_DVC_IDENTIFIER_VW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device with its identifiers pivoted from rows into columns: asset id, badge number, serial number, internal meter number, external and MDM ids, NIC id and serial, name, utility device id.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Device domain; Daily Installations, Disconnected Service Points, Meters Not Recently Read</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CMS_D1_DVC_BODA_VW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device's business-object data area parsed out of its XML: business object code, latest status, retirement date and time. One row per device.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Device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CMS_W1_ASSET_IDENTIFIER_VW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asset with its identifiers pivoted into columns, the asset-side twin of the device identifier view, so the Asset domain can join by badge, serial or external id.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Asset domain; In Storage, Distribution of Installed Assets, Non-Meter Assets</a:t>
                      </a:r>
                    </a:p>
                  </a:txBody>
                  <a:tcPr>
                    <a:solidFill>
                      <a:srgbClr val="E6EC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Objects The Domains Depend On (2 of 2)</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S10</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Table 5"/>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FFFFF"/>
                          </a:solidFill>
                        </a:rPr>
                        <a:t>Object</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Kind</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is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Depended on by</a:t>
                      </a:r>
                    </a:p>
                  </a:txBody>
                  <a:tcPr>
                    <a:solidFill>
                      <a:srgbClr val="006FAC"/>
                    </a:solidFill>
                  </a:tcPr>
                </a:tc>
              </a:tr>
              <a:tr h="1325880">
                <a:tc>
                  <a:txBody>
                    <a:bodyPr wrap="square" anchor="ctr" lIns="137160" rIns="137160" tIns="54864" bIns="54864"/>
                    <a:lstStyle/>
                    <a:p>
                      <a:pPr algn="l">
                        <a:spcAft>
                          <a:spcPts val="600"/>
                        </a:spcAft>
                      </a:pPr>
                      <a:r>
                        <a:rPr sz="1600" b="1">
                          <a:solidFill>
                            <a:srgbClr val="004B86"/>
                          </a:solidFill>
                        </a:rPr>
                        <a:t>CMS_C1_REPRESENTATIVE_BODA_VW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representative (crew member) mobile details parsed out of the representative's XML data area: the service areas they cover and their worker capabilities, one row per representative and area or capability.</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domain and its views</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CMS_D1_ACTIVITY_CHAR_VW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Activity characteristics pivoted per field activity: internal field-activity status, priority, and the third-party representative code, so the domain filters on them as columns.</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CMS_D1_ACTIVITY_D1FA_BODA_VW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field activity's business-object data parsed from XML: instructions and comments, the appointment window and who took it, expiration, requester, external references, and the customer and contact names and phone numbers.</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and Field Activity domains; Upcoming Field Work, Cancelations, Average Days per Field Task</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CMS_CI_CASE_VW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case with its create and close timestamps derived from the case log (the case-created entry and the closing status entry) and the duration in minutes, measured to now while the case is open.</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Customer Operations: Case domain and every case view</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CMS_CI_CASE_LOG_VW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case log as a timeline: every status change with the previous status, the previous log time, and how long the case sat in the previous and the current state.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Customer Operations: Case domain (state durations and the case timeline views)</a:t>
                      </a:r>
                    </a:p>
                  </a:txBody>
                  <a:tcPr>
                    <a:solidFill>
                      <a:srgbClr val="E6ECF2"/>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Full History, Then Rolling Refresh</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Baseline procedure</a:t>
            </a:r>
          </a:p>
          <a:p>
            <a:pPr algn="l">
              <a:spcAft>
                <a:spcPts val="600"/>
              </a:spcAft>
            </a:pPr>
            <a:r>
              <a:rPr sz="2000" b="0">
                <a:solidFill>
                  <a:srgbClr val="56636E"/>
                </a:solidFill>
              </a:rPr>
              <a:t>loads the retained 24 months once, one job per table</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Validate</a:t>
            </a:r>
          </a:p>
          <a:p>
            <a:pPr algn="l">
              <a:spcAft>
                <a:spcPts val="600"/>
              </a:spcAft>
            </a:pPr>
            <a:r>
              <a:rPr sz="2000" b="0">
                <a:solidFill>
                  <a:srgbClr val="56636E"/>
                </a:solidFill>
              </a:rPr>
              <a:t>row counts, monthly totals and keys checked after the load</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Rolling procedure</a:t>
            </a:r>
          </a:p>
          <a:p>
            <a:pPr algn="l">
              <a:spcAft>
                <a:spcPts val="600"/>
              </a:spcAft>
            </a:pPr>
            <a:r>
              <a:rPr sz="2000" b="0">
                <a:solidFill>
                  <a:srgbClr val="56636E"/>
                </a:solidFill>
              </a:rPr>
              <a:t>deletes and rebuilds only the newest months, twice a day</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Schedule</a:t>
            </a:r>
          </a:p>
          <a:p>
            <a:pPr algn="l">
              <a:spcAft>
                <a:spcPts val="600"/>
              </a:spcAft>
            </a:pPr>
            <a:r>
              <a:rPr sz="2000" b="0">
                <a:solidFill>
                  <a:srgbClr val="56636E"/>
                </a:solidFill>
              </a:rPr>
              <a:t>database jobs at 10:00 and 16:00 UTC, 30-minute stagger</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Capture runs</a:t>
            </a:r>
          </a:p>
          <a:p>
            <a:pPr algn="l">
              <a:spcAft>
                <a:spcPts val="600"/>
              </a:spcAft>
            </a:pPr>
            <a:r>
              <a:rPr sz="2000" b="0">
                <a:solidFill>
                  <a:srgbClr val="56636E"/>
                </a:solidFill>
              </a:rPr>
              <a:t>last run, duration and status recorded per job</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Data quality</a:t>
            </a:r>
          </a:p>
          <a:p>
            <a:pPr algn="l">
              <a:spcAft>
                <a:spcPts val="600"/>
              </a:spcAft>
            </a:pPr>
            <a:r>
              <a:rPr sz="2000" b="0">
                <a:solidFill>
                  <a:srgbClr val="56636E"/>
                </a:solidFill>
              </a:rPr>
              <a:t>high-level checks per client after every refresh</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Warehouse parity</a:t>
            </a:r>
          </a:p>
          <a:p>
            <a:pPr algn="l">
              <a:spcAft>
                <a:spcPts val="600"/>
              </a:spcAft>
            </a:pPr>
            <a:r>
              <a:rPr sz="2000" b="0">
                <a:solidFill>
                  <a:srgbClr val="56636E"/>
                </a:solidFill>
              </a:rPr>
              <a:t>nightly comparison of the dbt canvases to these tables</a:t>
            </a:r>
          </a:p>
        </p:txBody>
      </p:sp>
      <p:sp>
        <p:nvSpPr>
          <p:cNvPr id="13" name="Rounded Rectangle 12"/>
          <p:cNvSpPr/>
          <p:nvPr/>
        </p:nvSpPr>
        <p:spPr>
          <a:xfrm>
            <a:off x="8567928"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nightly</a:t>
            </a:r>
          </a:p>
        </p:txBody>
      </p:sp>
      <p:sp>
        <p:nvSpPr>
          <p:cNvPr id="14" name="Rounded Rectangle 13"/>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Windows per client</a:t>
            </a:r>
          </a:p>
          <a:p>
            <a:pPr algn="l">
              <a:spcAft>
                <a:spcPts val="600"/>
              </a:spcAft>
            </a:pPr>
            <a:r>
              <a:rPr sz="1600" b="0">
                <a:solidFill>
                  <a:srgbClr val="56636E"/>
                </a:solidFill>
              </a:rPr>
              <a:t>3 months rebuilt, 24 kept, on every table; 6-month rolling at CityCorp and Odessa</a:t>
            </a:r>
          </a:p>
        </p:txBody>
      </p:sp>
      <p:sp>
        <p:nvSpPr>
          <p:cNvPr id="15" name="Rounded Rectangle 14"/>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The lesson that shaped it</a:t>
            </a:r>
          </a:p>
          <a:p>
            <a:pPr algn="l">
              <a:spcAft>
                <a:spcPts val="600"/>
              </a:spcAft>
            </a:pPr>
            <a:r>
              <a:rPr sz="1600" b="0">
                <a:solidFill>
                  <a:srgbClr val="56636E"/>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Rolling schedule held on TEST until approved</a:t>
            </a:r>
          </a:p>
        </p:txBody>
      </p:sp>
      <p:cxnSp>
        <p:nvCxnSpPr>
          <p:cNvPr id="17" name="Connector 16"/>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baseline</a:t>
            </a:r>
          </a:p>
        </p:txBody>
      </p:sp>
      <p:sp>
        <p:nvSpPr>
          <p:cNvPr id="25" name="Rounded Rectangle 24"/>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cutover</a:t>
            </a:r>
          </a:p>
        </p:txBody>
      </p:sp>
      <p:sp>
        <p:nvSpPr>
          <p:cNvPr id="26" name="Rounded Rectangle 25"/>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How AI Built The Python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S12</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The prompt</a:t>
            </a:r>
          </a:p>
          <a:p>
            <a:pPr algn="l">
              <a:spcAft>
                <a:spcPts val="600"/>
              </a:spcAft>
            </a:pPr>
            <a:r>
              <a:rPr sz="2000" b="0">
                <a:solidFill>
                  <a:srgbClr val="56636E"/>
                </a:solidFill>
              </a:rPr>
              <a:t>the manual step, the SQL it ran, and the last failure seen</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Script with a dry run</a:t>
            </a:r>
          </a:p>
          <a:p>
            <a:pPr algn="l">
              <a:spcAft>
                <a:spcPts val="600"/>
              </a:spcAft>
            </a:pPr>
            <a:r>
              <a:rPr sz="1600" b="0">
                <a:solidFill>
                  <a:srgbClr val="56636E"/>
                </a:solidFill>
              </a:rPr>
              <a:t>every write is printed before it is made; nothing runs blind</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Run on TEST</a:t>
            </a:r>
          </a:p>
          <a:p>
            <a:pPr algn="l">
              <a:spcAft>
                <a:spcPts val="600"/>
              </a:spcAft>
            </a:pPr>
            <a:r>
              <a:rPr sz="2000" b="0">
                <a:solidFill>
                  <a:srgbClr val="56636E"/>
                </a:solidFill>
              </a:rPr>
              <a:t>measured, and the real error read rather than guessed</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Gate added</a:t>
            </a:r>
          </a:p>
          <a:p>
            <a:pPr algn="l">
              <a:spcAft>
                <a:spcPts val="600"/>
              </a:spcAft>
            </a:pPr>
            <a:r>
              <a:rPr sz="2000" b="0">
                <a:solidFill>
                  <a:srgbClr val="56636E"/>
                </a:solidFill>
              </a:rPr>
              <a:t>the failure becomes a check that fails first next time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 records it</a:t>
            </a:r>
          </a:p>
          <a:p>
            <a:pPr algn="l">
              <a:spcAft>
                <a:spcPts val="600"/>
              </a:spcAft>
            </a:pPr>
            <a:r>
              <a:rPr sz="2000" b="0">
                <a:solidFill>
                  <a:srgbClr val="56636E"/>
                </a:solidFill>
              </a:rPr>
              <a:t>dated, with the number, so the next session starts knowing</a:t>
            </a:r>
          </a:p>
        </p:txBody>
      </p:sp>
      <p:sp>
        <p:nvSpPr>
          <p:cNvPr id="11" name="Rounded Rectangle 10"/>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TEMP blew to 246 GB</a:t>
            </a:r>
          </a:p>
          <a:p>
            <a:pPr algn="l">
              <a:spcAft>
                <a:spcPts val="600"/>
              </a:spcAft>
            </a:pPr>
            <a:r>
              <a:rPr sz="2000" b="0">
                <a:solidFill>
                  <a:srgbClr val="56636E"/>
                </a:solidFill>
              </a:rPr>
              <a:t>now: staged builds and TEMP capped before the first run</a:t>
            </a:r>
          </a:p>
        </p:txBody>
      </p:sp>
      <p:sp>
        <p:nvSpPr>
          <p:cNvPr id="12" name="Rounded Rectangle 11"/>
          <p:cNvSpPr/>
          <p:nvPr/>
        </p:nvSpPr>
        <p:spPr>
          <a:xfrm>
            <a:off x="3666744"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3" name="Rounded Rectangle 12"/>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Import 'succeeded', wrote nothing</a:t>
            </a:r>
          </a:p>
          <a:p>
            <a:pPr algn="l">
              <a:spcAft>
                <a:spcPts val="600"/>
              </a:spcAft>
            </a:pPr>
            <a:r>
              <a:rPr sz="2000" b="0">
                <a:solidFill>
                  <a:srgbClr val="56636E"/>
                </a:solidFill>
              </a:rPr>
              <a:t>now: the package must carry the target's own datasource</a:t>
            </a:r>
          </a:p>
        </p:txBody>
      </p:sp>
      <p:sp>
        <p:nvSpPr>
          <p:cNvPr id="14" name="Rounded Rectangle 13"/>
          <p:cNvSpPr/>
          <p:nvPr/>
        </p:nvSpPr>
        <p:spPr>
          <a:xfrm>
            <a:off x="8567928"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5" name="Rounded Rectangle 14"/>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View runs but will not open</a:t>
            </a:r>
          </a:p>
          <a:p>
            <a:pPr algn="l">
              <a:spcAft>
                <a:spcPts val="600"/>
              </a:spcAft>
            </a:pPr>
            <a:r>
              <a:rPr sz="2000" b="0">
                <a:solidFill>
                  <a:srgbClr val="56636E"/>
                </a:solidFill>
              </a:rPr>
              <a:t>now: a checker predicts the broken topic before promotion</a:t>
            </a:r>
          </a:p>
        </p:txBody>
      </p:sp>
      <p:sp>
        <p:nvSpPr>
          <p:cNvPr id="16" name="Rounded Rectangle 15"/>
          <p:cNvSpPr/>
          <p:nvPr/>
        </p:nvSpPr>
        <p:spPr>
          <a:xfrm>
            <a:off x="13469112"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7" name="Rounded Rectangle 16"/>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More debugging that became tooling</a:t>
            </a:r>
          </a:p>
          <a:p>
            <a:pPr algn="l">
              <a:spcAft>
                <a:spcPts val="600"/>
              </a:spcAft>
            </a:pPr>
            <a:r>
              <a:rPr sz="1600" b="0">
                <a:solidFill>
                  <a:srgbClr val="56636E"/>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8" name="Rounded Rectangle 17"/>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Rule: a lesson is not learned until it is a test or a gate</a:t>
            </a:r>
          </a:p>
        </p:txBody>
      </p:sp>
      <p:cxnSp>
        <p:nvCxnSpPr>
          <p:cNvPr id="19" name="Connector 18"/>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9467576" y="4594860"/>
            <a:ext cx="374904"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9842480" y="1810512"/>
            <a:ext cx="0" cy="2784348"/>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706624" y="1810512"/>
            <a:ext cx="17135856"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706624" y="1810512"/>
            <a:ext cx="0" cy="109728"/>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8" name="Rounded Rectangle 27"/>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dry run before every write</a:t>
            </a:r>
          </a:p>
        </p:txBody>
      </p:sp>
      <p:sp>
        <p:nvSpPr>
          <p:cNvPr id="29" name="Rounded Rectangle 28"/>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run on TEST first</a:t>
            </a:r>
          </a:p>
        </p:txBody>
      </p:sp>
      <p:sp>
        <p:nvSpPr>
          <p:cNvPr id="30" name="Rounded Rectangle 29"/>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the failure becomes a gate</a:t>
            </a:r>
          </a:p>
        </p:txBody>
      </p:sp>
      <p:sp>
        <p:nvSpPr>
          <p:cNvPr id="31" name="Rounded Rectangle 30"/>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lesson dated in a skill</a:t>
            </a:r>
          </a:p>
        </p:txBody>
      </p:sp>
      <p:sp>
        <p:nvSpPr>
          <p:cNvPr id="32" name="TextBox 31"/>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Blue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The Promotion Path</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S13</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Pentagon 5"/>
          <p:cNvSpPr/>
          <p:nvPr/>
        </p:nvSpPr>
        <p:spPr>
          <a:xfrm>
            <a:off x="740664" y="2834640"/>
            <a:ext cx="4903470" cy="1645920"/>
          </a:xfrm>
          <a:prstGeom prst="homePlate">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Origin_DEV</a:t>
            </a:r>
          </a:p>
          <a:p>
            <a:pPr algn="ctr">
              <a:spcAft>
                <a:spcPts val="600"/>
              </a:spcAft>
            </a:pPr>
            <a:r>
              <a:rPr sz="1400" b="0">
                <a:solidFill>
                  <a:srgbClr val="56636E"/>
                </a:solidFill>
              </a:rPr>
              <a:t>authoring</a:t>
            </a:r>
          </a:p>
        </p:txBody>
      </p:sp>
      <p:sp>
        <p:nvSpPr>
          <p:cNvPr id="7" name="TextBox 6"/>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Every domain, view, report and dashboard is built here first</a:t>
            </a:r>
          </a:p>
          <a:p>
            <a:pPr algn="l">
              <a:spcAft>
                <a:spcPts val="600"/>
              </a:spcAft>
            </a:pPr>
            <a:r>
              <a:rPr sz="1600" b="0">
                <a:solidFill>
                  <a:srgbClr val="E6ECF2"/>
                </a:solidFill>
              </a:rPr>
              <a:t>The only place content is ever edited by hand</a:t>
            </a:r>
          </a:p>
        </p:txBody>
      </p:sp>
      <p:sp>
        <p:nvSpPr>
          <p:cNvPr id="8" name="Chevron 7"/>
          <p:cNvSpPr/>
          <p:nvPr/>
        </p:nvSpPr>
        <p:spPr>
          <a:xfrm>
            <a:off x="5324094" y="2834640"/>
            <a:ext cx="4903470" cy="1645920"/>
          </a:xfrm>
          <a:prstGeom prst="chevron">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Origin_TEST</a:t>
            </a:r>
          </a:p>
          <a:p>
            <a:pPr algn="ctr">
              <a:spcAft>
                <a:spcPts val="600"/>
              </a:spcAft>
            </a:pPr>
            <a:r>
              <a:rPr sz="1400" b="0">
                <a:solidFill>
                  <a:srgbClr val="56636E"/>
                </a:solidFill>
              </a:rPr>
              <a:t>proving</a:t>
            </a:r>
          </a:p>
        </p:txBody>
      </p:sp>
      <p:sp>
        <p:nvSpPr>
          <p:cNvPr id="9" name="TextBox 8"/>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The first promotion, with the seven proofs</a:t>
            </a:r>
          </a:p>
          <a:p>
            <a:pPr algn="l">
              <a:spcAft>
                <a:spcPts val="600"/>
              </a:spcAft>
            </a:pPr>
            <a:r>
              <a:rPr sz="1600" b="0">
                <a:solidFill>
                  <a:srgbClr val="E6ECF2"/>
                </a:solidFill>
              </a:rPr>
              <a:t>The offering is executed end to end before any client sees it</a:t>
            </a:r>
          </a:p>
        </p:txBody>
      </p:sp>
      <p:sp>
        <p:nvSpPr>
          <p:cNvPr id="10" name="Chevron 9"/>
          <p:cNvSpPr/>
          <p:nvPr/>
        </p:nvSpPr>
        <p:spPr>
          <a:xfrm>
            <a:off x="9907524" y="2834640"/>
            <a:ext cx="4903470" cy="1645920"/>
          </a:xfrm>
          <a:prstGeom prst="chevron">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Client test org</a:t>
            </a:r>
          </a:p>
          <a:p>
            <a:pPr algn="ctr">
              <a:spcAft>
                <a:spcPts val="600"/>
              </a:spcAft>
            </a:pPr>
            <a:r>
              <a:rPr sz="1400" b="0">
                <a:solidFill>
                  <a:srgbClr val="56636E"/>
                </a:solidFill>
              </a:rPr>
              <a:t>the client's own data</a:t>
            </a:r>
          </a:p>
        </p:txBody>
      </p:sp>
      <p:sp>
        <p:nvSpPr>
          <p:cNvPr id="11" name="TextBox 10"/>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Datasource switched to the client's test database</a:t>
            </a:r>
          </a:p>
          <a:p>
            <a:pPr algn="l">
              <a:spcAft>
                <a:spcPts val="600"/>
              </a:spcAft>
            </a:pPr>
            <a:r>
              <a:rPr sz="1600" b="0">
                <a:solidFill>
                  <a:srgbClr val="E6ECF2"/>
                </a:solidFill>
              </a:rPr>
              <a:t>Sweep and sign-off on the client's own numbers</a:t>
            </a:r>
          </a:p>
        </p:txBody>
      </p:sp>
      <p:sp>
        <p:nvSpPr>
          <p:cNvPr id="12" name="Chevron 11"/>
          <p:cNvSpPr/>
          <p:nvPr/>
        </p:nvSpPr>
        <p:spPr>
          <a:xfrm>
            <a:off x="14490954" y="2834640"/>
            <a:ext cx="4903470" cy="1645920"/>
          </a:xfrm>
          <a:prstGeom prst="chevron">
            <a:avLst>
              <a:gd name="adj" fmla="val 32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FFFFFF"/>
                </a:solidFill>
              </a:rPr>
              <a:t>Client prod org</a:t>
            </a:r>
          </a:p>
          <a:p>
            <a:pPr algn="ctr">
              <a:spcAft>
                <a:spcPts val="600"/>
              </a:spcAft>
            </a:pPr>
            <a:r>
              <a:rPr sz="1400" b="0">
                <a:solidFill>
                  <a:srgbClr val="FFFFFF"/>
                </a:solidFill>
              </a:rPr>
              <a:t>explicit prod flag</a:t>
            </a:r>
          </a:p>
        </p:txBody>
      </p:sp>
      <p:sp>
        <p:nvSpPr>
          <p:cNvPr id="13" name="TextBox 12"/>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Same tool, same proofs, a prod write flag required</a:t>
            </a:r>
          </a:p>
          <a:p>
            <a:pPr algn="l">
              <a:spcAft>
                <a:spcPts val="600"/>
              </a:spcAft>
            </a:pPr>
            <a:r>
              <a:rPr sz="1600" b="0">
                <a:solidFill>
                  <a:srgbClr val="E6ECF2"/>
                </a:solidFill>
              </a:rPr>
              <a:t>Inventory before and diff after: the rollback record</a:t>
            </a:r>
          </a:p>
        </p:txBody>
      </p:sp>
      <p:sp>
        <p:nvSpPr>
          <p:cNvPr id="14" name="Rounded Rectangle 13"/>
          <p:cNvSpPr/>
          <p:nvPr/>
        </p:nvSpPr>
        <p:spPr>
          <a:xfrm>
            <a:off x="740664"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The datasource changes at every hop</a:t>
            </a:r>
          </a:p>
          <a:p>
            <a:pPr algn="l">
              <a:spcAft>
                <a:spcPts val="600"/>
              </a:spcAft>
            </a:pPr>
            <a:r>
              <a:rPr sz="1500" b="0">
                <a:solidFill>
                  <a:srgbClr val="56636E"/>
                </a:solidFill>
              </a:rPr>
              <a:t>the package carries the target's own datasource export, never an edited copy</a:t>
            </a:r>
          </a:p>
        </p:txBody>
      </p:sp>
      <p:sp>
        <p:nvSpPr>
          <p:cNvPr id="15" name="Rounded Rectangle 14"/>
          <p:cNvSpPr/>
          <p:nvPr/>
        </p:nvSpPr>
        <p:spPr>
          <a:xfrm>
            <a:off x="7080503"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The same tool at every hop</a:t>
            </a:r>
          </a:p>
          <a:p>
            <a:pPr algn="l">
              <a:spcAft>
                <a:spcPts val="600"/>
              </a:spcAft>
            </a:pPr>
            <a:r>
              <a:rPr sz="1500" b="0">
                <a:solidFill>
                  <a:srgbClr val="56636E"/>
                </a:solidFill>
              </a:rPr>
              <a:t>one promotion path from authoring to prod, so every hop is proven the same way</a:t>
            </a:r>
          </a:p>
        </p:txBody>
      </p:sp>
      <p:sp>
        <p:nvSpPr>
          <p:cNvPr id="16" name="Rounded Rectangle 15"/>
          <p:cNvSpPr/>
          <p:nvPr/>
        </p:nvSpPr>
        <p:spPr>
          <a:xfrm>
            <a:off x="13420344"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Nothing edited by hand after Origin_DEV</a:t>
            </a:r>
          </a:p>
          <a:p>
            <a:pPr algn="l">
              <a:spcAft>
                <a:spcPts val="600"/>
              </a:spcAft>
            </a:pPr>
            <a:r>
              <a:rPr sz="1500" b="0">
                <a:solidFill>
                  <a:srgbClr val="56636E"/>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Standard Offering Deployment 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S14</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Origin_DEV</a:t>
            </a:r>
          </a:p>
          <a:p>
            <a:pPr algn="l">
              <a:spcAft>
                <a:spcPts val="600"/>
              </a:spcAft>
            </a:pPr>
            <a:r>
              <a:rPr sz="1100" b="0">
                <a:solidFill>
                  <a:srgbClr val="E6ECF2"/>
                </a:solidFill>
              </a:rPr>
              <a:t>authoring, the internal server</a:t>
            </a:r>
          </a:p>
        </p:txBody>
      </p:sp>
      <p:sp>
        <p:nvSpPr>
          <p:cNvPr id="8" name="Rounded Rectangle 7"/>
          <p:cNvSpPr/>
          <p:nvPr/>
        </p:nvSpPr>
        <p:spPr>
          <a:xfrm>
            <a:off x="5477256"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Origin_TEST</a:t>
            </a:r>
          </a:p>
          <a:p>
            <a:pPr algn="l">
              <a:spcAft>
                <a:spcPts val="600"/>
              </a:spcAft>
            </a:pPr>
            <a:r>
              <a:rPr sz="1100" b="0">
                <a:solidFill>
                  <a:srgbClr val="E6ECF2"/>
                </a:solidFill>
              </a:rPr>
              <a:t>proving, before any client</a:t>
            </a:r>
          </a:p>
        </p:txBody>
      </p:sp>
      <p:sp>
        <p:nvSpPr>
          <p:cNvPr id="10" name="Rounded Rectangle 9"/>
          <p:cNvSpPr/>
          <p:nvPr/>
        </p:nvSpPr>
        <p:spPr>
          <a:xfrm>
            <a:off x="10213848"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Client test org</a:t>
            </a:r>
          </a:p>
          <a:p>
            <a:pPr algn="l">
              <a:spcAft>
                <a:spcPts val="600"/>
              </a:spcAft>
            </a:pPr>
            <a:r>
              <a:rPr sz="1100" b="0">
                <a:solidFill>
                  <a:srgbClr val="E6ECF2"/>
                </a:solidFill>
              </a:rPr>
              <a:t>the client's own data</a:t>
            </a:r>
          </a:p>
        </p:txBody>
      </p:sp>
      <p:sp>
        <p:nvSpPr>
          <p:cNvPr id="12" name="Rounded Rectangle 11"/>
          <p:cNvSpPr/>
          <p:nvPr/>
        </p:nvSpPr>
        <p:spPr>
          <a:xfrm>
            <a:off x="14950440"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Client prod org</a:t>
            </a:r>
          </a:p>
          <a:p>
            <a:pPr algn="l">
              <a:spcAft>
                <a:spcPts val="600"/>
              </a:spcAft>
            </a:pPr>
            <a:r>
              <a:rPr sz="1100" b="0">
                <a:solidFill>
                  <a:srgbClr val="E6ECF2"/>
                </a:solidFill>
              </a:rPr>
              <a:t>read-only until the prod flag is given</a:t>
            </a:r>
          </a:p>
        </p:txBody>
      </p:sp>
      <p:sp>
        <p:nvSpPr>
          <p:cNvPr id="14" name="Rounded Rectangle 13"/>
          <p:cNvSpPr/>
          <p:nvPr/>
        </p:nvSpPr>
        <p:spPr>
          <a:xfrm>
            <a:off x="740664" y="8549640"/>
            <a:ext cx="18653760" cy="16916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8595360"/>
            <a:ext cx="18324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After go-live</a:t>
            </a:r>
          </a:p>
          <a:p>
            <a:pPr algn="l">
              <a:spcAft>
                <a:spcPts val="600"/>
              </a:spcAft>
            </a:pPr>
            <a:r>
              <a:rPr sz="1100" b="0">
                <a:solidFill>
                  <a:srgbClr val="E6ECF2"/>
                </a:solidFill>
              </a:rPr>
              <a:t>every change is a tool run with the same proofs, never a hand edit</a:t>
            </a:r>
          </a:p>
        </p:txBody>
      </p:sp>
      <p:sp>
        <p:nvSpPr>
          <p:cNvPr id="16" name="Rounded Rectangle 15"/>
          <p:cNvSpPr/>
          <p:nvPr/>
        </p:nvSpPr>
        <p:spPr>
          <a:xfrm>
            <a:off x="905256" y="2514600"/>
            <a:ext cx="41148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Workstreams tree</a:t>
            </a:r>
          </a:p>
          <a:p>
            <a:pPr algn="l">
              <a:spcAft>
                <a:spcPts val="600"/>
              </a:spcAft>
            </a:pPr>
            <a:r>
              <a:rPr sz="1100" b="0">
                <a:solidFill>
                  <a:srgbClr val="56636E"/>
                </a:solidFill>
              </a:rPr>
              <a:t>domains, Ad Hoc views, reports and dashboards: the only content edited by hand</a:t>
            </a:r>
          </a:p>
        </p:txBody>
      </p:sp>
      <p:sp>
        <p:nvSpPr>
          <p:cNvPr id="17" name="Oval 16"/>
          <p:cNvSpPr/>
          <p:nvPr/>
        </p:nvSpPr>
        <p:spPr>
          <a:xfrm>
            <a:off x="777240" y="2386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a:t>
            </a:r>
          </a:p>
        </p:txBody>
      </p:sp>
      <p:sp>
        <p:nvSpPr>
          <p:cNvPr id="18" name="Rounded Rectangle 17"/>
          <p:cNvSpPr/>
          <p:nvPr/>
        </p:nvSpPr>
        <p:spPr>
          <a:xfrm>
            <a:off x="905256" y="356616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Export the org</a:t>
            </a:r>
          </a:p>
          <a:p>
            <a:pPr algn="l">
              <a:spcAft>
                <a:spcPts val="600"/>
              </a:spcAft>
            </a:pPr>
            <a:r>
              <a:rPr sz="1100" b="0">
                <a:solidFill>
                  <a:srgbClr val="56636E"/>
                </a:solidFill>
              </a:rPr>
              <a:t>one API export task, polled, downloaded</a:t>
            </a:r>
          </a:p>
        </p:txBody>
      </p:sp>
      <p:sp>
        <p:nvSpPr>
          <p:cNvPr id="19" name="Oval 18"/>
          <p:cNvSpPr/>
          <p:nvPr/>
        </p:nvSpPr>
        <p:spPr>
          <a:xfrm>
            <a:off x="777240" y="34381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2</a:t>
            </a:r>
          </a:p>
        </p:txBody>
      </p:sp>
      <p:sp>
        <p:nvSpPr>
          <p:cNvPr id="20" name="Rounded Rectangle 19"/>
          <p:cNvSpPr/>
          <p:nvPr/>
        </p:nvSpPr>
        <p:spPr>
          <a:xfrm>
            <a:off x="905256" y="4434840"/>
            <a:ext cx="4114800" cy="14173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Build the package</a:t>
            </a:r>
          </a:p>
          <a:p>
            <a:pPr algn="l">
              <a:spcAft>
                <a:spcPts val="600"/>
              </a:spcAft>
            </a:pPr>
            <a:r>
              <a:rPr sz="1100" b="0">
                <a:solidFill>
                  <a:srgbClr val="56636E"/>
                </a:solidFill>
              </a:rPr>
              <a:t>inventory and classify the export; keep the offering list; one copy of each domain in one home; carry the datasource; rewrite every path; strip print wrappers; narrow the import index</a:t>
            </a:r>
          </a:p>
        </p:txBody>
      </p:sp>
      <p:sp>
        <p:nvSpPr>
          <p:cNvPr id="21" name="Oval 20"/>
          <p:cNvSpPr/>
          <p:nvPr/>
        </p:nvSpPr>
        <p:spPr>
          <a:xfrm>
            <a:off x="777240" y="43068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3</a:t>
            </a:r>
          </a:p>
        </p:txBody>
      </p:sp>
      <p:sp>
        <p:nvSpPr>
          <p:cNvPr id="22" name="Diamond 21"/>
          <p:cNvSpPr/>
          <p:nvPr/>
        </p:nvSpPr>
        <p:spPr>
          <a:xfrm>
            <a:off x="2276856" y="608076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package verifies?</a:t>
            </a:r>
          </a:p>
        </p:txBody>
      </p:sp>
      <p:sp>
        <p:nvSpPr>
          <p:cNvPr id="23" name="Oval 22"/>
          <p:cNvSpPr/>
          <p:nvPr/>
        </p:nvSpPr>
        <p:spPr>
          <a:xfrm>
            <a:off x="2148840" y="59527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4</a:t>
            </a:r>
          </a:p>
        </p:txBody>
      </p:sp>
      <p:sp>
        <p:nvSpPr>
          <p:cNvPr id="24" name="Rounded Rectangle 23"/>
          <p:cNvSpPr/>
          <p:nvPr/>
        </p:nvSpPr>
        <p:spPr>
          <a:xfrm>
            <a:off x="923544" y="628650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25" name="Rounded Rectangle 24"/>
          <p:cNvSpPr/>
          <p:nvPr/>
        </p:nvSpPr>
        <p:spPr>
          <a:xfrm>
            <a:off x="5641848" y="25146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Import, update in place</a:t>
            </a:r>
          </a:p>
          <a:p>
            <a:pPr algn="l">
              <a:spcAft>
                <a:spcPts val="600"/>
              </a:spcAft>
            </a:pPr>
            <a:r>
              <a:rPr sz="1100" b="0">
                <a:solidFill>
                  <a:srgbClr val="56636E"/>
                </a:solidFill>
              </a:rPr>
              <a:t>polled; an importer warning counts as a failure</a:t>
            </a:r>
          </a:p>
        </p:txBody>
      </p:sp>
      <p:sp>
        <p:nvSpPr>
          <p:cNvPr id="26" name="Oval 25"/>
          <p:cNvSpPr/>
          <p:nvPr/>
        </p:nvSpPr>
        <p:spPr>
          <a:xfrm>
            <a:off x="5513832" y="2386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5</a:t>
            </a:r>
          </a:p>
        </p:txBody>
      </p:sp>
      <p:sp>
        <p:nvSpPr>
          <p:cNvPr id="27" name="Rounded Rectangle 26"/>
          <p:cNvSpPr/>
          <p:nvPr/>
        </p:nvSpPr>
        <p:spPr>
          <a:xfrm>
            <a:off x="5641848" y="34290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Re-export and compare</a:t>
            </a:r>
          </a:p>
          <a:p>
            <a:pPr algn="l">
              <a:spcAft>
                <a:spcPts val="600"/>
              </a:spcAft>
            </a:pPr>
            <a:r>
              <a:rPr sz="1100" b="0">
                <a:solidFill>
                  <a:srgbClr val="56636E"/>
                </a:solidFill>
              </a:rPr>
              <a:t>byte-equal inside the scope, importer stamps ignored</a:t>
            </a:r>
          </a:p>
        </p:txBody>
      </p:sp>
      <p:sp>
        <p:nvSpPr>
          <p:cNvPr id="28" name="Oval 27"/>
          <p:cNvSpPr/>
          <p:nvPr/>
        </p:nvSpPr>
        <p:spPr>
          <a:xfrm>
            <a:off x="5513832" y="3300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6</a:t>
            </a:r>
          </a:p>
        </p:txBody>
      </p:sp>
      <p:sp>
        <p:nvSpPr>
          <p:cNvPr id="29" name="Rounded Rectangle 28"/>
          <p:cNvSpPr/>
          <p:nvPr/>
        </p:nvSpPr>
        <p:spPr>
          <a:xfrm>
            <a:off x="5641848" y="4343400"/>
            <a:ext cx="411480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Execute everything</a:t>
            </a:r>
          </a:p>
          <a:p>
            <a:pPr algn="l">
              <a:spcAft>
                <a:spcPts val="600"/>
              </a:spcAft>
            </a:pPr>
            <a:r>
              <a:rPr sz="1100" b="0">
                <a:solidFill>
                  <a:srgbClr val="56636E"/>
                </a:solidFill>
              </a:rPr>
              <a:t>views by query, reports as PDF, domains by metadata and probe</a:t>
            </a:r>
          </a:p>
        </p:txBody>
      </p:sp>
      <p:sp>
        <p:nvSpPr>
          <p:cNvPr id="30" name="Oval 29"/>
          <p:cNvSpPr/>
          <p:nvPr/>
        </p:nvSpPr>
        <p:spPr>
          <a:xfrm>
            <a:off x="5513832" y="42153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7</a:t>
            </a:r>
          </a:p>
        </p:txBody>
      </p:sp>
      <p:sp>
        <p:nvSpPr>
          <p:cNvPr id="31" name="Diamond 30"/>
          <p:cNvSpPr/>
          <p:nvPr/>
        </p:nvSpPr>
        <p:spPr>
          <a:xfrm>
            <a:off x="7013448" y="539496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seven proofs pass?</a:t>
            </a:r>
          </a:p>
        </p:txBody>
      </p:sp>
      <p:sp>
        <p:nvSpPr>
          <p:cNvPr id="32" name="Oval 31"/>
          <p:cNvSpPr/>
          <p:nvPr/>
        </p:nvSpPr>
        <p:spPr>
          <a:xfrm>
            <a:off x="6885432" y="5266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8</a:t>
            </a:r>
          </a:p>
        </p:txBody>
      </p:sp>
      <p:sp>
        <p:nvSpPr>
          <p:cNvPr id="33" name="Rounded Rectangle 32"/>
          <p:cNvSpPr/>
          <p:nvPr/>
        </p:nvSpPr>
        <p:spPr>
          <a:xfrm>
            <a:off x="8842248" y="560070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34" name="Rounded Rectangle 33"/>
          <p:cNvSpPr/>
          <p:nvPr/>
        </p:nvSpPr>
        <p:spPr>
          <a:xfrm>
            <a:off x="5641848" y="64008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04B86"/>
                </a:solidFill>
              </a:rPr>
              <a:t>Proven offering</a:t>
            </a:r>
          </a:p>
          <a:p>
            <a:pPr algn="ctr">
              <a:spcAft>
                <a:spcPts val="600"/>
              </a:spcAft>
            </a:pPr>
            <a:r>
              <a:rPr sz="1100" b="0">
                <a:solidFill>
                  <a:srgbClr val="56636E"/>
                </a:solidFill>
              </a:rPr>
              <a:t>the package every client promotion starts from</a:t>
            </a:r>
          </a:p>
        </p:txBody>
      </p:sp>
      <p:sp>
        <p:nvSpPr>
          <p:cNvPr id="35" name="Oval 34"/>
          <p:cNvSpPr/>
          <p:nvPr/>
        </p:nvSpPr>
        <p:spPr>
          <a:xfrm>
            <a:off x="5513832" y="62727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9</a:t>
            </a:r>
          </a:p>
        </p:txBody>
      </p:sp>
      <p:sp>
        <p:nvSpPr>
          <p:cNvPr id="36" name="Rounded Rectangle 35"/>
          <p:cNvSpPr/>
          <p:nvPr/>
        </p:nvSpPr>
        <p:spPr>
          <a:xfrm>
            <a:off x="10378440" y="2514600"/>
            <a:ext cx="4114800" cy="45720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FFFFFF"/>
                </a:solidFill>
              </a:rPr>
              <a:t>datasource: the client's own export, carried byte for byte</a:t>
            </a:r>
          </a:p>
        </p:txBody>
      </p:sp>
      <p:sp>
        <p:nvSpPr>
          <p:cNvPr id="37" name="Rounded Rectangle 36"/>
          <p:cNvSpPr/>
          <p:nvPr/>
        </p:nvSpPr>
        <p:spPr>
          <a:xfrm>
            <a:off x="10378440" y="310896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Inventory snapshot</a:t>
            </a:r>
          </a:p>
          <a:p>
            <a:pPr algn="l">
              <a:spcAft>
                <a:spcPts val="600"/>
              </a:spcAft>
            </a:pPr>
            <a:r>
              <a:rPr sz="1100" b="0">
                <a:solidFill>
                  <a:srgbClr val="56636E"/>
                </a:solidFill>
              </a:rPr>
              <a:t>every resource on the org before anything changes</a:t>
            </a:r>
          </a:p>
        </p:txBody>
      </p:sp>
      <p:sp>
        <p:nvSpPr>
          <p:cNvPr id="38" name="Oval 37"/>
          <p:cNvSpPr/>
          <p:nvPr/>
        </p:nvSpPr>
        <p:spPr>
          <a:xfrm>
            <a:off x="10250424" y="2980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10</a:t>
            </a:r>
          </a:p>
        </p:txBody>
      </p:sp>
      <p:sp>
        <p:nvSpPr>
          <p:cNvPr id="39" name="Rounded Rectangle 38"/>
          <p:cNvSpPr/>
          <p:nvPr/>
        </p:nvSpPr>
        <p:spPr>
          <a:xfrm>
            <a:off x="10378440" y="3977639"/>
            <a:ext cx="4114800" cy="10972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Rebuild for the client</a:t>
            </a:r>
          </a:p>
          <a:p>
            <a:pPr algn="l">
              <a:spcAft>
                <a:spcPts val="600"/>
              </a:spcAft>
            </a:pPr>
            <a:r>
              <a:rPr sz="1100" b="0">
                <a:solidFill>
                  <a:srgbClr val="56636E"/>
                </a:solidFill>
              </a:rPr>
              <a:t>the client's datasource carried; org path, folder, alias and tenant root rewritten by tested replacements</a:t>
            </a:r>
          </a:p>
        </p:txBody>
      </p:sp>
      <p:sp>
        <p:nvSpPr>
          <p:cNvPr id="40" name="Oval 39"/>
          <p:cNvSpPr/>
          <p:nvPr/>
        </p:nvSpPr>
        <p:spPr>
          <a:xfrm>
            <a:off x="10250424" y="38496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11</a:t>
            </a:r>
          </a:p>
        </p:txBody>
      </p:sp>
      <p:sp>
        <p:nvSpPr>
          <p:cNvPr id="41" name="Diamond 40"/>
          <p:cNvSpPr/>
          <p:nvPr/>
        </p:nvSpPr>
        <p:spPr>
          <a:xfrm>
            <a:off x="11750040" y="521208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package verified?</a:t>
            </a:r>
          </a:p>
        </p:txBody>
      </p:sp>
      <p:sp>
        <p:nvSpPr>
          <p:cNvPr id="42" name="Oval 41"/>
          <p:cNvSpPr/>
          <p:nvPr/>
        </p:nvSpPr>
        <p:spPr>
          <a:xfrm>
            <a:off x="11622024" y="5084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12</a:t>
            </a:r>
          </a:p>
        </p:txBody>
      </p:sp>
      <p:sp>
        <p:nvSpPr>
          <p:cNvPr id="43" name="Rounded Rectangle 42"/>
          <p:cNvSpPr/>
          <p:nvPr/>
        </p:nvSpPr>
        <p:spPr>
          <a:xfrm>
            <a:off x="13578840" y="541782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44" name="Rounded Rectangle 43"/>
          <p:cNvSpPr/>
          <p:nvPr/>
        </p:nvSpPr>
        <p:spPr>
          <a:xfrm>
            <a:off x="10378440" y="621792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Import, compare, execute</a:t>
            </a:r>
          </a:p>
          <a:p>
            <a:pPr algn="l">
              <a:spcAft>
                <a:spcPts val="600"/>
              </a:spcAft>
            </a:pPr>
            <a:r>
              <a:rPr sz="1100" b="0">
                <a:solidFill>
                  <a:srgbClr val="56636E"/>
                </a:solidFill>
              </a:rPr>
              <a:t>the same three proofs as Origin_TEST</a:t>
            </a:r>
          </a:p>
        </p:txBody>
      </p:sp>
      <p:sp>
        <p:nvSpPr>
          <p:cNvPr id="45" name="Oval 44"/>
          <p:cNvSpPr/>
          <p:nvPr/>
        </p:nvSpPr>
        <p:spPr>
          <a:xfrm>
            <a:off x="10250424" y="6089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13</a:t>
            </a:r>
          </a:p>
        </p:txBody>
      </p:sp>
      <p:sp>
        <p:nvSpPr>
          <p:cNvPr id="46" name="Rounded Rectangle 45"/>
          <p:cNvSpPr/>
          <p:nvPr/>
        </p:nvSpPr>
        <p:spPr>
          <a:xfrm>
            <a:off x="10378440" y="7086600"/>
            <a:ext cx="41148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and sign off</a:t>
            </a:r>
          </a:p>
          <a:p>
            <a:pPr algn="l">
              <a:spcAft>
                <a:spcPts val="600"/>
              </a:spcAft>
            </a:pPr>
            <a:r>
              <a:rPr sz="1100" b="0">
                <a:solidFill>
                  <a:srgbClr val="56636E"/>
                </a:solidFill>
              </a:rPr>
              <a:t>PASS, EMPTY, SLOW or FAIL per resource with timing; one document per org</a:t>
            </a:r>
          </a:p>
        </p:txBody>
      </p:sp>
      <p:sp>
        <p:nvSpPr>
          <p:cNvPr id="47" name="Oval 46"/>
          <p:cNvSpPr/>
          <p:nvPr/>
        </p:nvSpPr>
        <p:spPr>
          <a:xfrm>
            <a:off x="10250424" y="6958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14</a:t>
            </a:r>
          </a:p>
        </p:txBody>
      </p:sp>
      <p:sp>
        <p:nvSpPr>
          <p:cNvPr id="48" name="Rounded Rectangle 47"/>
          <p:cNvSpPr/>
          <p:nvPr/>
        </p:nvSpPr>
        <p:spPr>
          <a:xfrm>
            <a:off x="15115032" y="2514600"/>
            <a:ext cx="4114800" cy="45720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FFFFFF"/>
                </a:solidFill>
              </a:rPr>
              <a:t>explicit prod flag required</a:t>
            </a:r>
          </a:p>
        </p:txBody>
      </p:sp>
      <p:sp>
        <p:nvSpPr>
          <p:cNvPr id="49" name="Rounded Rectangle 48"/>
          <p:cNvSpPr/>
          <p:nvPr/>
        </p:nvSpPr>
        <p:spPr>
          <a:xfrm>
            <a:off x="15115032" y="3108960"/>
            <a:ext cx="4114800" cy="6858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Inventory snapshot</a:t>
            </a:r>
          </a:p>
          <a:p>
            <a:pPr algn="l">
              <a:spcAft>
                <a:spcPts val="600"/>
              </a:spcAft>
            </a:pPr>
            <a:r>
              <a:rPr sz="1100" b="0">
                <a:solidFill>
                  <a:srgbClr val="56636E"/>
                </a:solidFill>
              </a:rPr>
              <a:t>the rollback baseline</a:t>
            </a:r>
          </a:p>
        </p:txBody>
      </p:sp>
      <p:sp>
        <p:nvSpPr>
          <p:cNvPr id="50" name="Oval 49"/>
          <p:cNvSpPr/>
          <p:nvPr/>
        </p:nvSpPr>
        <p:spPr>
          <a:xfrm>
            <a:off x="14987016" y="2980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15</a:t>
            </a:r>
          </a:p>
        </p:txBody>
      </p:sp>
      <p:sp>
        <p:nvSpPr>
          <p:cNvPr id="51" name="Rounded Rectangle 50"/>
          <p:cNvSpPr/>
          <p:nvPr/>
        </p:nvSpPr>
        <p:spPr>
          <a:xfrm>
            <a:off x="15115032" y="3931920"/>
            <a:ext cx="4114800" cy="10058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Same promotion, same proofs</a:t>
            </a:r>
          </a:p>
          <a:p>
            <a:pPr algn="l">
              <a:spcAft>
                <a:spcPts val="600"/>
              </a:spcAft>
            </a:pPr>
            <a:r>
              <a:rPr sz="1100" b="0">
                <a:solidFill>
                  <a:srgbClr val="56636E"/>
                </a:solidFill>
              </a:rPr>
              <a:t>target datasource carried; rewritten; verified; imported; compared; executed</a:t>
            </a:r>
          </a:p>
        </p:txBody>
      </p:sp>
      <p:sp>
        <p:nvSpPr>
          <p:cNvPr id="52" name="Oval 51"/>
          <p:cNvSpPr/>
          <p:nvPr/>
        </p:nvSpPr>
        <p:spPr>
          <a:xfrm>
            <a:off x="14987016" y="3803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16</a:t>
            </a:r>
          </a:p>
        </p:txBody>
      </p:sp>
      <p:sp>
        <p:nvSpPr>
          <p:cNvPr id="53" name="Diamond 52"/>
          <p:cNvSpPr/>
          <p:nvPr/>
        </p:nvSpPr>
        <p:spPr>
          <a:xfrm>
            <a:off x="16486632" y="507492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seven proofs pass?</a:t>
            </a:r>
          </a:p>
        </p:txBody>
      </p:sp>
      <p:sp>
        <p:nvSpPr>
          <p:cNvPr id="54" name="Oval 53"/>
          <p:cNvSpPr/>
          <p:nvPr/>
        </p:nvSpPr>
        <p:spPr>
          <a:xfrm>
            <a:off x="16358616" y="4946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17</a:t>
            </a:r>
          </a:p>
        </p:txBody>
      </p:sp>
      <p:sp>
        <p:nvSpPr>
          <p:cNvPr id="55" name="Rounded Rectangle 54"/>
          <p:cNvSpPr/>
          <p:nvPr/>
        </p:nvSpPr>
        <p:spPr>
          <a:xfrm>
            <a:off x="18315432" y="528066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56" name="Rounded Rectangle 55"/>
          <p:cNvSpPr/>
          <p:nvPr/>
        </p:nvSpPr>
        <p:spPr>
          <a:xfrm>
            <a:off x="15115032" y="6035040"/>
            <a:ext cx="4114800" cy="6858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and sign off</a:t>
            </a:r>
          </a:p>
          <a:p>
            <a:pPr algn="l">
              <a:spcAft>
                <a:spcPts val="600"/>
              </a:spcAft>
            </a:pPr>
            <a:r>
              <a:rPr sz="1100" b="0">
                <a:solidFill>
                  <a:srgbClr val="56636E"/>
                </a:solidFill>
              </a:rPr>
              <a:t>on the client's prod numbers</a:t>
            </a:r>
          </a:p>
        </p:txBody>
      </p:sp>
      <p:sp>
        <p:nvSpPr>
          <p:cNvPr id="57" name="Oval 56"/>
          <p:cNvSpPr/>
          <p:nvPr/>
        </p:nvSpPr>
        <p:spPr>
          <a:xfrm>
            <a:off x="14987016" y="59070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18</a:t>
            </a:r>
          </a:p>
        </p:txBody>
      </p:sp>
      <p:sp>
        <p:nvSpPr>
          <p:cNvPr id="58" name="Rounded Rectangle 57"/>
          <p:cNvSpPr/>
          <p:nvPr/>
        </p:nvSpPr>
        <p:spPr>
          <a:xfrm>
            <a:off x="15115032" y="68580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Diff after = rollback record</a:t>
            </a:r>
          </a:p>
          <a:p>
            <a:pPr algn="l">
              <a:spcAft>
                <a:spcPts val="600"/>
              </a:spcAft>
            </a:pPr>
            <a:r>
              <a:rPr sz="1100" b="0">
                <a:solidFill>
                  <a:srgbClr val="56636E"/>
                </a:solidFill>
              </a:rPr>
              <a:t>inventory before against after: nothing else moved</a:t>
            </a:r>
          </a:p>
        </p:txBody>
      </p:sp>
      <p:sp>
        <p:nvSpPr>
          <p:cNvPr id="59" name="Oval 58"/>
          <p:cNvSpPr/>
          <p:nvPr/>
        </p:nvSpPr>
        <p:spPr>
          <a:xfrm>
            <a:off x="14987016" y="6729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19</a:t>
            </a:r>
          </a:p>
        </p:txBody>
      </p:sp>
      <p:sp>
        <p:nvSpPr>
          <p:cNvPr id="60" name="Rounded Rectangle 59"/>
          <p:cNvSpPr/>
          <p:nvPr/>
        </p:nvSpPr>
        <p:spPr>
          <a:xfrm>
            <a:off x="91440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Additive-only domain patch</a:t>
            </a:r>
          </a:p>
          <a:p>
            <a:pPr algn="l">
              <a:spcAft>
                <a:spcPts val="600"/>
              </a:spcAft>
            </a:pPr>
            <a:r>
              <a:rPr sz="1100" b="0">
                <a:solidFill>
                  <a:srgbClr val="56636E"/>
                </a:solidFill>
              </a:rPr>
              <a:t>the additions guard refuses any change to what is there; seven proofs per org; one-command restore</a:t>
            </a:r>
          </a:p>
        </p:txBody>
      </p:sp>
      <p:sp>
        <p:nvSpPr>
          <p:cNvPr id="61" name="Rounded Rectangle 60"/>
          <p:cNvSpPr/>
          <p:nvPr/>
        </p:nvSpPr>
        <p:spPr>
          <a:xfrm>
            <a:off x="713232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Standardized Reports folder</a:t>
            </a:r>
          </a:p>
          <a:p>
            <a:pPr algn="l">
              <a:spcAft>
                <a:spcPts val="600"/>
              </a:spcAft>
            </a:pPr>
            <a:r>
              <a:rPr sz="1100" b="0">
                <a:solidFill>
                  <a:srgbClr val="56636E"/>
                </a:solidFill>
              </a:rPr>
              <a:t>scheduled SQL reports in one folder; on Origin_DEV today, promoted to client orgs by the same tool when approved</a:t>
            </a:r>
          </a:p>
        </p:txBody>
      </p:sp>
      <p:sp>
        <p:nvSpPr>
          <p:cNvPr id="62" name="Rounded Rectangle 61"/>
          <p:cNvSpPr/>
          <p:nvPr/>
        </p:nvSpPr>
        <p:spPr>
          <a:xfrm>
            <a:off x="1335024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after every change</a:t>
            </a:r>
          </a:p>
          <a:p>
            <a:pPr algn="l">
              <a:spcAft>
                <a:spcPts val="600"/>
              </a:spcAft>
            </a:pPr>
            <a:r>
              <a:rPr sz="1100" b="0">
                <a:solidFill>
                  <a:srgbClr val="56636E"/>
                </a:solidFill>
              </a:rPr>
              <a:t>the sign-off is regenerated; the first red row is the alert</a:t>
            </a:r>
          </a:p>
        </p:txBody>
      </p:sp>
      <p:sp>
        <p:nvSpPr>
          <p:cNvPr id="63" name="TextBox 62"/>
          <p:cNvSpPr txBox="1"/>
          <p:nvPr/>
        </p:nvSpPr>
        <p:spPr>
          <a:xfrm>
            <a:off x="12527280" y="1325880"/>
            <a:ext cx="6675120" cy="320040"/>
          </a:xfrm>
          <a:prstGeom prst="rect">
            <a:avLst/>
          </a:prstGeom>
          <a:noFill/>
        </p:spPr>
        <p:txBody>
          <a:bodyPr wrap="square" anchor="t" lIns="0" rIns="0" tIns="54864" bIns="54864">
            <a:spAutoFit/>
          </a:bodyPr>
          <a:lstStyle/>
          <a:p>
            <a:pPr algn="l">
              <a:spcAft>
                <a:spcPts val="600"/>
              </a:spcAft>
            </a:pPr>
            <a:r>
              <a:rPr sz="1200" b="1">
                <a:solidFill>
                  <a:srgbClr val="E6ECF2"/>
                </a:solidFill>
              </a:rPr>
              <a:t>every later change re-enters at the client test org and repeats steps 10 to 19</a:t>
            </a:r>
          </a:p>
        </p:txBody>
      </p:sp>
      <p:cxnSp>
        <p:nvCxnSpPr>
          <p:cNvPr id="64" name="Connector 63"/>
          <p:cNvCxnSpPr/>
          <p:nvPr/>
        </p:nvCxnSpPr>
        <p:spPr>
          <a:xfrm>
            <a:off x="2962656" y="34290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962656" y="4297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962656" y="5852159"/>
            <a:ext cx="0" cy="22860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819656" y="649224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1499616" y="618134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69" name="Connector 68"/>
          <p:cNvCxnSpPr/>
          <p:nvPr/>
        </p:nvCxnSpPr>
        <p:spPr>
          <a:xfrm>
            <a:off x="3648456" y="6492240"/>
            <a:ext cx="16824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5330952" y="2903220"/>
            <a:ext cx="0" cy="358902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330952" y="290322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023360" y="6144768"/>
            <a:ext cx="914400" cy="365760"/>
          </a:xfrm>
          <a:prstGeom prst="rect">
            <a:avLst/>
          </a:prstGeom>
          <a:noFill/>
        </p:spPr>
        <p:txBody>
          <a:bodyPr wrap="square" anchor="b" lIns="0" rIns="0" tIns="54864" bIns="54864">
            <a:spAutoFit/>
          </a:bodyPr>
          <a:lstStyle/>
          <a:p>
            <a:pPr algn="l">
              <a:spcAft>
                <a:spcPts val="600"/>
              </a:spcAft>
            </a:pPr>
            <a:r>
              <a:rPr sz="1100" b="1">
                <a:solidFill>
                  <a:srgbClr val="E6ECF2"/>
                </a:solidFill>
              </a:rPr>
              <a:t>yes</a:t>
            </a:r>
          </a:p>
        </p:txBody>
      </p:sp>
      <p:cxnSp>
        <p:nvCxnSpPr>
          <p:cNvPr id="73" name="Connector 72"/>
          <p:cNvCxnSpPr/>
          <p:nvPr/>
        </p:nvCxnSpPr>
        <p:spPr>
          <a:xfrm>
            <a:off x="7699248" y="32918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699248" y="42062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699248" y="521208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385048" y="580644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065008" y="549554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78" name="Connector 77"/>
          <p:cNvCxnSpPr/>
          <p:nvPr/>
        </p:nvCxnSpPr>
        <p:spPr>
          <a:xfrm>
            <a:off x="7699248" y="621792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763256" y="617220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80" name="Connector 79"/>
          <p:cNvCxnSpPr/>
          <p:nvPr/>
        </p:nvCxnSpPr>
        <p:spPr>
          <a:xfrm>
            <a:off x="9756648" y="6789420"/>
            <a:ext cx="3108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0067544" y="3474720"/>
            <a:ext cx="0" cy="33147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067544" y="347472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435840" y="29718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2435840" y="3840480"/>
            <a:ext cx="0" cy="137159"/>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2435840" y="507492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3121640" y="5623559"/>
            <a:ext cx="457200" cy="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12801600" y="531266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88" name="Connector 87"/>
          <p:cNvCxnSpPr/>
          <p:nvPr/>
        </p:nvCxnSpPr>
        <p:spPr>
          <a:xfrm>
            <a:off x="12435840" y="603504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12499848" y="59893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90" name="Connector 89"/>
          <p:cNvCxnSpPr/>
          <p:nvPr/>
        </p:nvCxnSpPr>
        <p:spPr>
          <a:xfrm>
            <a:off x="12435840" y="69494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4493240" y="7543800"/>
            <a:ext cx="3108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4804136" y="2743200"/>
            <a:ext cx="0" cy="48006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04136" y="274320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7172432" y="29718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7172432" y="379476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172432" y="493776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7858232" y="548640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7538192" y="517550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99" name="Connector 98"/>
          <p:cNvCxnSpPr/>
          <p:nvPr/>
        </p:nvCxnSpPr>
        <p:spPr>
          <a:xfrm>
            <a:off x="17172432" y="58978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17236440" y="582930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101" name="Connector 100"/>
          <p:cNvCxnSpPr/>
          <p:nvPr/>
        </p:nvCxnSpPr>
        <p:spPr>
          <a:xfrm>
            <a:off x="17172432" y="67208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7172432" y="7635240"/>
            <a:ext cx="0" cy="77724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a:off x="16276320" y="8412480"/>
            <a:ext cx="896112"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6276320" y="8412480"/>
            <a:ext cx="0" cy="68580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9202400" y="9578340"/>
            <a:ext cx="4572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9659600" y="1691640"/>
            <a:ext cx="0" cy="78867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12435840" y="1691640"/>
            <a:ext cx="722376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2435840" y="1691640"/>
            <a:ext cx="0" cy="8229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740664" y="10332720"/>
            <a:ext cx="18653760" cy="457200"/>
          </a:xfrm>
          <a:prstGeom prst="rect">
            <a:avLst/>
          </a:prstGeom>
          <a:noFill/>
        </p:spPr>
        <p:txBody>
          <a:bodyPr wrap="square" anchor="t" lIns="0" rIns="0" tIns="54864" bIns="54864">
            <a:spAutoFit/>
          </a:bodyPr>
          <a:lstStyle/>
          <a:p>
            <a:pPr algn="l">
              <a:spcAft>
                <a:spcPts val="600"/>
              </a:spcAft>
            </a:pPr>
            <a:r>
              <a:rPr sz="1200" b="0">
                <a:solidFill>
                  <a:srgbClr val="E6ECF2"/>
                </a:solidFill>
              </a:rPr>
              <a:t>Blue diamonds are gates: yes continues, no stops the run and names the rollback. Numbers are the order of one full promotion.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Jaspersoft REST Promotion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S15</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a:t>
            </a:r>
          </a:p>
          <a:p>
            <a:pPr algn="l">
              <a:spcAft>
                <a:spcPts val="600"/>
              </a:spcAft>
            </a:pPr>
            <a:r>
              <a:rPr sz="1600" b="0">
                <a:solidFill>
                  <a:srgbClr val="56636E"/>
                </a:solidFill>
              </a:rPr>
              <a:t>an export task on the source server, polled, downloaded as a package</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2. Rebuild the package</a:t>
            </a:r>
          </a:p>
          <a:p>
            <a:pPr algn="l">
              <a:spcAft>
                <a:spcPts val="600"/>
              </a:spcAft>
            </a:pPr>
            <a:r>
              <a:rPr sz="2000" b="0">
                <a:solidFill>
                  <a:srgbClr val="56636E"/>
                </a:solidFill>
              </a:rPr>
              <a:t>target datasource carried in; every file in scope rewritten</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Verify</a:t>
            </a:r>
          </a:p>
          <a:p>
            <a:pPr algn="l">
              <a:spcAft>
                <a:spcPts val="600"/>
              </a:spcAft>
            </a:pPr>
            <a:r>
              <a:rPr sz="1600" b="0">
                <a:solidFill>
                  <a:srgbClr val="56636E"/>
                </a:solidFill>
              </a:rPr>
              <a:t>no source host or datasource name survives; references exist; fields resolve</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4. Import</a:t>
            </a:r>
          </a:p>
          <a:p>
            <a:pPr algn="l">
              <a:spcAft>
                <a:spcPts val="600"/>
              </a:spcAft>
            </a:pPr>
            <a:r>
              <a:rPr sz="2000" b="0">
                <a:solidFill>
                  <a:srgbClr val="56636E"/>
                </a:solidFill>
              </a:rPr>
              <a:t>update in place, polled; a warning counts as a failure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5. Re-export and compare</a:t>
            </a:r>
          </a:p>
          <a:p>
            <a:pPr algn="l">
              <a:spcAft>
                <a:spcPts val="600"/>
              </a:spcAft>
            </a:pPr>
            <a:r>
              <a:rPr sz="2000" b="0">
                <a:solidFill>
                  <a:srgbClr val="56636E"/>
                </a:solidFill>
              </a:rPr>
              <a:t>byte-equal inside the scope, importer stamps ignored</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Execute</a:t>
            </a:r>
          </a:p>
          <a:p>
            <a:pPr algn="l">
              <a:spcAft>
                <a:spcPts val="600"/>
              </a:spcAft>
            </a:pPr>
            <a:r>
              <a:rPr sz="1600" b="0">
                <a:solidFill>
                  <a:srgbClr val="56636E"/>
                </a:solidFill>
              </a:rPr>
              <a:t>views by query, reports as PDF, domains by metadata and probe</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Sweep and sign-off</a:t>
            </a:r>
          </a:p>
          <a:p>
            <a:pPr algn="l">
              <a:spcAft>
                <a:spcPts val="600"/>
              </a:spcAft>
            </a:pPr>
            <a:r>
              <a:rPr sz="2000" b="0">
                <a:solidFill>
                  <a:srgbClr val="56636E"/>
                </a:solidFill>
              </a:rPr>
              <a:t>everything in the folder executed, then the document</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Inventory first</a:t>
            </a:r>
          </a:p>
          <a:p>
            <a:pPr algn="l">
              <a:spcAft>
                <a:spcPts val="600"/>
              </a:spcAft>
            </a:pPr>
            <a:r>
              <a:rPr sz="1600" b="0">
                <a:solidFill>
                  <a:srgbClr val="56636E"/>
                </a:solidFill>
              </a:rPr>
              <a:t>a snapshot of the org before, a diff after: the rollback record</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What gets switched on the way</a:t>
            </a:r>
          </a:p>
          <a:p>
            <a:pPr algn="l">
              <a:spcAft>
                <a:spcPts val="600"/>
              </a:spcAft>
            </a:pPr>
            <a:r>
              <a:rPr sz="1600" b="0">
                <a:solidFill>
                  <a:srgbClr val="56636E"/>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5" name="Rounded Rectangle 14"/>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Root login on every server; prod writes need an explicit prod flag</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every resource executes</a:t>
            </a:r>
          </a:p>
        </p:txBody>
      </p:sp>
      <p:sp>
        <p:nvSpPr>
          <p:cNvPr id="26" name="Rounded Rectangle 25"/>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Inside The Promotion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S16</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rewritten</a:t>
            </a:r>
          </a:p>
          <a:p>
            <a:pPr algn="l">
              <a:spcAft>
                <a:spcPts val="600"/>
              </a:spcAft>
            </a:pPr>
            <a:r>
              <a:rPr sz="2100" b="0">
                <a:solidFill>
                  <a:srgbClr val="56636E"/>
                </a:solidFill>
              </a:rPr>
              <a:t>•  Every absolute repository path from the source org to the target org, longest path first so a folder never clips a file</a:t>
            </a:r>
          </a:p>
          <a:p>
            <a:pPr algn="l">
              <a:spcAft>
                <a:spcPts val="600"/>
              </a:spcAft>
            </a:pPr>
            <a:r>
              <a:rPr sz="2100" b="0">
                <a:solidFill>
                  <a:srgbClr val="56636E"/>
                </a:solidFill>
              </a:rPr>
              <a:t>•  The destination folder, so a resource can land somewhere other than where it came from</a:t>
            </a:r>
          </a:p>
          <a:p>
            <a:pPr algn="l">
              <a:spcAft>
                <a:spcPts val="600"/>
              </a:spcAft>
            </a:pPr>
            <a:r>
              <a:rPr sz="2100" b="0">
                <a:solidFill>
                  <a:srgbClr val="56636E"/>
                </a:solidFill>
              </a:rPr>
              <a:t>•  The datasource reference in every report, view and domain, plus the alias and schema id inside the domain XML</a:t>
            </a:r>
          </a:p>
          <a:p>
            <a:pPr algn="l">
              <a:spcAft>
                <a:spcPts val="600"/>
              </a:spcAft>
            </a:pPr>
            <a:r>
              <a:rPr sz="2100" b="0">
                <a:solidFill>
                  <a:srgbClr val="56636E"/>
                </a:solidFill>
              </a:rPr>
              <a:t>•  The tenant root in the package index so the importer resolves references against the right org</a:t>
            </a:r>
          </a:p>
          <a:p>
            <a:pPr algn="l">
              <a:spcAft>
                <a:spcPts val="600"/>
              </a:spcAft>
            </a:pPr>
            <a:r>
              <a:rPr sz="2100" b="0">
                <a:solidFill>
                  <a:srgbClr val="56636E"/>
                </a:solidFill>
              </a:rPr>
              <a:t>•  Nothing else: the rewrite is a list of tested replacements, not a free-text edit</a:t>
            </a:r>
          </a:p>
        </p:txBody>
      </p:sp>
      <p:sp>
        <p:nvSpPr>
          <p:cNvPr id="7" name="Rounded Rectangle 6"/>
          <p:cNvSpPr/>
          <p:nvPr/>
        </p:nvSpPr>
        <p:spPr>
          <a:xfrm>
            <a:off x="711098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verified</a:t>
            </a:r>
          </a:p>
          <a:p>
            <a:pPr algn="l">
              <a:spcAft>
                <a:spcPts val="600"/>
              </a:spcAft>
            </a:pPr>
            <a:r>
              <a:rPr sz="2100" b="0">
                <a:solidFill>
                  <a:srgbClr val="56636E"/>
                </a:solidFill>
              </a:rPr>
              <a:t>•  No string from the source server, source org or source datasource remains anywhere in the package</a:t>
            </a:r>
          </a:p>
          <a:p>
            <a:pPr algn="l">
              <a:spcAft>
                <a:spcPts val="600"/>
              </a:spcAft>
            </a:pPr>
            <a:r>
              <a:rPr sz="2100" b="0">
                <a:solidFill>
                  <a:srgbClr val="56636E"/>
                </a:solidFill>
              </a:rPr>
              <a:t>•  Every reference a resource makes to something outside the package already exists on the target</a:t>
            </a:r>
          </a:p>
          <a:p>
            <a:pPr algn="l">
              <a:spcAft>
                <a:spcPts val="600"/>
              </a:spcAft>
            </a:pPr>
            <a:r>
              <a:rPr sz="2100" b="0">
                <a:solidFill>
                  <a:srgbClr val="56636E"/>
                </a:solidFill>
              </a:rPr>
              <a:t>•  Every field an Ad Hoc view uses resolves to an item in its domain, at any nesting depth</a:t>
            </a:r>
          </a:p>
          <a:p>
            <a:pPr algn="l">
              <a:spcAft>
                <a:spcPts val="600"/>
              </a:spcAft>
            </a:pPr>
            <a:r>
              <a:rPr sz="2100" b="0">
                <a:solidFill>
                  <a:srgbClr val="56636E"/>
                </a:solidFill>
              </a:rPr>
              <a:t>•  The target datasource in the package is byte-identical to the target's own export of it</a:t>
            </a:r>
          </a:p>
          <a:p>
            <a:pPr algn="l">
              <a:spcAft>
                <a:spcPts val="600"/>
              </a:spcAft>
            </a:pPr>
            <a:r>
              <a:rPr sz="2100" b="0">
                <a:solidFill>
                  <a:srgbClr val="56636E"/>
                </a:solidFill>
              </a:rPr>
              <a:t>•  The org path guard only fires when the two roots differ, so the same org on two servers is allowed</a:t>
            </a:r>
          </a:p>
        </p:txBody>
      </p:sp>
      <p:sp>
        <p:nvSpPr>
          <p:cNvPr id="8" name="Rounded Rectangle 7"/>
          <p:cNvSpPr/>
          <p:nvPr/>
        </p:nvSpPr>
        <p:spPr>
          <a:xfrm>
            <a:off x="1348130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executed</a:t>
            </a:r>
          </a:p>
          <a:p>
            <a:pPr algn="l">
              <a:spcAft>
                <a:spcPts val="600"/>
              </a:spcAft>
            </a:pPr>
            <a:r>
              <a:rPr sz="2100" b="0">
                <a:solidFill>
                  <a:srgbClr val="56636E"/>
                </a:solidFill>
              </a:rPr>
              <a:t>•  Each Ad Hoc view is run through the query engine and must return without error</a:t>
            </a:r>
          </a:p>
          <a:p>
            <a:pPr algn="l">
              <a:spcAft>
                <a:spcPts val="600"/>
              </a:spcAft>
            </a:pPr>
            <a:r>
              <a:rPr sz="2100" b="0">
                <a:solidFill>
                  <a:srgbClr val="56636E"/>
                </a:solidFill>
              </a:rPr>
              <a:t>•  Each report is rendered to PDF with its default parameters</a:t>
            </a:r>
          </a:p>
          <a:p>
            <a:pPr algn="l">
              <a:spcAft>
                <a:spcPts val="600"/>
              </a:spcAft>
            </a:pPr>
            <a:r>
              <a:rPr sz="2100" b="0">
                <a:solidFill>
                  <a:srgbClr val="56636E"/>
                </a:solidFill>
              </a:rPr>
              <a:t>•  Each domain is read for its metadata and probed with a query on its root set</a:t>
            </a:r>
          </a:p>
          <a:p>
            <a:pPr algn="l">
              <a:spcAft>
                <a:spcPts val="600"/>
              </a:spcAft>
            </a:pPr>
            <a:r>
              <a:rPr sz="2100" b="0">
                <a:solidFill>
                  <a:srgbClr val="56636E"/>
                </a:solidFill>
              </a:rPr>
              <a:t>•  The sweep classifies every resource PASS, EMPTY, SLOW or FAIL with its timing</a:t>
            </a:r>
          </a:p>
          <a:p>
            <a:pPr algn="l">
              <a:spcAft>
                <a:spcPts val="600"/>
              </a:spcAft>
            </a:pPr>
            <a:r>
              <a:rPr sz="2100" b="0">
                <a:solidFill>
                  <a:srgbClr val="56636E"/>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The Automations</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FFFFF"/>
                          </a:solidFill>
                        </a:rPr>
                        <a:t>Automation</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does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proves</a:t>
                      </a:r>
                    </a:p>
                  </a:txBody>
                  <a:tcPr>
                    <a:solidFill>
                      <a:srgbClr val="006FAC"/>
                    </a:solidFill>
                  </a:tcPr>
                </a:tc>
              </a:tr>
              <a:tr h="777240">
                <a:tc>
                  <a:txBody>
                    <a:bodyPr wrap="square" anchor="ctr" lIns="137160" rIns="137160" tIns="54864" bIns="54864"/>
                    <a:lstStyle/>
                    <a:p>
                      <a:pPr algn="l">
                        <a:spcAft>
                          <a:spcPts val="600"/>
                        </a:spcAft>
                      </a:pPr>
                      <a:r>
                        <a:rPr sz="1900" b="1">
                          <a:solidFill>
                            <a:srgbClr val="004B86"/>
                          </a:solidFill>
                        </a:rPr>
                        <a:t>Snapshot runner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Runs one deployment step for one client as the deploy user, logging every statement; compound steps pair a stage with its validation</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Every step has a log and a gate; nothing moves on unvalidated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Prod rollout wrapper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Runs the whole prod sequence, steps 1 to 8, and stops at the first failed gate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 client is deployed the same way every time</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Baseline gate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Polls the database scheduler until every baseline job reports SUCCEEDED</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No table is used before its load finished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Install and parity gates</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Row counts, monthly totals, duplicate keys, aged-balance buckets against the source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The tables match CISADM before they are scheduled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Repository inventory</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Snapshots every resource on an org before a change and diffs after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 rollback record and proof nothing else moved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Promotion</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Exports, rewrites, verifies, imports, re-exports, executes any resource from any org to any org</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Seven proofs, and prod only with an explicit flag</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Domain patch</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Applies an additive change to a domain on many orgs, refusing any change that alters what is there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Read-back byte-equal, bound views run, rows tie</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Sweep</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Executes every view, report and dashboard in a folder and classifies each</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PASS, EMPTY, SLOW or FAIL per resource with timing</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Sign-off builder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Turns the sweep evidence into the validation document</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One document per org, identical structure every time</a:t>
                      </a:r>
                    </a:p>
                  </a:txBody>
                  <a:tcPr>
                    <a:solidFill>
                      <a:srgbClr val="E6EC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How AI Runs It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S17</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Instruction</a:t>
            </a:r>
          </a:p>
          <a:p>
            <a:pPr algn="l">
              <a:spcAft>
                <a:spcPts val="600"/>
              </a:spcAft>
            </a:pPr>
            <a:r>
              <a:rPr sz="2000" b="0">
                <a:solidFill>
                  <a:srgbClr val="56636E"/>
                </a:solidFill>
              </a:rPr>
              <a:t>Chase names the org, the change and the environment</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Skills load</a:t>
            </a:r>
          </a:p>
          <a:p>
            <a:pPr algn="l">
              <a:spcAft>
                <a:spcPts val="600"/>
              </a:spcAft>
            </a:pPr>
            <a:r>
              <a:rPr sz="2000" b="0">
                <a:solidFill>
                  <a:srgbClr val="56636E"/>
                </a:solidFill>
              </a:rPr>
              <a:t>runbooks, measured facts and dated lessons for that task</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Tool runs</a:t>
            </a:r>
          </a:p>
          <a:p>
            <a:pPr algn="l">
              <a:spcAft>
                <a:spcPts val="600"/>
              </a:spcAft>
            </a:pPr>
            <a:r>
              <a:rPr sz="2000" b="0">
                <a:solidFill>
                  <a:srgbClr val="56636E"/>
                </a:solidFill>
              </a:rPr>
              <a:t>export, patch, build, promote, sweep, with a dry run first</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Proof printed</a:t>
            </a:r>
          </a:p>
          <a:p>
            <a:pPr algn="l">
              <a:spcAft>
                <a:spcPts val="600"/>
              </a:spcAft>
            </a:pPr>
            <a:r>
              <a:rPr sz="2000" b="0">
                <a:solidFill>
                  <a:srgbClr val="56636E"/>
                </a:solidFill>
              </a:rPr>
              <a:t>or the step stops and names the rollback</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 updated</a:t>
            </a:r>
          </a:p>
          <a:p>
            <a:pPr algn="l">
              <a:spcAft>
                <a:spcPts val="600"/>
              </a:spcAft>
            </a:pPr>
            <a:r>
              <a:rPr sz="2000" b="0">
                <a:solidFill>
                  <a:srgbClr val="56636E"/>
                </a:solidFill>
              </a:rPr>
              <a:t>the new fact, with its number, in the same session</a:t>
            </a:r>
          </a:p>
        </p:txBody>
      </p:sp>
      <p:sp>
        <p:nvSpPr>
          <p:cNvPr id="11" name="Rounded Rectangle 10"/>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runs</a:t>
            </a:r>
          </a:p>
          <a:p>
            <a:pPr algn="l">
              <a:spcAft>
                <a:spcPts val="600"/>
              </a:spcAft>
            </a:pPr>
            <a:r>
              <a:rPr sz="1600" b="0">
                <a:solidFill>
                  <a:srgbClr val="56636E"/>
                </a:solidFill>
              </a:rPr>
              <a:t>builds, promotions, domain patches, sweeps, sign-off documents, diagnostics</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knows</a:t>
            </a:r>
          </a:p>
          <a:p>
            <a:pPr algn="l">
              <a:spcAft>
                <a:spcPts val="600"/>
              </a:spcAft>
            </a:pPr>
            <a:r>
              <a:rPr sz="1600" b="0">
                <a:solidFill>
                  <a:srgbClr val="56636E"/>
                </a:solidFill>
              </a:rPr>
              <a:t>C2M joins and cardinalities, the server estate, every dated lesson</a:t>
            </a:r>
          </a:p>
        </p:txBody>
      </p:sp>
      <p:sp>
        <p:nvSpPr>
          <p:cNvPr id="13" name="Rounded Rectangle 12"/>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never does</a:t>
            </a:r>
          </a:p>
          <a:p>
            <a:pPr algn="l">
              <a:spcAft>
                <a:spcPts val="600"/>
              </a:spcAft>
            </a:pPr>
            <a:r>
              <a:rPr sz="1600" b="0">
                <a:solidFill>
                  <a:srgbClr val="56636E"/>
                </a:solidFill>
              </a:rPr>
              <a:t>write to prod unasked, print a credential, guess a client code</a:t>
            </a:r>
          </a:p>
        </p:txBody>
      </p:sp>
      <p:sp>
        <p:nvSpPr>
          <p:cNvPr id="14" name="Rounded Rectangle 13"/>
          <p:cNvSpPr/>
          <p:nvPr/>
        </p:nvSpPr>
        <p:spPr>
          <a:xfrm>
            <a:off x="13286232" y="3502152"/>
            <a:ext cx="109728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guardrail</a:t>
            </a:r>
          </a:p>
        </p:txBody>
      </p:sp>
      <p:sp>
        <p:nvSpPr>
          <p:cNvPr id="15" name="Rounded Rectangle 14"/>
          <p:cNvSpPr/>
          <p:nvPr/>
        </p:nvSpPr>
        <p:spPr>
          <a:xfrm>
            <a:off x="740664" y="5806440"/>
            <a:ext cx="13716000" cy="11887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Guardrails live in the tools, not in the conversation</a:t>
            </a:r>
          </a:p>
          <a:p>
            <a:pPr algn="l">
              <a:spcAft>
                <a:spcPts val="600"/>
              </a:spcAft>
            </a:pPr>
            <a:r>
              <a:rPr sz="1600" b="0">
                <a:solidFill>
                  <a:srgbClr val="56636E"/>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303 of 379 commits in one repo, 255 of 351 in the other</a:t>
            </a:r>
          </a:p>
        </p:txBody>
      </p:sp>
      <p:sp>
        <p:nvSpPr>
          <p:cNvPr id="17" name="Rounded Rectangle 16"/>
          <p:cNvSpPr/>
          <p:nvPr/>
        </p:nvSpPr>
        <p:spPr>
          <a:xfrm>
            <a:off x="15435072" y="7132320"/>
            <a:ext cx="3931920" cy="109728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Human-only today</a:t>
            </a:r>
          </a:p>
          <a:p>
            <a:pPr algn="l">
              <a:spcAft>
                <a:spcPts val="600"/>
              </a:spcAft>
            </a:pPr>
            <a:r>
              <a:rPr sz="2000" b="0">
                <a:solidFill>
                  <a:srgbClr val="56636E"/>
                </a:solidFill>
              </a:rPr>
              <a:t>Ad Hoc designer checks, users, themes, server config</a:t>
            </a:r>
          </a:p>
        </p:txBody>
      </p:sp>
      <p:sp>
        <p:nvSpPr>
          <p:cNvPr id="18" name="Rounded Rectangle 17"/>
          <p:cNvSpPr/>
          <p:nvPr/>
        </p:nvSpPr>
        <p:spPr>
          <a:xfrm>
            <a:off x="18544031" y="6748272"/>
            <a:ext cx="73152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human</a:t>
            </a:r>
          </a:p>
        </p:txBody>
      </p:sp>
      <p:cxnSp>
        <p:nvCxnSpPr>
          <p:cNvPr id="19" name="Connector 18"/>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9467576" y="4594860"/>
            <a:ext cx="374904"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9842480" y="1810512"/>
            <a:ext cx="0" cy="2784348"/>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607808" y="1810512"/>
            <a:ext cx="12234672"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07808" y="1810512"/>
            <a:ext cx="0" cy="109728"/>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Results, Measured</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5" name="Rounded Rectangle 4"/>
          <p:cNvSpPr/>
          <p:nvPr/>
        </p:nvSpPr>
        <p:spPr>
          <a:xfrm>
            <a:off x="740664"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100%</a:t>
            </a:r>
          </a:p>
          <a:p>
            <a:pPr algn="l">
              <a:spcAft>
                <a:spcPts val="600"/>
              </a:spcAft>
            </a:pPr>
            <a:r>
              <a:rPr sz="1800" b="0">
                <a:solidFill>
                  <a:srgbClr val="56636E"/>
                </a:solidFill>
              </a:rPr>
              <a:t>138,086 of 138,086 SA balances tie to the cent</a:t>
            </a:r>
          </a:p>
          <a:p>
            <a:pPr algn="l">
              <a:spcAft>
                <a:spcPts val="600"/>
              </a:spcAft>
            </a:pPr>
            <a:r>
              <a:rPr sz="3000" b="1">
                <a:solidFill>
                  <a:srgbClr val="004B86"/>
                </a:solidFill>
              </a:rPr>
              <a:t>Snapshots on prod</a:t>
            </a:r>
          </a:p>
          <a:p>
            <a:pPr algn="l">
              <a:spcAft>
                <a:spcPts val="600"/>
              </a:spcAft>
            </a:pPr>
            <a:r>
              <a:rPr sz="2200" b="0">
                <a:solidFill>
                  <a:srgbClr val="56636E"/>
                </a:solidFill>
              </a:rPr>
              <a:t>Ellensburg, CityCorp, College Station, Newark refreshed twice daily</a:t>
            </a:r>
          </a:p>
          <a:p>
            <a:pPr algn="l">
              <a:spcAft>
                <a:spcPts val="600"/>
              </a:spcAft>
            </a:pPr>
            <a:r>
              <a:rPr sz="2200" b="0">
                <a:solidFill>
                  <a:srgbClr val="56636E"/>
                </a:solidFill>
              </a:rPr>
              <a:t>Baselines run as parallel jobs, gated, unattended</a:t>
            </a:r>
          </a:p>
        </p:txBody>
      </p:sp>
      <p:sp>
        <p:nvSpPr>
          <p:cNvPr id="6" name="Rounded Rectangle 5"/>
          <p:cNvSpPr/>
          <p:nvPr/>
        </p:nvSpPr>
        <p:spPr>
          <a:xfrm>
            <a:off x="7110983"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11 min</a:t>
            </a:r>
          </a:p>
          <a:p>
            <a:pPr algn="l">
              <a:spcAft>
                <a:spcPts val="600"/>
              </a:spcAft>
            </a:pPr>
            <a:r>
              <a:rPr sz="1800" b="0">
                <a:solidFill>
                  <a:srgbClr val="56636E"/>
                </a:solidFill>
              </a:rPr>
              <a:t>Ellensburg, test org to prod org, 0 errors</a:t>
            </a:r>
          </a:p>
          <a:p>
            <a:pPr algn="l">
              <a:spcAft>
                <a:spcPts val="600"/>
              </a:spcAft>
            </a:pPr>
            <a:r>
              <a:rPr sz="3000" b="1">
                <a:solidFill>
                  <a:srgbClr val="004B86"/>
                </a:solidFill>
              </a:rPr>
              <a:t>Standard Offering to prod</a:t>
            </a:r>
          </a:p>
          <a:p>
            <a:pPr algn="l">
              <a:spcAft>
                <a:spcPts val="600"/>
              </a:spcAft>
            </a:pPr>
            <a:r>
              <a:rPr sz="2200" b="0">
                <a:solidFill>
                  <a:srgbClr val="56636E"/>
                </a:solidFill>
              </a:rPr>
              <a:t>Newark 21 minutes, 0 errors</a:t>
            </a:r>
          </a:p>
          <a:p>
            <a:pPr algn="l">
              <a:spcAft>
                <a:spcPts val="600"/>
              </a:spcAft>
            </a:pPr>
            <a:r>
              <a:rPr sz="2200" b="0">
                <a:solidFill>
                  <a:srgbClr val="56636E"/>
                </a:solidFill>
              </a:rPr>
              <a:t>116 ok, 7 empty, 27 slow on the first sweep</a:t>
            </a:r>
          </a:p>
          <a:p>
            <a:pPr algn="l">
              <a:spcAft>
                <a:spcPts val="600"/>
              </a:spcAft>
            </a:pPr>
            <a:r>
              <a:rPr sz="2200" b="0">
                <a:solidFill>
                  <a:srgbClr val="56636E"/>
                </a:solidFill>
              </a:rPr>
              <a:t>596 report units kept loading through the server upgrade</a:t>
            </a:r>
          </a:p>
        </p:txBody>
      </p:sp>
      <p:sp>
        <p:nvSpPr>
          <p:cNvPr id="7" name="Rounded Rectangle 6"/>
          <p:cNvSpPr/>
          <p:nvPr/>
        </p:nvSpPr>
        <p:spPr>
          <a:xfrm>
            <a:off x="13481303"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6 orgs</a:t>
            </a:r>
          </a:p>
          <a:p>
            <a:pPr algn="l">
              <a:spcAft>
                <a:spcPts val="600"/>
              </a:spcAft>
            </a:pPr>
            <a:r>
              <a:rPr sz="1800" b="0">
                <a:solidFill>
                  <a:srgbClr val="56636E"/>
                </a:solidFill>
              </a:rPr>
              <a:t>one domain change, seven proofs each, in an afternoon</a:t>
            </a:r>
          </a:p>
          <a:p>
            <a:pPr algn="l">
              <a:spcAft>
                <a:spcPts val="600"/>
              </a:spcAft>
            </a:pPr>
            <a:r>
              <a:rPr sz="3000" b="1">
                <a:solidFill>
                  <a:srgbClr val="004B86"/>
                </a:solidFill>
              </a:rPr>
              <a:t>Day-to-day changes</a:t>
            </a:r>
          </a:p>
          <a:p>
            <a:pPr algn="l">
              <a:spcAft>
                <a:spcPts val="600"/>
              </a:spcAft>
            </a:pPr>
            <a:r>
              <a:rPr sz="2200" b="0">
                <a:solidFill>
                  <a:srgbClr val="56636E"/>
                </a:solidFill>
              </a:rPr>
              <a:t>21 College Station reports prod to test in a morning</a:t>
            </a:r>
          </a:p>
          <a:p>
            <a:pPr algn="l">
              <a:spcAft>
                <a:spcPts val="600"/>
              </a:spcAft>
            </a:pPr>
            <a:r>
              <a:rPr sz="2200" b="0">
                <a:solidFill>
                  <a:srgbClr val="56636E"/>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One Sweep, Read Closely</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S18</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Chart 5"/>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7" name="Rounded Rectangle 6"/>
          <p:cNvSpPr/>
          <p:nvPr/>
        </p:nvSpPr>
        <p:spPr>
          <a:xfrm>
            <a:off x="9875520" y="2103120"/>
            <a:ext cx="2377440" cy="502920"/>
          </a:xfrm>
          <a:prstGeom prst="roundRect">
            <a:avLst>
              <a:gd name="adj" fmla="val 35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FFFFF"/>
                </a:solidFill>
              </a:rPr>
              <a:t>OK  116</a:t>
            </a:r>
          </a:p>
        </p:txBody>
      </p:sp>
      <p:sp>
        <p:nvSpPr>
          <p:cNvPr id="8" name="TextBox 7"/>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and returned rows inside the time limit</a:t>
            </a:r>
          </a:p>
        </p:txBody>
      </p:sp>
      <p:sp>
        <p:nvSpPr>
          <p:cNvPr id="9" name="Rounded Rectangle 8"/>
          <p:cNvSpPr/>
          <p:nvPr/>
        </p:nvSpPr>
        <p:spPr>
          <a:xfrm>
            <a:off x="9875520" y="2834639"/>
            <a:ext cx="2377440" cy="502920"/>
          </a:xfrm>
          <a:prstGeom prst="roundRect">
            <a:avLst>
              <a:gd name="adj" fmla="val 35000"/>
            </a:avLst>
          </a:prstGeom>
          <a:solidFill>
            <a:srgbClr val="5DA5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Slow  27</a:t>
            </a:r>
          </a:p>
        </p:txBody>
      </p:sp>
      <p:sp>
        <p:nvSpPr>
          <p:cNvPr id="10" name="TextBox 9"/>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and returned rows, but took over a minute: a tuning list, not a failure</a:t>
            </a:r>
          </a:p>
        </p:txBody>
      </p:sp>
      <p:sp>
        <p:nvSpPr>
          <p:cNvPr id="11" name="Rounded Rectangle 10"/>
          <p:cNvSpPr/>
          <p:nvPr/>
        </p:nvSpPr>
        <p:spPr>
          <a:xfrm>
            <a:off x="9875520" y="3566159"/>
            <a:ext cx="2377440" cy="502920"/>
          </a:xfrm>
          <a:prstGeom prst="roundRect">
            <a:avLst>
              <a:gd name="adj" fmla="val 35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Empty  7</a:t>
            </a:r>
          </a:p>
        </p:txBody>
      </p:sp>
      <p:sp>
        <p:nvSpPr>
          <p:cNvPr id="12" name="TextBox 11"/>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without error and returned no rows: the client has no data there yet</a:t>
            </a:r>
          </a:p>
        </p:txBody>
      </p:sp>
      <p:sp>
        <p:nvSpPr>
          <p:cNvPr id="13" name="Rounded Rectangle 12"/>
          <p:cNvSpPr/>
          <p:nvPr/>
        </p:nvSpPr>
        <p:spPr>
          <a:xfrm>
            <a:off x="9875520" y="4297679"/>
            <a:ext cx="2377440" cy="502920"/>
          </a:xfrm>
          <a:prstGeom prst="roundRect">
            <a:avLst>
              <a:gd name="adj" fmla="val 35000"/>
            </a:avLst>
          </a:prstGeom>
          <a:solidFill>
            <a:srgbClr val="8B15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FFFFF"/>
                </a:solidFill>
              </a:rPr>
              <a:t>Failed  0</a:t>
            </a:r>
          </a:p>
        </p:txBody>
      </p:sp>
      <p:sp>
        <p:nvSpPr>
          <p:cNvPr id="14" name="TextBox 13"/>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did not run; there were none</a:t>
            </a:r>
          </a:p>
        </p:txBody>
      </p:sp>
      <p:sp>
        <p:nvSpPr>
          <p:cNvPr id="15" name="Rounded Rectangle 14"/>
          <p:cNvSpPr/>
          <p:nvPr/>
        </p:nvSpPr>
        <p:spPr>
          <a:xfrm>
            <a:off x="9875520" y="5394959"/>
            <a:ext cx="9509760" cy="23774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04B86"/>
                </a:solidFill>
              </a:rPr>
              <a:t>150 resources, 0 failures</a:t>
            </a:r>
          </a:p>
          <a:p>
            <a:pPr algn="l">
              <a:spcAft>
                <a:spcPts val="600"/>
              </a:spcAft>
            </a:pPr>
            <a:r>
              <a:rPr sz="1800" b="0">
                <a:solidFill>
                  <a:srgbClr val="56636E"/>
                </a:solidFill>
              </a:rPr>
              <a:t>Ellensburg prod, the Standard Offering, 11 minutes end to end; the same sweep runs after every promotion and every domain patch</a:t>
            </a:r>
          </a:p>
        </p:txBody>
      </p:sp>
      <p:sp>
        <p:nvSpPr>
          <p:cNvPr id="16" name="TextBox 1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Constraint Today, And What Replaces It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S19</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Manual QA now</a:t>
            </a:r>
          </a:p>
        </p:txBody>
      </p:sp>
      <p:sp>
        <p:nvSpPr>
          <p:cNvPr id="7" name="TextBox 6"/>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Next: Playwright, and agents on the network (Shankar)</a:t>
            </a:r>
          </a:p>
        </p:txBody>
      </p:sp>
      <p:sp>
        <p:nvSpPr>
          <p:cNvPr id="8" name="Rounded Rectangle 7"/>
          <p:cNvSpPr/>
          <p:nvPr/>
        </p:nvSpPr>
        <p:spPr>
          <a:xfrm>
            <a:off x="740664" y="25603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Opening each Ad Hoc view in the designer by hand: the API says 'ok' but only the editor shows a broken topic</a:t>
            </a:r>
          </a:p>
        </p:txBody>
      </p:sp>
      <p:sp>
        <p:nvSpPr>
          <p:cNvPr id="9" name="Rounded Rectangle 8"/>
          <p:cNvSpPr/>
          <p:nvPr/>
        </p:nvSpPr>
        <p:spPr>
          <a:xfrm>
            <a:off x="10607040" y="25603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Playwright signs in, opens every view and dashboard, screenshots it and asserts no error in the page or console</a:t>
            </a:r>
          </a:p>
          <a:p>
            <a:pPr algn="l">
              <a:spcAft>
                <a:spcPts val="600"/>
              </a:spcAft>
            </a:pPr>
            <a:r>
              <a:rPr sz="1500" b="0">
                <a:solidFill>
                  <a:srgbClr val="56636E"/>
                </a:solidFill>
              </a:rPr>
              <a:t>a pass list per org after every promotion</a:t>
            </a:r>
          </a:p>
        </p:txBody>
      </p:sp>
      <p:cxnSp>
        <p:nvCxnSpPr>
          <p:cNvPr id="10" name="Connector 9"/>
          <p:cNvCxnSpPr/>
          <p:nvPr/>
        </p:nvCxnSpPr>
        <p:spPr>
          <a:xfrm>
            <a:off x="9646920" y="322326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41605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Dashboards and themes checked by eye after formatting changes</a:t>
            </a:r>
          </a:p>
        </p:txBody>
      </p:sp>
      <p:sp>
        <p:nvSpPr>
          <p:cNvPr id="12" name="Rounded Rectangle 11"/>
          <p:cNvSpPr/>
          <p:nvPr/>
        </p:nvSpPr>
        <p:spPr>
          <a:xfrm>
            <a:off x="10607040" y="41605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Playwright reads computed styles and element positions and diffs them against the last good render</a:t>
            </a:r>
          </a:p>
          <a:p>
            <a:pPr algn="l">
              <a:spcAft>
                <a:spcPts val="600"/>
              </a:spcAft>
            </a:pPr>
            <a:r>
              <a:rPr sz="1500" b="0">
                <a:solidFill>
                  <a:srgbClr val="56636E"/>
                </a:solidFill>
              </a:rPr>
              <a:t>measured, not eyeballed</a:t>
            </a:r>
          </a:p>
        </p:txBody>
      </p:sp>
      <p:cxnSp>
        <p:nvCxnSpPr>
          <p:cNvPr id="13" name="Connector 12"/>
          <p:cNvCxnSpPr/>
          <p:nvPr/>
        </p:nvCxnSpPr>
        <p:spPr>
          <a:xfrm>
            <a:off x="9646920" y="4823459"/>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 y="57607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Nightly builds and sweeps skip when the laptop is off the network: 93% of runs in the last 30 days</a:t>
            </a:r>
          </a:p>
        </p:txBody>
      </p:sp>
      <p:sp>
        <p:nvSpPr>
          <p:cNvPr id="15" name="Rounded Rectangle 14"/>
          <p:cNvSpPr/>
          <p:nvPr/>
        </p:nvSpPr>
        <p:spPr>
          <a:xfrm>
            <a:off x="10607040" y="57607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AI agents hosted in the cloud on the same network run the nightlies, the sweeps and the parity checks continuously; the hosting is Shankar's</a:t>
            </a:r>
          </a:p>
          <a:p>
            <a:pPr algn="l">
              <a:spcAft>
                <a:spcPts val="600"/>
              </a:spcAft>
            </a:pPr>
            <a:r>
              <a:rPr sz="1500" b="0">
                <a:solidFill>
                  <a:srgbClr val="56636E"/>
                </a:solidFill>
              </a:rPr>
              <a:t>no run depends on a person being connected</a:t>
            </a:r>
          </a:p>
        </p:txBody>
      </p:sp>
      <p:cxnSp>
        <p:nvCxnSpPr>
          <p:cNvPr id="16" name="Connector 15"/>
          <p:cNvCxnSpPr/>
          <p:nvPr/>
        </p:nvCxnSpPr>
        <p:spPr>
          <a:xfrm>
            <a:off x="9646920" y="6423659"/>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73609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Sign-off documents assembled when someone asks</a:t>
            </a:r>
          </a:p>
        </p:txBody>
      </p:sp>
      <p:sp>
        <p:nvSpPr>
          <p:cNvPr id="18" name="Rounded Rectangle 17"/>
          <p:cNvSpPr/>
          <p:nvPr/>
        </p:nvSpPr>
        <p:spPr>
          <a:xfrm>
            <a:off x="10607040" y="73609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Continual monitoring: every change swept, every org validated, an alert on the first red row</a:t>
            </a:r>
          </a:p>
          <a:p>
            <a:pPr algn="l">
              <a:spcAft>
                <a:spcPts val="600"/>
              </a:spcAft>
            </a:pPr>
            <a:r>
              <a:rPr sz="1500" b="0">
                <a:solidFill>
                  <a:srgbClr val="56636E"/>
                </a:solidFill>
              </a:rPr>
              <a:t>the sign-off is always current</a:t>
            </a:r>
          </a:p>
        </p:txBody>
      </p:sp>
      <p:cxnSp>
        <p:nvCxnSpPr>
          <p:cNvPr id="19" name="Connector 18"/>
          <p:cNvCxnSpPr/>
          <p:nvPr/>
        </p:nvCxnSpPr>
        <p:spPr>
          <a:xfrm>
            <a:off x="9646920" y="802386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Roadmap</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S20</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6099048"/>
            <a:ext cx="3465576" cy="2834640"/>
          </a:xfrm>
          <a:prstGeom prst="roundRect">
            <a:avLst>
              <a:gd name="adj" fmla="val 1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FFFFFF"/>
                </a:solidFill>
              </a:rPr>
              <a:t>Fond du Lac and College Station prod</a:t>
            </a:r>
          </a:p>
          <a:p>
            <a:pPr algn="l">
              <a:spcAft>
                <a:spcPts val="600"/>
              </a:spcAft>
            </a:pPr>
            <a:r>
              <a:rPr sz="1800" b="0">
                <a:solidFill>
                  <a:srgbClr val="FFFFFF"/>
                </a:solidFill>
              </a:rPr>
              <a:t>Chase, with the clients</a:t>
            </a:r>
          </a:p>
          <a:p>
            <a:pPr algn="l">
              <a:spcAft>
                <a:spcPts val="600"/>
              </a:spcAft>
            </a:pPr>
            <a:r>
              <a:rPr sz="1800" b="0">
                <a:solidFill>
                  <a:srgbClr val="FFFFFF"/>
                </a:solidFill>
              </a:rPr>
              <a:t>the Standard Offering on every prod org, in the coming weeks</a:t>
            </a:r>
          </a:p>
        </p:txBody>
      </p:sp>
      <p:sp>
        <p:nvSpPr>
          <p:cNvPr id="7" name="Oval 6"/>
          <p:cNvSpPr/>
          <p:nvPr/>
        </p:nvSpPr>
        <p:spPr>
          <a:xfrm>
            <a:off x="2061972" y="4864608"/>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04B86"/>
                </a:solidFill>
              </a:rPr>
              <a:t>1</a:t>
            </a:r>
          </a:p>
        </p:txBody>
      </p:sp>
      <p:sp>
        <p:nvSpPr>
          <p:cNvPr id="8" name="Rounded Rectangle 7"/>
          <p:cNvSpPr/>
          <p:nvPr/>
        </p:nvSpPr>
        <p:spPr>
          <a:xfrm>
            <a:off x="453542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Playwright UI QA</a:t>
            </a:r>
          </a:p>
          <a:p>
            <a:pPr algn="l">
              <a:spcAft>
                <a:spcPts val="600"/>
              </a:spcAft>
            </a:pPr>
            <a:r>
              <a:rPr sz="1800" b="0">
                <a:solidFill>
                  <a:srgbClr val="56636E"/>
                </a:solidFill>
              </a:rPr>
              <a:t>Chase</a:t>
            </a:r>
          </a:p>
          <a:p>
            <a:pPr algn="l">
              <a:spcAft>
                <a:spcPts val="600"/>
              </a:spcAft>
            </a:pPr>
            <a:r>
              <a:rPr sz="1800" b="0">
                <a:solidFill>
                  <a:srgbClr val="56636E"/>
                </a:solidFill>
              </a:rPr>
              <a:t>designer and dashboard checks on Origin_DEV first</a:t>
            </a:r>
          </a:p>
        </p:txBody>
      </p:sp>
      <p:sp>
        <p:nvSpPr>
          <p:cNvPr id="9" name="Oval 8"/>
          <p:cNvSpPr/>
          <p:nvPr/>
        </p:nvSpPr>
        <p:spPr>
          <a:xfrm>
            <a:off x="585673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2</a:t>
            </a:r>
          </a:p>
        </p:txBody>
      </p:sp>
      <p:sp>
        <p:nvSpPr>
          <p:cNvPr id="10" name="Rounded Rectangle 9"/>
          <p:cNvSpPr/>
          <p:nvPr/>
        </p:nvSpPr>
        <p:spPr>
          <a:xfrm>
            <a:off x="833018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Agents on the network</a:t>
            </a:r>
          </a:p>
          <a:p>
            <a:pPr algn="l">
              <a:spcAft>
                <a:spcPts val="600"/>
              </a:spcAft>
            </a:pPr>
            <a:r>
              <a:rPr sz="1800" b="0">
                <a:solidFill>
                  <a:srgbClr val="56636E"/>
                </a:solidFill>
              </a:rPr>
              <a:t>Shankar (infrastructure)</a:t>
            </a:r>
          </a:p>
          <a:p>
            <a:pPr algn="l">
              <a:spcAft>
                <a:spcPts val="600"/>
              </a:spcAft>
            </a:pPr>
            <a:r>
              <a:rPr sz="1800" b="0">
                <a:solidFill>
                  <a:srgbClr val="56636E"/>
                </a:solidFill>
              </a:rPr>
              <a:t>cloud-hosted, continual sweeps and nightlies</a:t>
            </a:r>
          </a:p>
        </p:txBody>
      </p:sp>
      <p:sp>
        <p:nvSpPr>
          <p:cNvPr id="11" name="Oval 10"/>
          <p:cNvSpPr/>
          <p:nvPr/>
        </p:nvSpPr>
        <p:spPr>
          <a:xfrm>
            <a:off x="965149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3</a:t>
            </a:r>
          </a:p>
        </p:txBody>
      </p:sp>
      <p:sp>
        <p:nvSpPr>
          <p:cNvPr id="12" name="Rounded Rectangle 11"/>
          <p:cNvSpPr/>
          <p:nvPr/>
        </p:nvSpPr>
        <p:spPr>
          <a:xfrm>
            <a:off x="1212494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Schedulable reports</a:t>
            </a:r>
          </a:p>
          <a:p>
            <a:pPr algn="l">
              <a:spcAft>
                <a:spcPts val="600"/>
              </a:spcAft>
            </a:pPr>
            <a:r>
              <a:rPr sz="1800" b="0">
                <a:solidFill>
                  <a:srgbClr val="56636E"/>
                </a:solidFill>
              </a:rPr>
              <a:t>Chase</a:t>
            </a:r>
          </a:p>
          <a:p>
            <a:pPr algn="l">
              <a:spcAft>
                <a:spcPts val="600"/>
              </a:spcAft>
            </a:pPr>
            <a:r>
              <a:rPr sz="1800" b="0">
                <a:solidFill>
                  <a:srgbClr val="56636E"/>
                </a:solidFill>
              </a:rPr>
              <a:t>interactive tables, as-of dates, relative windows</a:t>
            </a:r>
          </a:p>
        </p:txBody>
      </p:sp>
      <p:sp>
        <p:nvSpPr>
          <p:cNvPr id="13" name="Oval 12"/>
          <p:cNvSpPr/>
          <p:nvPr/>
        </p:nvSpPr>
        <p:spPr>
          <a:xfrm>
            <a:off x="1344625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4</a:t>
            </a:r>
          </a:p>
        </p:txBody>
      </p:sp>
      <p:sp>
        <p:nvSpPr>
          <p:cNvPr id="14" name="Rounded Rectangle 13"/>
          <p:cNvSpPr/>
          <p:nvPr/>
        </p:nvSpPr>
        <p:spPr>
          <a:xfrm>
            <a:off x="1591970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Origin BA app and dbt</a:t>
            </a:r>
          </a:p>
          <a:p>
            <a:pPr algn="l">
              <a:spcAft>
                <a:spcPts val="600"/>
              </a:spcAft>
            </a:pPr>
            <a:r>
              <a:rPr sz="1800" b="0">
                <a:solidFill>
                  <a:srgbClr val="56636E"/>
                </a:solidFill>
              </a:rPr>
              <a:t>Chase</a:t>
            </a:r>
          </a:p>
          <a:p>
            <a:pPr algn="l">
              <a:spcAft>
                <a:spcPts val="600"/>
              </a:spcAft>
            </a:pPr>
            <a:r>
              <a:rPr sz="1800" b="0">
                <a:solidFill>
                  <a:srgbClr val="56636E"/>
                </a:solidFill>
              </a:rPr>
              <a:t>the warehouse layer inside the app, after the deployments</a:t>
            </a:r>
          </a:p>
        </p:txBody>
      </p:sp>
      <p:sp>
        <p:nvSpPr>
          <p:cNvPr id="15" name="Oval 14"/>
          <p:cNvSpPr/>
          <p:nvPr/>
        </p:nvSpPr>
        <p:spPr>
          <a:xfrm>
            <a:off x="1724101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5</a:t>
            </a:r>
          </a:p>
        </p:txBody>
      </p:sp>
      <p:sp>
        <p:nvSpPr>
          <p:cNvPr id="16" name="TextBox 15"/>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E6ECF2"/>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162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Next: The Origin BA App And dbt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3003803"/>
            <a:ext cx="5913119" cy="5788152"/>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The app today</a:t>
            </a:r>
          </a:p>
          <a:p>
            <a:pPr algn="l">
              <a:spcAft>
                <a:spcPts val="600"/>
              </a:spcAft>
            </a:pPr>
            <a:r>
              <a:rPr sz="2200" b="0">
                <a:solidFill>
                  <a:srgbClr val="56636E"/>
                </a:solidFill>
              </a:rPr>
              <a:t>A web portal over the reporting layer: workstream pages, explore views, a build page and a data-quality page per client</a:t>
            </a:r>
          </a:p>
          <a:p>
            <a:pPr algn="l">
              <a:spcAft>
                <a:spcPts val="600"/>
              </a:spcAft>
            </a:pPr>
            <a:r>
              <a:rPr sz="2200" b="0">
                <a:solidFill>
                  <a:srgbClr val="56636E"/>
                </a:solidFill>
              </a:rPr>
              <a:t>Each client isolated to its own org and warehouse connection; admin scope settled and audited</a:t>
            </a:r>
          </a:p>
          <a:p>
            <a:pPr algn="l">
              <a:spcAft>
                <a:spcPts val="600"/>
              </a:spcAft>
            </a:pPr>
            <a:r>
              <a:rPr sz="2200" b="0">
                <a:solidFill>
                  <a:srgbClr val="56636E"/>
                </a:solidFill>
              </a:rPr>
              <a:t>An analytics assistant that answers questions from the canvases with tool calls, fenced to the client's data</a:t>
            </a:r>
          </a:p>
        </p:txBody>
      </p:sp>
      <p:sp>
        <p:nvSpPr>
          <p:cNvPr id="7" name="Rounded Rectangle 6"/>
          <p:cNvSpPr/>
          <p:nvPr/>
        </p:nvSpPr>
        <p:spPr>
          <a:xfrm>
            <a:off x="7110983" y="3003803"/>
            <a:ext cx="5913119" cy="5788152"/>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dbt inside the app</a:t>
            </a:r>
          </a:p>
          <a:p>
            <a:pPr algn="l">
              <a:spcAft>
                <a:spcPts val="600"/>
              </a:spcAft>
            </a:pPr>
            <a:r>
              <a:rPr sz="2200" b="0">
                <a:solidFill>
                  <a:srgbClr val="56636E"/>
                </a:solidFill>
              </a:rPr>
              <a:t>The dbt project turns CISADM into 38 reporting canvases with a data dictionary and enforced contracts</a:t>
            </a:r>
          </a:p>
          <a:p>
            <a:pPr algn="l">
              <a:spcAft>
                <a:spcPts val="600"/>
              </a:spcAft>
            </a:pPr>
            <a:r>
              <a:rPr sz="2200" b="0">
                <a:solidFill>
                  <a:srgbClr val="56636E"/>
                </a:solidFill>
              </a:rPr>
              <a:t>The same models build natively inside a client's Oracle instance: three schemas beside CISADM, read-only grants, no CDC</a:t>
            </a:r>
          </a:p>
          <a:p>
            <a:pPr algn="l">
              <a:spcAft>
                <a:spcPts val="600"/>
              </a:spcAft>
            </a:pPr>
            <a:r>
              <a:rPr sz="2200" b="0">
                <a:solidFill>
                  <a:srgbClr val="56636E"/>
                </a:solidFill>
              </a:rPr>
              <a:t>The app reads that in-database reporting layer directly, so one transformation layer serves the portal, the assistant and Jaspersoft</a:t>
            </a:r>
          </a:p>
        </p:txBody>
      </p:sp>
      <p:sp>
        <p:nvSpPr>
          <p:cNvPr id="8" name="Rounded Rectangle 7"/>
          <p:cNvSpPr/>
          <p:nvPr/>
        </p:nvSpPr>
        <p:spPr>
          <a:xfrm>
            <a:off x="13481303" y="3003803"/>
            <a:ext cx="5913119" cy="5788152"/>
          </a:xfrm>
          <a:prstGeom prst="roundRect">
            <a:avLst>
              <a:gd name="adj" fmla="val 8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FFFFFF"/>
                </a:solidFill>
              </a:rPr>
              <a:t>What comes next</a:t>
            </a:r>
          </a:p>
          <a:p>
            <a:pPr algn="l">
              <a:spcAft>
                <a:spcPts val="600"/>
              </a:spcAft>
            </a:pPr>
            <a:r>
              <a:rPr sz="2200" b="0">
                <a:solidFill>
                  <a:srgbClr val="FFFFFF"/>
                </a:solidFill>
              </a:rPr>
              <a:t>Taken up after the Fond du Lac and College Station deployments finish in the coming weeks</a:t>
            </a:r>
          </a:p>
          <a:p>
            <a:pPr algn="l">
              <a:spcAft>
                <a:spcPts val="600"/>
              </a:spcAft>
            </a:pPr>
            <a:r>
              <a:rPr sz="2200" b="0">
                <a:solidFill>
                  <a:srgbClr val="FFFFFF"/>
                </a:solidFill>
              </a:rPr>
              <a:t>Jaspersoft domains generated from the dbt contracts, so the snapshot tables are replaced rather than maintained</a:t>
            </a:r>
          </a:p>
          <a:p>
            <a:pPr algn="l">
              <a:spcAft>
                <a:spcPts val="600"/>
              </a:spcAft>
            </a:pPr>
            <a:r>
              <a:rPr sz="2200" b="0">
                <a:solidFill>
                  <a:srgbClr val="FFFFFF"/>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