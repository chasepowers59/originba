
<file path=[Content_Types].xml><?xml version="1.0" encoding="utf-8"?>
<Types xmlns="http://schemas.openxmlformats.org/package/2006/content-types">
  <Default Extension="jpg" ContentType="image/jpeg"/>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media/image2.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11"/>
  </p:notesMasterIdLst>
  <p:sldIdLst>
    <p:sldId id="256" r:id="rId10"/>
    <p:sldId id="257" r:id="rId9"/>
    <p:sldId id="258" r:id="rId8"/>
    <p:sldId id="259" r:id="rId7"/>
    <p:sldId id="260" r:id="rId6"/>
    <p:sldId id="261" r:id="rId5"/>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Lst>
  <p:sldSz cx="20104100" cy="11309350"/>
  <p:notesSz cx="20104100" cy="11309350"/>
  <p:embeddedFontLst>
    <p:embeddedFont>
      <p:font typeface="Delight Medium" panose="020B0604020202020204" charset="0"/>
      <p:regular r:id="rId12"/>
      <p:bold r:id="rId13"/>
    </p:embeddedFont>
    <p:embeddedFont>
      <p:font typeface="Delight Regular" panose="020B0604020202020204" charset="0"/>
      <p:regular r:id="rId14"/>
    </p:embeddedFont>
    <p:embeddedFont>
      <p:font typeface="Delight Semi Bold" panose="020B0604020202020204" charset="0"/>
      <p:regular r:id="rId15"/>
      <p:bold r:id="rId16"/>
    </p:embeddedFont>
  </p:embeddedFontLst>
  <p:defaultTextStyle>
    <a:defPPr>
      <a:defRPr kern="0"/>
    </a:def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EECA242-63C1-4819-718C-03DD82C4675D}" name="Matthew Chaump" initials="MC" userId="S::mchaump@originutility.com::b3d42fe6-670a-4966-b5bf-3a36d66e83c8" providerId="AD"/>
  <p188:author id="{1DC4F756-B5AF-C2D4-9316-CD972CDD5EB3}" name="Jim Andrews" initials="JA" userId="S::jandrews@originconsults.com::a05dfb70-bfc1-430f-b538-55d430ac6b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D23"/>
    <a:srgbClr val="F5EFE9"/>
    <a:srgbClr val="FFFFFF"/>
    <a:srgbClr val="006DA7"/>
    <a:srgbClr val="103F7C"/>
    <a:srgbClr val="000000"/>
    <a:srgbClr val="2E2E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288D44-8111-45FC-9CA5-005E2963CEF0}" v="3" dt="2026-09-24T23:17:50.549"/>
    <p1510:client id="{EFAEBEA1-CE80-4756-ACF3-B164209B0570}" v="2" dt="2026-09-24T15:34:27.15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376"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ed Navara" userId="c24476df-5543-40c4-aff2-f9b37b4e2199" providerId="ADAL" clId="{DE4EBD87-7713-4937-BB2F-40F61ABFC847}"/>
    <pc:docChg chg="custSel addSld modSld sldOrd">
      <pc:chgData name="Reed Navara" userId="c24476df-5543-40c4-aff2-f9b37b4e2199" providerId="ADAL" clId="{DE4EBD87-7713-4937-BB2F-40F61ABFC847}" dt="2026-09-25T00:07:49.632" v="466" actId="1076"/>
      <pc:docMkLst>
        <pc:docMk/>
      </pc:docMkLst>
      <pc:sldChg chg="modSp mod">
        <pc:chgData name="Reed Navara" userId="c24476df-5543-40c4-aff2-f9b37b4e2199" providerId="ADAL" clId="{DE4EBD87-7713-4937-BB2F-40F61ABFC847}" dt="2026-09-24T15:13:37.621" v="9" actId="20577"/>
        <pc:sldMkLst>
          <pc:docMk/>
          <pc:sldMk cId="1423065503" sldId="268"/>
        </pc:sldMkLst>
        <pc:spChg chg="mod">
          <ac:chgData name="Reed Navara" userId="c24476df-5543-40c4-aff2-f9b37b4e2199" providerId="ADAL" clId="{DE4EBD87-7713-4937-BB2F-40F61ABFC847}" dt="2026-09-24T15:13:37.621" v="9" actId="20577"/>
          <ac:spMkLst>
            <pc:docMk/>
            <pc:sldMk cId="1423065503" sldId="268"/>
            <ac:spMk id="3" creationId="{E11F4AC8-907D-0D9B-3EC1-080B36B5BD90}"/>
          </ac:spMkLst>
        </pc:spChg>
      </pc:sldChg>
      <pc:sldChg chg="addSp delSp modSp mod ord">
        <pc:chgData name="Reed Navara" userId="c24476df-5543-40c4-aff2-f9b37b4e2199" providerId="ADAL" clId="{DE4EBD87-7713-4937-BB2F-40F61ABFC847}" dt="2026-09-25T00:07:49.632" v="466" actId="1076"/>
        <pc:sldMkLst>
          <pc:docMk/>
          <pc:sldMk cId="4080643058" sldId="305"/>
        </pc:sldMkLst>
        <pc:spChg chg="mod">
          <ac:chgData name="Reed Navara" userId="c24476df-5543-40c4-aff2-f9b37b4e2199" providerId="ADAL" clId="{DE4EBD87-7713-4937-BB2F-40F61ABFC847}" dt="2026-09-24T23:30:16.792" v="239" actId="20577"/>
          <ac:spMkLst>
            <pc:docMk/>
            <pc:sldMk cId="4080643058" sldId="305"/>
            <ac:spMk id="14" creationId="{00000000-0000-0000-0000-000000000000}"/>
          </ac:spMkLst>
        </pc:spChg>
        <pc:spChg chg="mod">
          <ac:chgData name="Reed Navara" userId="c24476df-5543-40c4-aff2-f9b37b4e2199" providerId="ADAL" clId="{DE4EBD87-7713-4937-BB2F-40F61ABFC847}" dt="2026-09-24T23:49:32.248" v="458" actId="20577"/>
          <ac:spMkLst>
            <pc:docMk/>
            <pc:sldMk cId="4080643058" sldId="305"/>
            <ac:spMk id="17" creationId="{00000000-0000-0000-0000-000000000000}"/>
          </ac:spMkLst>
        </pc:spChg>
        <pc:spChg chg="del mod">
          <ac:chgData name="Reed Navara" userId="c24476df-5543-40c4-aff2-f9b37b4e2199" providerId="ADAL" clId="{DE4EBD87-7713-4937-BB2F-40F61ABFC847}" dt="2026-09-24T23:49:53.112" v="459" actId="478"/>
          <ac:spMkLst>
            <pc:docMk/>
            <pc:sldMk cId="4080643058" sldId="305"/>
            <ac:spMk id="19" creationId="{00000000-0000-0000-0000-000000000000}"/>
          </ac:spMkLst>
        </pc:spChg>
        <pc:spChg chg="mod">
          <ac:chgData name="Reed Navara" userId="c24476df-5543-40c4-aff2-f9b37b4e2199" providerId="ADAL" clId="{DE4EBD87-7713-4937-BB2F-40F61ABFC847}" dt="2026-09-25T00:07:39.040" v="464" actId="1076"/>
          <ac:spMkLst>
            <pc:docMk/>
            <pc:sldMk cId="4080643058" sldId="305"/>
            <ac:spMk id="20" creationId="{00000000-0000-0000-0000-000000000000}"/>
          </ac:spMkLst>
        </pc:spChg>
        <pc:spChg chg="mod">
          <ac:chgData name="Reed Navara" userId="c24476df-5543-40c4-aff2-f9b37b4e2199" providerId="ADAL" clId="{DE4EBD87-7713-4937-BB2F-40F61ABFC847}" dt="2026-09-25T00:07:43.953" v="465" actId="1076"/>
          <ac:spMkLst>
            <pc:docMk/>
            <pc:sldMk cId="4080643058" sldId="305"/>
            <ac:spMk id="21" creationId="{00000000-0000-0000-0000-000000000000}"/>
          </ac:spMkLst>
        </pc:spChg>
        <pc:spChg chg="mod">
          <ac:chgData name="Reed Navara" userId="c24476df-5543-40c4-aff2-f9b37b4e2199" providerId="ADAL" clId="{DE4EBD87-7713-4937-BB2F-40F61ABFC847}" dt="2026-09-25T00:07:49.632" v="466" actId="1076"/>
          <ac:spMkLst>
            <pc:docMk/>
            <pc:sldMk cId="4080643058" sldId="305"/>
            <ac:spMk id="22" creationId="{00000000-0000-0000-0000-000000000000}"/>
          </ac:spMkLst>
        </pc:spChg>
      </pc:sldChg>
      <pc:sldChg chg="addSp modSp">
        <pc:chgData name="Reed Navara" userId="c24476df-5543-40c4-aff2-f9b37b4e2199" providerId="ADAL" clId="{DE4EBD87-7713-4937-BB2F-40F61ABFC847}" dt="2026-09-21T17:48:56.572" v="7" actId="767"/>
        <pc:sldMkLst>
          <pc:docMk/>
          <pc:sldMk cId="2577594116" sldId="2147327721"/>
        </pc:sldMkLst>
      </pc:sldChg>
      <pc:sldChg chg="addSp modSp mod">
        <pc:chgData name="Reed Navara" userId="c24476df-5543-40c4-aff2-f9b37b4e2199" providerId="ADAL" clId="{DE4EBD87-7713-4937-BB2F-40F61ABFC847}" dt="2026-09-24T23:17:15.811" v="171" actId="1076"/>
        <pc:sldMkLst>
          <pc:docMk/>
          <pc:sldMk cId="832659428" sldId="2147327722"/>
        </pc:sldMkLst>
        <pc:spChg chg="add mod">
          <ac:chgData name="Reed Navara" userId="c24476df-5543-40c4-aff2-f9b37b4e2199" providerId="ADAL" clId="{DE4EBD87-7713-4937-BB2F-40F61ABFC847}" dt="2026-09-21T17:33:20.045" v="4" actId="767"/>
          <ac:spMkLst>
            <pc:docMk/>
            <pc:sldMk cId="832659428" sldId="2147327722"/>
            <ac:spMk id="2" creationId="{07614073-3D00-D5C1-B916-B7FA95B3EE55}"/>
          </ac:spMkLst>
        </pc:spChg>
        <pc:spChg chg="add mod">
          <ac:chgData name="Reed Navara" userId="c24476df-5543-40c4-aff2-f9b37b4e2199" providerId="ADAL" clId="{DE4EBD87-7713-4937-BB2F-40F61ABFC847}" dt="2026-09-24T23:17:15.811" v="171" actId="1076"/>
          <ac:spMkLst>
            <pc:docMk/>
            <pc:sldMk cId="832659428" sldId="2147327722"/>
            <ac:spMk id="3" creationId="{475E2A8C-B58E-4DCF-6869-25D6C75F772F}"/>
          </ac:spMkLst>
        </pc:spChg>
      </pc:sldChg>
      <pc:sldChg chg="addSp delSp modSp add mod ord modNotesTx">
        <pc:chgData name="Reed Navara" userId="c24476df-5543-40c4-aff2-f9b37b4e2199" providerId="ADAL" clId="{DE4EBD87-7713-4937-BB2F-40F61ABFC847}" dt="2026-09-24T23:29:27.208" v="227" actId="478"/>
        <pc:sldMkLst>
          <pc:docMk/>
          <pc:sldMk cId="0" sldId="2147327723"/>
        </pc:sldMkLst>
        <pc:spChg chg="mod">
          <ac:chgData name="Reed Navara" userId="c24476df-5543-40c4-aff2-f9b37b4e2199" providerId="ADAL" clId="{DE4EBD87-7713-4937-BB2F-40F61ABFC847}" dt="2026-09-24T23:15:29.177" v="101" actId="1076"/>
          <ac:spMkLst>
            <pc:docMk/>
            <pc:sldMk cId="0" sldId="2147327723"/>
            <ac:spMk id="2" creationId="{00000000-0000-0000-0000-000000000000}"/>
          </ac:spMkLst>
        </pc:spChg>
        <pc:spChg chg="del">
          <ac:chgData name="Reed Navara" userId="c24476df-5543-40c4-aff2-f9b37b4e2199" providerId="ADAL" clId="{DE4EBD87-7713-4937-BB2F-40F61ABFC847}" dt="2026-09-24T23:14:41.055" v="97" actId="478"/>
          <ac:spMkLst>
            <pc:docMk/>
            <pc:sldMk cId="0" sldId="2147327723"/>
            <ac:spMk id="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4" creationId="{00000000-0000-0000-0000-000000000000}"/>
          </ac:spMkLst>
        </pc:spChg>
        <pc:spChg chg="del mod">
          <ac:chgData name="Reed Navara" userId="c24476df-5543-40c4-aff2-f9b37b4e2199" providerId="ADAL" clId="{DE4EBD87-7713-4937-BB2F-40F61ABFC847}" dt="2026-09-24T23:17:23.615" v="173" actId="478"/>
          <ac:spMkLst>
            <pc:docMk/>
            <pc:sldMk cId="0" sldId="2147327723"/>
            <ac:spMk id="902" creationId="{00000000-0000-0000-0000-000000000000}"/>
          </ac:spMkLst>
        </pc:spChg>
        <pc:spChg chg="mod">
          <ac:chgData name="Reed Navara" userId="c24476df-5543-40c4-aff2-f9b37b4e2199" providerId="ADAL" clId="{DE4EBD87-7713-4937-BB2F-40F61ABFC847}" dt="2026-09-24T23:13:46.838" v="70" actId="20577"/>
          <ac:spMkLst>
            <pc:docMk/>
            <pc:sldMk cId="0" sldId="2147327723"/>
            <ac:spMk id="903" creationId="{00000000-0000-0000-0000-000000000000}"/>
          </ac:spMkLst>
        </pc:spChg>
        <pc:spChg chg="mod">
          <ac:chgData name="Reed Navara" userId="c24476df-5543-40c4-aff2-f9b37b4e2199" providerId="ADAL" clId="{DE4EBD87-7713-4937-BB2F-40F61ABFC847}" dt="2026-09-24T23:14:06.118" v="80" actId="20577"/>
          <ac:spMkLst>
            <pc:docMk/>
            <pc:sldMk cId="0" sldId="2147327723"/>
            <ac:spMk id="906" creationId="{00000000-0000-0000-0000-000000000000}"/>
          </ac:spMkLst>
        </pc:spChg>
        <pc:spChg chg="mod">
          <ac:chgData name="Reed Navara" userId="c24476df-5543-40c4-aff2-f9b37b4e2199" providerId="ADAL" clId="{DE4EBD87-7713-4937-BB2F-40F61ABFC847}" dt="2026-09-24T23:29:15.986" v="225" actId="20577"/>
          <ac:spMkLst>
            <pc:docMk/>
            <pc:sldMk cId="0" sldId="2147327723"/>
            <ac:spMk id="910" creationId="{00000000-0000-0000-0000-000000000000}"/>
          </ac:spMkLst>
        </pc:spChg>
        <pc:spChg chg="mod">
          <ac:chgData name="Reed Navara" userId="c24476df-5543-40c4-aff2-f9b37b4e2199" providerId="ADAL" clId="{DE4EBD87-7713-4937-BB2F-40F61ABFC847}" dt="2026-09-24T23:14:14.703" v="81" actId="20577"/>
          <ac:spMkLst>
            <pc:docMk/>
            <pc:sldMk cId="0" sldId="2147327723"/>
            <ac:spMk id="911" creationId="{00000000-0000-0000-0000-000000000000}"/>
          </ac:spMkLst>
        </pc:spChg>
        <pc:spChg chg="mod">
          <ac:chgData name="Reed Navara" userId="c24476df-5543-40c4-aff2-f9b37b4e2199" providerId="ADAL" clId="{DE4EBD87-7713-4937-BB2F-40F61ABFC847}" dt="2026-09-24T23:14:27.610" v="94" actId="20577"/>
          <ac:spMkLst>
            <pc:docMk/>
            <pc:sldMk cId="0" sldId="2147327723"/>
            <ac:spMk id="915"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6"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7"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8" creationId="{00000000-0000-0000-0000-000000000000}"/>
          </ac:spMkLst>
        </pc:spChg>
        <pc:spChg chg="del">
          <ac:chgData name="Reed Navara" userId="c24476df-5543-40c4-aff2-f9b37b4e2199" providerId="ADAL" clId="{DE4EBD87-7713-4937-BB2F-40F61ABFC847}" dt="2026-09-24T23:14:37.130" v="95" actId="478"/>
          <ac:spMkLst>
            <pc:docMk/>
            <pc:sldMk cId="0" sldId="2147327723"/>
            <ac:spMk id="919" creationId="{00000000-0000-0000-0000-000000000000}"/>
          </ac:spMkLst>
        </pc:spChg>
        <pc:spChg chg="del">
          <ac:chgData name="Reed Navara" userId="c24476df-5543-40c4-aff2-f9b37b4e2199" providerId="ADAL" clId="{DE4EBD87-7713-4937-BB2F-40F61ABFC847}" dt="2026-09-24T23:14:40.065" v="96" actId="478"/>
          <ac:spMkLst>
            <pc:docMk/>
            <pc:sldMk cId="0" sldId="2147327723"/>
            <ac:spMk id="920" creationId="{00000000-0000-0000-0000-000000000000}"/>
          </ac:spMkLst>
        </pc:spChg>
        <pc:spChg chg="del">
          <ac:chgData name="Reed Navara" userId="c24476df-5543-40c4-aff2-f9b37b4e2199" providerId="ADAL" clId="{DE4EBD87-7713-4937-BB2F-40F61ABFC847}" dt="2026-09-24T23:14:55.180" v="99" actId="478"/>
          <ac:spMkLst>
            <pc:docMk/>
            <pc:sldMk cId="0" sldId="2147327723"/>
            <ac:spMk id="921"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2"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4" creationId="{00000000-0000-0000-0000-000000000000}"/>
          </ac:spMkLst>
        </pc:spChg>
        <pc:spChg chg="mod">
          <ac:chgData name="Reed Navara" userId="c24476df-5543-40c4-aff2-f9b37b4e2199" providerId="ADAL" clId="{DE4EBD87-7713-4937-BB2F-40F61ABFC847}" dt="2026-09-24T23:28:32.529" v="198" actId="20577"/>
          <ac:spMkLst>
            <pc:docMk/>
            <pc:sldMk cId="0" sldId="2147327723"/>
            <ac:spMk id="928" creationId="{00000000-0000-0000-0000-000000000000}"/>
          </ac:spMkLst>
        </pc:spChg>
        <pc:spChg chg="del mod">
          <ac:chgData name="Reed Navara" userId="c24476df-5543-40c4-aff2-f9b37b4e2199" providerId="ADAL" clId="{DE4EBD87-7713-4937-BB2F-40F61ABFC847}" dt="2026-09-24T23:28:51.721" v="200" actId="478"/>
          <ac:spMkLst>
            <pc:docMk/>
            <pc:sldMk cId="0" sldId="2147327723"/>
            <ac:spMk id="932" creationId="{00000000-0000-0000-0000-000000000000}"/>
          </ac:spMkLst>
        </pc:spChg>
        <pc:spChg chg="del">
          <ac:chgData name="Reed Navara" userId="c24476df-5543-40c4-aff2-f9b37b4e2199" providerId="ADAL" clId="{DE4EBD87-7713-4937-BB2F-40F61ABFC847}" dt="2026-09-24T23:29:27.208" v="227" actId="478"/>
          <ac:spMkLst>
            <pc:docMk/>
            <pc:sldMk cId="0" sldId="2147327723"/>
            <ac:spMk id="933" creationId="{00000000-0000-0000-0000-000000000000}"/>
          </ac:spMkLst>
        </pc:spChg>
        <pc:spChg chg="del">
          <ac:chgData name="Reed Navara" userId="c24476df-5543-40c4-aff2-f9b37b4e2199" providerId="ADAL" clId="{DE4EBD87-7713-4937-BB2F-40F61ABFC847}" dt="2026-09-24T23:29:25.318" v="226" actId="478"/>
          <ac:spMkLst>
            <pc:docMk/>
            <pc:sldMk cId="0" sldId="2147327723"/>
            <ac:spMk id="934"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5" creationId="{00000000-0000-0000-0000-000000000000}"/>
          </ac:spMkLst>
        </pc:spChg>
        <pc:spChg chg="del">
          <ac:chgData name="Reed Navara" userId="c24476df-5543-40c4-aff2-f9b37b4e2199" providerId="ADAL" clId="{DE4EBD87-7713-4937-BB2F-40F61ABFC847}" dt="2026-09-24T23:28:58.888" v="205" actId="478"/>
          <ac:spMkLst>
            <pc:docMk/>
            <pc:sldMk cId="0" sldId="2147327723"/>
            <ac:spMk id="936"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7" creationId="{00000000-0000-0000-0000-000000000000}"/>
          </ac:spMkLst>
        </pc:spChg>
        <pc:spChg chg="del mod">
          <ac:chgData name="Reed Navara" userId="c24476df-5543-40c4-aff2-f9b37b4e2199" providerId="ADAL" clId="{DE4EBD87-7713-4937-BB2F-40F61ABFC847}" dt="2026-09-24T23:29:00.029" v="206" actId="478"/>
          <ac:spMkLst>
            <pc:docMk/>
            <pc:sldMk cId="0" sldId="2147327723"/>
            <ac:spMk id="938"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9" creationId="{00000000-0000-0000-0000-000000000000}"/>
          </ac:spMkLst>
        </pc:spChg>
        <pc:spChg chg="del mod">
          <ac:chgData name="Reed Navara" userId="c24476df-5543-40c4-aff2-f9b37b4e2199" providerId="ADAL" clId="{DE4EBD87-7713-4937-BB2F-40F61ABFC847}" dt="2026-09-24T23:28:57.065" v="203" actId="478"/>
          <ac:spMkLst>
            <pc:docMk/>
            <pc:sldMk cId="0" sldId="2147327723"/>
            <ac:spMk id="940" creationId="{00000000-0000-0000-0000-000000000000}"/>
          </ac:spMkLst>
        </pc:spChg>
        <pc:spChg chg="del mod">
          <ac:chgData name="Reed Navara" userId="c24476df-5543-40c4-aff2-f9b37b4e2199" providerId="ADAL" clId="{DE4EBD87-7713-4937-BB2F-40F61ABFC847}" dt="2026-09-24T15:41:40.284" v="68" actId="478"/>
          <ac:spMkLst>
            <pc:docMk/>
            <pc:sldMk cId="0" sldId="2147327723"/>
            <ac:spMk id="948" creationId="{00000000-0000-0000-0000-000000000000}"/>
          </ac:spMkLst>
        </pc:spChg>
        <pc:cxnChg chg="add mod">
          <ac:chgData name="Reed Navara" userId="c24476df-5543-40c4-aff2-f9b37b4e2199" providerId="ADAL" clId="{DE4EBD87-7713-4937-BB2F-40F61ABFC847}" dt="2026-09-24T23:15:39.985" v="103" actId="1076"/>
          <ac:cxnSpMkLst>
            <pc:docMk/>
            <pc:sldMk cId="0" sldId="2147327723"/>
            <ac:cxnSpMk id="6" creationId="{BEB60A8F-C93B-AC7B-D6D4-DCC85505D9A0}"/>
          </ac:cxnSpMkLst>
        </pc:cxnChg>
        <pc:cxnChg chg="add mod">
          <ac:chgData name="Reed Navara" userId="c24476df-5543-40c4-aff2-f9b37b4e2199" providerId="ADAL" clId="{DE4EBD87-7713-4937-BB2F-40F61ABFC847}" dt="2026-09-24T23:15:47.531" v="105" actId="1076"/>
          <ac:cxnSpMkLst>
            <pc:docMk/>
            <pc:sldMk cId="0" sldId="2147327723"/>
            <ac:cxnSpMk id="7" creationId="{2462D4BF-95F9-8B56-61ED-8C1DFDA4FC54}"/>
          </ac:cxnSpMkLst>
        </pc:cxnChg>
        <pc:cxnChg chg="mod">
          <ac:chgData name="Reed Navara" userId="c24476df-5543-40c4-aff2-f9b37b4e2199" providerId="ADAL" clId="{DE4EBD87-7713-4937-BB2F-40F61ABFC847}" dt="2026-09-24T23:29:05.016" v="207" actId="1076"/>
          <ac:cxnSpMkLst>
            <pc:docMk/>
            <pc:sldMk cId="0" sldId="2147327723"/>
            <ac:cxnSpMk id="912" creationId="{00000000-0000-0000-0000-000000000000}"/>
          </ac:cxnSpMkLst>
        </pc:cxnChg>
      </pc:sldChg>
      <pc:sldChg chg="delSp modSp add mod ord">
        <pc:chgData name="Reed Navara" userId="c24476df-5543-40c4-aff2-f9b37b4e2199" providerId="ADAL" clId="{DE4EBD87-7713-4937-BB2F-40F61ABFC847}" dt="2026-09-24T23:47:40.576" v="414" actId="20577"/>
        <pc:sldMkLst>
          <pc:docMk/>
          <pc:sldMk cId="0" sldId="2147327724"/>
        </pc:sldMkLst>
        <pc:spChg chg="mod">
          <ac:chgData name="Reed Navara" userId="c24476df-5543-40c4-aff2-f9b37b4e2199" providerId="ADAL" clId="{DE4EBD87-7713-4937-BB2F-40F61ABFC847}" dt="2026-09-24T15:35:50.223" v="59" actId="20577"/>
          <ac:spMkLst>
            <pc:docMk/>
            <pc:sldMk cId="0" sldId="2147327724"/>
            <ac:spMk id="2" creationId="{00000000-0000-0000-0000-000000000000}"/>
          </ac:spMkLst>
        </pc:spChg>
        <pc:spChg chg="del mod">
          <ac:chgData name="Reed Navara" userId="c24476df-5543-40c4-aff2-f9b37b4e2199" providerId="ADAL" clId="{DE4EBD87-7713-4937-BB2F-40F61ABFC847}" dt="2026-09-24T15:35:57.631" v="61" actId="478"/>
          <ac:spMkLst>
            <pc:docMk/>
            <pc:sldMk cId="0" sldId="2147327724"/>
            <ac:spMk id="901" creationId="{00000000-0000-0000-0000-000000000000}"/>
          </ac:spMkLst>
        </pc:spChg>
        <pc:spChg chg="del mod">
          <ac:chgData name="Reed Navara" userId="c24476df-5543-40c4-aff2-f9b37b4e2199" providerId="ADAL" clId="{DE4EBD87-7713-4937-BB2F-40F61ABFC847}" dt="2026-09-24T23:46:30.121" v="367" actId="20577"/>
          <ac:spMkLst>
            <pc:docMk/>
            <pc:sldMk cId="0" sldId="2147327724"/>
            <ac:spMk id="902" creationId="{00000000-0000-0000-0000-000000000000}"/>
          </ac:spMkLst>
        </pc:spChg>
        <pc:spChg chg="mod">
          <ac:chgData name="Reed Navara" userId="c24476df-5543-40c4-aff2-f9b37b4e2199" providerId="ADAL" clId="{DE4EBD87-7713-4937-BB2F-40F61ABFC847}" dt="2026-09-24T23:46:40.616" v="373" actId="20577"/>
          <ac:spMkLst>
            <pc:docMk/>
            <pc:sldMk cId="0" sldId="2147327724"/>
            <ac:spMk id="908" creationId="{00000000-0000-0000-0000-000000000000}"/>
          </ac:spMkLst>
        </pc:spChg>
        <pc:spChg chg="mod">
          <ac:chgData name="Reed Navara" userId="c24476df-5543-40c4-aff2-f9b37b4e2199" providerId="ADAL" clId="{DE4EBD87-7713-4937-BB2F-40F61ABFC847}" dt="2026-09-24T15:36:10.817" v="63" actId="14100"/>
          <ac:spMkLst>
            <pc:docMk/>
            <pc:sldMk cId="0" sldId="2147327724"/>
            <ac:spMk id="911" creationId="{00000000-0000-0000-0000-000000000000}"/>
          </ac:spMkLst>
        </pc:spChg>
        <pc:spChg chg="mod">
          <ac:chgData name="Reed Navara" userId="c24476df-5543-40c4-aff2-f9b37b4e2199" providerId="ADAL" clId="{DE4EBD87-7713-4937-BB2F-40F61ABFC847}" dt="2026-09-24T23:17:03.568" v="168" actId="20577"/>
          <ac:spMkLst>
            <pc:docMk/>
            <pc:sldMk cId="0" sldId="2147327724"/>
            <ac:spMk id="916" creationId="{00000000-0000-0000-0000-000000000000}"/>
          </ac:spMkLst>
        </pc:spChg>
        <pc:spChg chg="mod">
          <ac:chgData name="Reed Navara" userId="c24476df-5543-40c4-aff2-f9b37b4e2199" providerId="ADAL" clId="{DE4EBD87-7713-4937-BB2F-40F61ABFC847}" dt="2026-09-24T23:17:00.333" v="166" actId="20577"/>
          <ac:spMkLst>
            <pc:docMk/>
            <pc:sldMk cId="0" sldId="2147327724"/>
            <ac:spMk id="917" creationId="{00000000-0000-0000-0000-000000000000}"/>
          </ac:spMkLst>
        </pc:spChg>
        <pc:spChg chg="mod">
          <ac:chgData name="Reed Navara" userId="c24476df-5543-40c4-aff2-f9b37b4e2199" providerId="ADAL" clId="{DE4EBD87-7713-4937-BB2F-40F61ABFC847}" dt="2026-09-24T23:17:07.239" v="170" actId="20577"/>
          <ac:spMkLst>
            <pc:docMk/>
            <pc:sldMk cId="0" sldId="2147327724"/>
            <ac:spMk id="918" creationId="{00000000-0000-0000-0000-000000000000}"/>
          </ac:spMkLst>
        </pc:spChg>
        <pc:spChg chg="mod">
          <ac:chgData name="Reed Navara" userId="c24476df-5543-40c4-aff2-f9b37b4e2199" providerId="ADAL" clId="{DE4EBD87-7713-4937-BB2F-40F61ABFC847}" dt="2026-09-24T23:16:37.639" v="133" actId="20577"/>
          <ac:spMkLst>
            <pc:docMk/>
            <pc:sldMk cId="0" sldId="2147327724"/>
            <ac:spMk id="919" creationId="{00000000-0000-0000-0000-000000000000}"/>
          </ac:spMkLst>
        </pc:spChg>
        <pc:spChg chg="mod">
          <ac:chgData name="Reed Navara" userId="c24476df-5543-40c4-aff2-f9b37b4e2199" providerId="ADAL" clId="{DE4EBD87-7713-4937-BB2F-40F61ABFC847}" dt="2026-09-24T23:16:51.954" v="164" actId="20577"/>
          <ac:spMkLst>
            <pc:docMk/>
            <pc:sldMk cId="0" sldId="2147327724"/>
            <ac:spMk id="921" creationId="{00000000-0000-0000-0000-000000000000}"/>
          </ac:spMkLst>
        </pc:spChg>
        <pc:spChg chg="del mod">
          <ac:chgData name="Reed Navara" userId="c24476df-5543-40c4-aff2-f9b37b4e2199" providerId="ADAL" clId="{DE4EBD87-7713-4937-BB2F-40F61ABFC847}" dt="2026-09-24T23:44:33.729" v="278" actId="20577"/>
          <ac:spMkLst>
            <pc:docMk/>
            <pc:sldMk cId="0" sldId="2147327724"/>
            <ac:spMk id="924" creationId="{00000000-0000-0000-0000-000000000000}"/>
          </ac:spMkLst>
        </pc:spChg>
        <pc:spChg chg="mod">
          <ac:chgData name="Reed Navara" userId="c24476df-5543-40c4-aff2-f9b37b4e2199" providerId="ADAL" clId="{DE4EBD87-7713-4937-BB2F-40F61ABFC847}" dt="2026-09-24T23:44:45.716" v="306" actId="20577"/>
          <ac:spMkLst>
            <pc:docMk/>
            <pc:sldMk cId="0" sldId="2147327724"/>
            <ac:spMk id="926" creationId="{00000000-0000-0000-0000-000000000000}"/>
          </ac:spMkLst>
        </pc:spChg>
        <pc:spChg chg="mod">
          <ac:chgData name="Reed Navara" userId="c24476df-5543-40c4-aff2-f9b37b4e2199" providerId="ADAL" clId="{DE4EBD87-7713-4937-BB2F-40F61ABFC847}" dt="2026-09-24T23:47:40.576" v="414" actId="20577"/>
          <ac:spMkLst>
            <pc:docMk/>
            <pc:sldMk cId="0" sldId="2147327724"/>
            <ac:spMk id="928" creationId="{00000000-0000-0000-0000-000000000000}"/>
          </ac:spMkLst>
        </pc:spChg>
        <pc:spChg chg="del">
          <ac:chgData name="Reed Navara" userId="c24476df-5543-40c4-aff2-f9b37b4e2199" providerId="ADAL" clId="{DE4EBD87-7713-4937-BB2F-40F61ABFC847}" dt="2026-09-24T15:36:01.676" v="62" actId="478"/>
          <ac:spMkLst>
            <pc:docMk/>
            <pc:sldMk cId="0" sldId="2147327724"/>
            <ac:spMk id="931"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count</c:v>
                </c:pt>
              </c:strCache>
            </c:strRef>
          </c:tx>
          <c:dPt>
            <c:idx val="0"/>
            <c:spPr>
              <a:solidFill>
                <a:srgbClr val="F5EFE9"/>
              </a:solidFill>
              <a:ln>
                <a:noFill/>
              </a:ln>
            </c:spPr>
          </c:dPt>
          <c:dPt>
            <c:idx val="1"/>
            <c:spPr>
              <a:solidFill>
                <a:srgbClr val="FFA418"/>
              </a:solidFill>
              <a:ln>
                <a:noFill/>
              </a:ln>
            </c:spPr>
          </c:dPt>
          <c:dPt>
            <c:idx val="2"/>
            <c:spPr>
              <a:solidFill>
                <a:srgbClr val="FFFFFF"/>
              </a:solidFill>
              <a:ln>
                <a:noFill/>
              </a:ln>
            </c:spPr>
          </c:dPt>
          <c:cat>
            <c:strRef>
              <c:f>Sheet1!$A$2:$A$4</c:f>
              <c:strCache>
                <c:ptCount val="3"/>
                <c:pt idx="0">
                  <c:v>OK</c:v>
                </c:pt>
                <c:pt idx="1">
                  <c:v>Slow</c:v>
                </c:pt>
                <c:pt idx="2">
                  <c:v>Empty</c:v>
                </c:pt>
              </c:strCache>
            </c:strRef>
          </c:cat>
          <c:val>
            <c:numRef>
              <c:f>Sheet1!$B$2:$B$4</c:f>
              <c:numCache>
                <c:formatCode>General</c:formatCode>
                <c:ptCount val="3"/>
                <c:pt idx="0">
                  <c:v>116</c:v>
                </c:pt>
                <c:pt idx="1">
                  <c:v>27</c:v>
                </c:pt>
                <c:pt idx="2">
                  <c:v>7</c:v>
                </c:pt>
              </c:numCache>
            </c:numRef>
          </c:val>
        </c:ser>
        <c:dLbls>
          <c:txPr>
            <a:bodyPr/>
            <a:lstStyle/>
            <a:p>
              <a:pPr>
                <a:defRPr sz="2000" b="1">
                  <a:solidFill>
                    <a:srgbClr val="0B3D7A"/>
                  </a:solidFill>
                </a:defRPr>
              </a:pPr>
            </a:p>
          </c:txPr>
          <c:showLegendKey val="0"/>
          <c:showVal val="1"/>
          <c:showCatName val="0"/>
          <c:showSerName val="0"/>
          <c:showPercent val="0"/>
          <c:showBubbleSize val="0"/>
          <c:showLeaderLines val="1"/>
        </c:dLbls>
        <c:firstSliceAng val="0"/>
        <c:holeSize val="55"/>
      </c:doughnutChart>
      <c:spPr>
        <a:noFill/>
        <a:ln>
          <a:noFill/>
        </a:ln>
      </c:spPr>
    </c:plotArea>
    <c:plotVisOnly val="1"/>
    <c:dispBlanksAs val="gap"/>
    <c:showDLblsOverMax val="0"/>
  </c:chart>
  <c:txPr>
    <a:bodyPr/>
    <a:lstStyle/>
    <a:p>
      <a:pPr>
        <a:defRPr sz="1800"/>
      </a:pPr>
      <a:endParaRPr/>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4ACD3FFB-ECF6-4148-B895-0C2C3FEFEFBE}" type="datetimeFigureOut">
              <a:rPr lang="en-US" smtClean="0"/>
              <a:t>9/24/2026</a:t>
            </a:fld>
            <a:endParaRPr lang="en-US"/>
          </a:p>
        </p:txBody>
      </p:sp>
      <p:sp>
        <p:nvSpPr>
          <p:cNvPr id="4" name="Slide Image Placeholder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AFA6CCB5-C92D-914A-9E84-276068BE1574}" type="slidenum">
              <a:rPr lang="en-US" smtClean="0"/>
              <a:t>‹#›</a:t>
            </a:fld>
            <a:endParaRPr lang="en-US"/>
          </a:p>
        </p:txBody>
      </p:sp>
    </p:spTree>
    <p:extLst>
      <p:ext uri="{BB962C8B-B14F-4D97-AF65-F5344CB8AC3E}">
        <p14:creationId xmlns:p14="http://schemas.microsoft.com/office/powerpoint/2010/main" val="900977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Blue">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945294" y="4283075"/>
            <a:ext cx="11593156" cy="3118468"/>
          </a:xfrm>
          <a:prstGeom prst="rect">
            <a:avLst/>
          </a:prstGeom>
        </p:spPr>
        <p:txBody>
          <a:bodyPr lIns="0" tIns="0" rIns="0" bIns="0"/>
          <a:lstStyle>
            <a:lvl1pPr>
              <a:lnSpc>
                <a:spcPts val="11000"/>
              </a:lnSpc>
              <a:defRPr sz="11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761789" y="1291981"/>
            <a:ext cx="11593156" cy="1505194"/>
          </a:xfrm>
          <a:prstGeom prst="rect">
            <a:avLst/>
          </a:prstGeom>
        </p:spPr>
        <p:txBody>
          <a:bodyPr lIns="0" tIns="0" rIns="0" bIns="0"/>
          <a:lstStyle>
            <a:lvl1pPr>
              <a:lnSpc>
                <a:spcPts val="11000"/>
              </a:lnSpc>
              <a:defRPr sz="8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6" name="object 3">
            <a:extLst>
              <a:ext uri="{FF2B5EF4-FFF2-40B4-BE49-F238E27FC236}">
                <a16:creationId xmlns:a16="http://schemas.microsoft.com/office/drawing/2014/main" id="{8D0D04F6-CE8F-4B3D-254C-16C3EA7CEFE5}"/>
              </a:ext>
            </a:extLst>
          </p:cNvPr>
          <p:cNvSpPr txBox="1"/>
          <p:nvPr userDrawn="1"/>
        </p:nvSpPr>
        <p:spPr>
          <a:xfrm>
            <a:off x="709791" y="10379138"/>
            <a:ext cx="823594" cy="190437"/>
          </a:xfrm>
          <a:prstGeom prst="rect">
            <a:avLst/>
          </a:prstGeom>
        </p:spPr>
        <p:txBody>
          <a:bodyPr vert="horz" wrap="square" lIns="0" tIns="13335" rIns="0" bIns="0" rtlCol="0">
            <a:spAutoFit/>
          </a:bodyPr>
          <a:lstStyle/>
          <a:p>
            <a:pPr marL="12700">
              <a:lnSpc>
                <a:spcPct val="100000"/>
              </a:lnSpc>
              <a:spcBef>
                <a:spcPts val="105"/>
              </a:spcBef>
            </a:pPr>
            <a:r>
              <a:rPr lang="en-US" sz="1150" b="1" i="0" spc="105">
                <a:solidFill>
                  <a:srgbClr val="F5EFE8"/>
                </a:solidFill>
                <a:latin typeface="Delight Semi Bold" pitchFamily="2" charset="77"/>
                <a:cs typeface="Delight-SemiBold"/>
              </a:rPr>
              <a:t>AGENDA</a:t>
            </a:r>
            <a:endParaRPr sz="1150" b="1" i="0">
              <a:latin typeface="Delight Semi Bold" pitchFamily="2" charset="77"/>
              <a:cs typeface="Delight-SemiBold"/>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8" name="object 5">
            <a:extLst>
              <a:ext uri="{FF2B5EF4-FFF2-40B4-BE49-F238E27FC236}">
                <a16:creationId xmlns:a16="http://schemas.microsoft.com/office/drawing/2014/main" id="{283AC1B9-1309-ED25-3E3B-C1B0AAD47B71}"/>
              </a:ext>
            </a:extLst>
          </p:cNvPr>
          <p:cNvSpPr txBox="1"/>
          <p:nvPr userDrawn="1"/>
        </p:nvSpPr>
        <p:spPr>
          <a:xfrm>
            <a:off x="3945294" y="676911"/>
            <a:ext cx="366395" cy="190437"/>
          </a:xfrm>
          <a:prstGeom prst="rect">
            <a:avLst/>
          </a:prstGeom>
        </p:spPr>
        <p:txBody>
          <a:bodyPr vert="horz" wrap="square" lIns="0" tIns="13335" rIns="0" bIns="0" rtlCol="0">
            <a:spAutoFit/>
          </a:bodyPr>
          <a:lstStyle/>
          <a:p>
            <a:pPr marL="12700">
              <a:lnSpc>
                <a:spcPct val="100000"/>
              </a:lnSpc>
              <a:spcBef>
                <a:spcPts val="105"/>
              </a:spcBef>
            </a:pPr>
            <a:r>
              <a:rPr sz="1150" b="1" i="0">
                <a:solidFill>
                  <a:srgbClr val="F5EFE8"/>
                </a:solidFill>
                <a:latin typeface="Delight Semi Bold" pitchFamily="2" charset="77"/>
                <a:cs typeface="Delight-SemiBold"/>
              </a:rPr>
              <a:t>P</a:t>
            </a:r>
            <a:r>
              <a:rPr sz="1150" b="1" i="0" spc="-5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PT </a:t>
            </a:r>
            <a:endParaRPr sz="1150" b="1" i="0">
              <a:latin typeface="Delight Semi Bold" pitchFamily="2" charset="77"/>
              <a:cs typeface="Delight-SemiBold"/>
            </a:endParaRPr>
          </a:p>
        </p:txBody>
      </p:sp>
      <p:sp>
        <p:nvSpPr>
          <p:cNvPr id="9" name="object 6">
            <a:extLst>
              <a:ext uri="{FF2B5EF4-FFF2-40B4-BE49-F238E27FC236}">
                <a16:creationId xmlns:a16="http://schemas.microsoft.com/office/drawing/2014/main" id="{CDC16121-AF0E-C344-65B6-08416D0DF56E}"/>
              </a:ext>
            </a:extLst>
          </p:cNvPr>
          <p:cNvSpPr txBox="1"/>
          <p:nvPr userDrawn="1"/>
        </p:nvSpPr>
        <p:spPr>
          <a:xfrm>
            <a:off x="17337453" y="10379138"/>
            <a:ext cx="2077720" cy="190437"/>
          </a:xfrm>
          <a:prstGeom prst="rect">
            <a:avLst/>
          </a:prstGeom>
        </p:spPr>
        <p:txBody>
          <a:bodyPr vert="horz" wrap="square" lIns="0" tIns="13335" rIns="0" bIns="0" rtlCol="0">
            <a:spAutoFit/>
          </a:bodyPr>
          <a:lstStyle/>
          <a:p>
            <a:pPr marL="12700" algn="r">
              <a:lnSpc>
                <a:spcPct val="100000"/>
              </a:lnSpc>
              <a:spcBef>
                <a:spcPts val="105"/>
              </a:spcBef>
            </a:pPr>
            <a:r>
              <a:rPr sz="1150" b="1" i="0" spc="135">
                <a:solidFill>
                  <a:srgbClr val="F5EFE8"/>
                </a:solidFill>
                <a:latin typeface="Delight Semi Bold" pitchFamily="2" charset="77"/>
                <a:cs typeface="Delight-SemiBold"/>
              </a:rPr>
              <a:t>DEVELOPED</a:t>
            </a:r>
            <a:r>
              <a:rPr sz="1150" b="1" i="0" spc="31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BY</a:t>
            </a:r>
            <a:r>
              <a:rPr sz="1150" b="1" i="0" spc="330">
                <a:solidFill>
                  <a:srgbClr val="F5EFE8"/>
                </a:solidFill>
                <a:latin typeface="Delight Semi Bold" pitchFamily="2" charset="77"/>
                <a:cs typeface="Delight-SemiBold"/>
              </a:rPr>
              <a:t> </a:t>
            </a:r>
            <a:r>
              <a:rPr sz="1150" b="1" i="0" spc="105">
                <a:solidFill>
                  <a:srgbClr val="F5EFE8"/>
                </a:solidFill>
                <a:latin typeface="Delight Semi Bold" pitchFamily="2" charset="77"/>
                <a:cs typeface="Delight-SemiBold"/>
              </a:rPr>
              <a:t>END</a:t>
            </a:r>
            <a:r>
              <a:rPr sz="1150" b="1" i="0" spc="80">
                <a:solidFill>
                  <a:srgbClr val="F5EFE8"/>
                </a:solidFill>
                <a:latin typeface="Delight Semi Bold" pitchFamily="2" charset="77"/>
                <a:cs typeface="Delight-SemiBold"/>
              </a:rPr>
              <a:t>URE </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
        <p:nvSpPr>
          <p:cNvPr id="3" name="Rounded Rectangle 2">
            <a:extLst>
              <a:ext uri="{FF2B5EF4-FFF2-40B4-BE49-F238E27FC236}">
                <a16:creationId xmlns:a16="http://schemas.microsoft.com/office/drawing/2014/main" id="{AB89F71E-AD1B-9C7E-5F24-DFE3AA2CCC0E}"/>
              </a:ext>
            </a:extLst>
          </p:cNvPr>
          <p:cNvSpPr/>
          <p:nvPr userDrawn="1"/>
        </p:nvSpPr>
        <p:spPr>
          <a:xfrm>
            <a:off x="744693"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5" name="Holder 3">
            <a:extLst>
              <a:ext uri="{FF2B5EF4-FFF2-40B4-BE49-F238E27FC236}">
                <a16:creationId xmlns:a16="http://schemas.microsoft.com/office/drawing/2014/main" id="{22CC6CA9-7B09-4B71-5C99-F1322A3F34FC}"/>
              </a:ext>
            </a:extLst>
          </p:cNvPr>
          <p:cNvSpPr>
            <a:spLocks noGrp="1"/>
          </p:cNvSpPr>
          <p:nvPr>
            <p:ph type="body" idx="25" hasCustomPrompt="1"/>
          </p:nvPr>
        </p:nvSpPr>
        <p:spPr>
          <a:xfrm>
            <a:off x="3003550"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1" name="Rounded Rectangle 10">
            <a:extLst>
              <a:ext uri="{FF2B5EF4-FFF2-40B4-BE49-F238E27FC236}">
                <a16:creationId xmlns:a16="http://schemas.microsoft.com/office/drawing/2014/main" id="{95B41249-52B9-058C-A2D2-AEFA307C6ECB}"/>
              </a:ext>
            </a:extLst>
          </p:cNvPr>
          <p:cNvSpPr/>
          <p:nvPr userDrawn="1"/>
        </p:nvSpPr>
        <p:spPr>
          <a:xfrm>
            <a:off x="744693"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2" name="Holder 3">
            <a:extLst>
              <a:ext uri="{FF2B5EF4-FFF2-40B4-BE49-F238E27FC236}">
                <a16:creationId xmlns:a16="http://schemas.microsoft.com/office/drawing/2014/main" id="{229941AD-2968-47FA-B8A4-CF2ACDB0D856}"/>
              </a:ext>
            </a:extLst>
          </p:cNvPr>
          <p:cNvSpPr>
            <a:spLocks noGrp="1"/>
          </p:cNvSpPr>
          <p:nvPr>
            <p:ph type="body" idx="26" hasCustomPrompt="1"/>
          </p:nvPr>
        </p:nvSpPr>
        <p:spPr>
          <a:xfrm>
            <a:off x="3003550"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3" name="Rounded Rectangle 12">
            <a:extLst>
              <a:ext uri="{FF2B5EF4-FFF2-40B4-BE49-F238E27FC236}">
                <a16:creationId xmlns:a16="http://schemas.microsoft.com/office/drawing/2014/main" id="{B6ADB498-948E-374B-63FC-885671A1FFD9}"/>
              </a:ext>
            </a:extLst>
          </p:cNvPr>
          <p:cNvSpPr/>
          <p:nvPr userDrawn="1"/>
        </p:nvSpPr>
        <p:spPr>
          <a:xfrm>
            <a:off x="744693"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4" name="Holder 3">
            <a:extLst>
              <a:ext uri="{FF2B5EF4-FFF2-40B4-BE49-F238E27FC236}">
                <a16:creationId xmlns:a16="http://schemas.microsoft.com/office/drawing/2014/main" id="{15AE6D7C-A5A6-259A-EFEA-23C86FF21355}"/>
              </a:ext>
            </a:extLst>
          </p:cNvPr>
          <p:cNvSpPr>
            <a:spLocks noGrp="1"/>
          </p:cNvSpPr>
          <p:nvPr>
            <p:ph type="body" idx="27" hasCustomPrompt="1"/>
          </p:nvPr>
        </p:nvSpPr>
        <p:spPr>
          <a:xfrm>
            <a:off x="3003550"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5" name="Rounded Rectangle 14">
            <a:extLst>
              <a:ext uri="{FF2B5EF4-FFF2-40B4-BE49-F238E27FC236}">
                <a16:creationId xmlns:a16="http://schemas.microsoft.com/office/drawing/2014/main" id="{9F5E01BF-5917-E579-7B1E-8DAB57D96E96}"/>
              </a:ext>
            </a:extLst>
          </p:cNvPr>
          <p:cNvSpPr/>
          <p:nvPr userDrawn="1"/>
        </p:nvSpPr>
        <p:spPr>
          <a:xfrm>
            <a:off x="7602538"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6" name="Holder 3">
            <a:extLst>
              <a:ext uri="{FF2B5EF4-FFF2-40B4-BE49-F238E27FC236}">
                <a16:creationId xmlns:a16="http://schemas.microsoft.com/office/drawing/2014/main" id="{C5E9CA3F-F89A-9C4C-9663-A0DE4E38420F}"/>
              </a:ext>
            </a:extLst>
          </p:cNvPr>
          <p:cNvSpPr>
            <a:spLocks noGrp="1"/>
          </p:cNvSpPr>
          <p:nvPr>
            <p:ph type="body" idx="28" hasCustomPrompt="1"/>
          </p:nvPr>
        </p:nvSpPr>
        <p:spPr>
          <a:xfrm>
            <a:off x="9861395"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7" name="Rounded Rectangle 16">
            <a:extLst>
              <a:ext uri="{FF2B5EF4-FFF2-40B4-BE49-F238E27FC236}">
                <a16:creationId xmlns:a16="http://schemas.microsoft.com/office/drawing/2014/main" id="{69721468-036B-85EC-F925-B83D2B669D62}"/>
              </a:ext>
            </a:extLst>
          </p:cNvPr>
          <p:cNvSpPr/>
          <p:nvPr userDrawn="1"/>
        </p:nvSpPr>
        <p:spPr>
          <a:xfrm>
            <a:off x="7602538"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8" name="Holder 3">
            <a:extLst>
              <a:ext uri="{FF2B5EF4-FFF2-40B4-BE49-F238E27FC236}">
                <a16:creationId xmlns:a16="http://schemas.microsoft.com/office/drawing/2014/main" id="{BE575A3A-82D0-F43B-DB49-F447FB4E0D9D}"/>
              </a:ext>
            </a:extLst>
          </p:cNvPr>
          <p:cNvSpPr>
            <a:spLocks noGrp="1"/>
          </p:cNvSpPr>
          <p:nvPr>
            <p:ph type="body" idx="29" hasCustomPrompt="1"/>
          </p:nvPr>
        </p:nvSpPr>
        <p:spPr>
          <a:xfrm>
            <a:off x="9861395"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9" name="Rounded Rectangle 18">
            <a:extLst>
              <a:ext uri="{FF2B5EF4-FFF2-40B4-BE49-F238E27FC236}">
                <a16:creationId xmlns:a16="http://schemas.microsoft.com/office/drawing/2014/main" id="{BD7883A9-0CD2-7CA9-7F76-79FDE3EBC7A0}"/>
              </a:ext>
            </a:extLst>
          </p:cNvPr>
          <p:cNvSpPr/>
          <p:nvPr userDrawn="1"/>
        </p:nvSpPr>
        <p:spPr>
          <a:xfrm>
            <a:off x="7575550" y="78263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0" name="Holder 3">
            <a:extLst>
              <a:ext uri="{FF2B5EF4-FFF2-40B4-BE49-F238E27FC236}">
                <a16:creationId xmlns:a16="http://schemas.microsoft.com/office/drawing/2014/main" id="{6CB859BD-8FE4-FA28-DFA1-58B21F48AA10}"/>
              </a:ext>
            </a:extLst>
          </p:cNvPr>
          <p:cNvSpPr>
            <a:spLocks noGrp="1"/>
          </p:cNvSpPr>
          <p:nvPr>
            <p:ph type="body" idx="30" hasCustomPrompt="1"/>
          </p:nvPr>
        </p:nvSpPr>
        <p:spPr>
          <a:xfrm>
            <a:off x="9861395" y="85307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1" name="Rounded Rectangle 20">
            <a:extLst>
              <a:ext uri="{FF2B5EF4-FFF2-40B4-BE49-F238E27FC236}">
                <a16:creationId xmlns:a16="http://schemas.microsoft.com/office/drawing/2014/main" id="{1262CAD7-8638-E927-F611-CF9EA4BFF046}"/>
              </a:ext>
            </a:extLst>
          </p:cNvPr>
          <p:cNvSpPr/>
          <p:nvPr userDrawn="1"/>
        </p:nvSpPr>
        <p:spPr>
          <a:xfrm>
            <a:off x="14179339"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2" name="Holder 3">
            <a:extLst>
              <a:ext uri="{FF2B5EF4-FFF2-40B4-BE49-F238E27FC236}">
                <a16:creationId xmlns:a16="http://schemas.microsoft.com/office/drawing/2014/main" id="{7D201DB3-6A91-4680-EFC7-A03DBD654C9A}"/>
              </a:ext>
            </a:extLst>
          </p:cNvPr>
          <p:cNvSpPr>
            <a:spLocks noGrp="1"/>
          </p:cNvSpPr>
          <p:nvPr>
            <p:ph type="body" idx="31" hasCustomPrompt="1"/>
          </p:nvPr>
        </p:nvSpPr>
        <p:spPr>
          <a:xfrm>
            <a:off x="16438196"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3" name="Rounded Rectangle 22">
            <a:extLst>
              <a:ext uri="{FF2B5EF4-FFF2-40B4-BE49-F238E27FC236}">
                <a16:creationId xmlns:a16="http://schemas.microsoft.com/office/drawing/2014/main" id="{C4768C2C-9089-2398-6178-9746C1C79C8A}"/>
              </a:ext>
            </a:extLst>
          </p:cNvPr>
          <p:cNvSpPr/>
          <p:nvPr userDrawn="1"/>
        </p:nvSpPr>
        <p:spPr>
          <a:xfrm>
            <a:off x="14179339"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4" name="Holder 3">
            <a:extLst>
              <a:ext uri="{FF2B5EF4-FFF2-40B4-BE49-F238E27FC236}">
                <a16:creationId xmlns:a16="http://schemas.microsoft.com/office/drawing/2014/main" id="{B37A72DE-1C60-CB94-EA8C-A15D50FF7574}"/>
              </a:ext>
            </a:extLst>
          </p:cNvPr>
          <p:cNvSpPr>
            <a:spLocks noGrp="1"/>
          </p:cNvSpPr>
          <p:nvPr>
            <p:ph type="body" idx="32" hasCustomPrompt="1"/>
          </p:nvPr>
        </p:nvSpPr>
        <p:spPr>
          <a:xfrm>
            <a:off x="16438196"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5" name="Rounded Rectangle 24">
            <a:extLst>
              <a:ext uri="{FF2B5EF4-FFF2-40B4-BE49-F238E27FC236}">
                <a16:creationId xmlns:a16="http://schemas.microsoft.com/office/drawing/2014/main" id="{E868D2E0-2E25-5BAA-A59F-3B032EEF30AD}"/>
              </a:ext>
            </a:extLst>
          </p:cNvPr>
          <p:cNvSpPr/>
          <p:nvPr userDrawn="1"/>
        </p:nvSpPr>
        <p:spPr>
          <a:xfrm>
            <a:off x="14179339"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6" name="Holder 3">
            <a:extLst>
              <a:ext uri="{FF2B5EF4-FFF2-40B4-BE49-F238E27FC236}">
                <a16:creationId xmlns:a16="http://schemas.microsoft.com/office/drawing/2014/main" id="{9C005CB6-4F18-D26E-F95F-E84676E93107}"/>
              </a:ext>
            </a:extLst>
          </p:cNvPr>
          <p:cNvSpPr>
            <a:spLocks noGrp="1"/>
          </p:cNvSpPr>
          <p:nvPr>
            <p:ph type="body" idx="33" hasCustomPrompt="1"/>
          </p:nvPr>
        </p:nvSpPr>
        <p:spPr>
          <a:xfrm>
            <a:off x="16438196"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Tree>
    <p:extLst>
      <p:ext uri="{BB962C8B-B14F-4D97-AF65-F5344CB8AC3E}">
        <p14:creationId xmlns:p14="http://schemas.microsoft.com/office/powerpoint/2010/main" val="3366217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title-Transition">
    <p:spTree>
      <p:nvGrpSpPr>
        <p:cNvPr id="1" name=""/>
        <p:cNvGrpSpPr/>
        <p:nvPr/>
      </p:nvGrpSpPr>
      <p:grpSpPr>
        <a:xfrm>
          <a:off x="0" y="0"/>
          <a:ext cx="0" cy="0"/>
          <a:chOff x="0" y="0"/>
          <a:chExt cx="0" cy="0"/>
        </a:xfrm>
      </p:grpSpPr>
      <p:pic>
        <p:nvPicPr>
          <p:cNvPr id="17" name="bg object 17"/>
          <p:cNvPicPr>
            <a:picLocks noGrp="1" noRot="1" noMove="1" noResize="1" noEditPoints="1" noAdjustHandles="1" noChangeArrowheads="1" noChangeShapeType="1" noCrop="1"/>
          </p:cNvPicPr>
          <p:nvPr userDrawn="1"/>
        </p:nvPicPr>
        <p:blipFill>
          <a:blip r:embed="rId2" cstate="print"/>
          <a:stretch>
            <a:fillRect/>
          </a:stretch>
        </p:blipFill>
        <p:spPr>
          <a:xfrm>
            <a:off x="0" y="11265"/>
            <a:ext cx="20104099" cy="11298085"/>
          </a:xfrm>
          <a:prstGeom prst="rect">
            <a:avLst/>
          </a:prstGeom>
        </p:spPr>
      </p:pic>
      <p:pic>
        <p:nvPicPr>
          <p:cNvPr id="3" name="Picture 2">
            <a:extLst>
              <a:ext uri="{FF2B5EF4-FFF2-40B4-BE49-F238E27FC236}">
                <a16:creationId xmlns:a16="http://schemas.microsoft.com/office/drawing/2014/main" id="{065974E6-2DAC-AE5E-212D-D23385994A8F}"/>
              </a:ext>
            </a:extLst>
          </p:cNvPr>
          <p:cNvPicPr>
            <a:picLocks noGrp="1" noRot="1" noChangeAspect="1" noMove="1" noResize="1" noEditPoints="1" noAdjustHandles="1" noChangeArrowheads="1" noChangeShapeType="1" noCrop="1"/>
          </p:cNvPicPr>
          <p:nvPr userDrawn="1"/>
        </p:nvPicPr>
        <p:blipFill>
          <a:blip r:embed="rId3"/>
          <a:stretch>
            <a:fillRect/>
          </a:stretch>
        </p:blipFill>
        <p:spPr>
          <a:xfrm>
            <a:off x="308874" y="255592"/>
            <a:ext cx="19486349" cy="10798166"/>
          </a:xfrm>
          <a:prstGeom prst="rect">
            <a:avLst/>
          </a:prstGeom>
        </p:spPr>
      </p:pic>
      <p:sp>
        <p:nvSpPr>
          <p:cNvPr id="2" name="Holder 2"/>
          <p:cNvSpPr>
            <a:spLocks noGrp="1"/>
          </p:cNvSpPr>
          <p:nvPr>
            <p:ph type="title"/>
          </p:nvPr>
        </p:nvSpPr>
        <p:spPr>
          <a:xfrm>
            <a:off x="4255470" y="5186510"/>
            <a:ext cx="11593156" cy="1701004"/>
          </a:xfrm>
          <a:prstGeom prst="rect">
            <a:avLst/>
          </a:prstGeom>
        </p:spPr>
        <p:txBody>
          <a:bodyPr lIns="0" tIns="0" rIns="0" bIns="0"/>
          <a:lstStyle>
            <a:lvl1pPr algn="ctr">
              <a:lnSpc>
                <a:spcPts val="11000"/>
              </a:lnSpc>
              <a:defRPr sz="11000" b="0" i="0">
                <a:solidFill>
                  <a:schemeClr val="tx1"/>
                </a:solidFill>
                <a:latin typeface="Delight Medium" pitchFamily="2" charset="77"/>
                <a:cs typeface="Delight Medium" pitchFamily="2" charset="77"/>
              </a:defRPr>
            </a:lvl1pPr>
          </a:lstStyle>
          <a:p>
            <a:r>
              <a:rPr lang="en-US"/>
              <a:t>Click to edit Master title style</a:t>
            </a:r>
            <a:endParaRPr/>
          </a:p>
        </p:txBody>
      </p:sp>
      <p:sp>
        <p:nvSpPr>
          <p:cNvPr id="6" name="Holder 3">
            <a:extLst>
              <a:ext uri="{FF2B5EF4-FFF2-40B4-BE49-F238E27FC236}">
                <a16:creationId xmlns:a16="http://schemas.microsoft.com/office/drawing/2014/main" id="{05B7FC25-FD76-8528-9670-3C67F94EBFD1}"/>
              </a:ext>
            </a:extLst>
          </p:cNvPr>
          <p:cNvSpPr>
            <a:spLocks noGrp="1"/>
          </p:cNvSpPr>
          <p:nvPr>
            <p:ph type="body" idx="10" hasCustomPrompt="1"/>
          </p:nvPr>
        </p:nvSpPr>
        <p:spPr>
          <a:xfrm>
            <a:off x="9053726" y="4304730"/>
            <a:ext cx="1996643" cy="576258"/>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Section #</a:t>
            </a:r>
          </a:p>
        </p:txBody>
      </p:sp>
    </p:spTree>
    <p:extLst>
      <p:ext uri="{BB962C8B-B14F-4D97-AF65-F5344CB8AC3E}">
        <p14:creationId xmlns:p14="http://schemas.microsoft.com/office/powerpoint/2010/main" val="2561555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ur Team">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2760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16" name="Slide Number Placeholder 15">
            <a:extLst>
              <a:ext uri="{FF2B5EF4-FFF2-40B4-BE49-F238E27FC236}">
                <a16:creationId xmlns:a16="http://schemas.microsoft.com/office/drawing/2014/main" id="{36B57680-2E7C-5E3A-5960-B4592A08B5B2}"/>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13" name="Picture Placeholder 11">
            <a:extLst>
              <a:ext uri="{FF2B5EF4-FFF2-40B4-BE49-F238E27FC236}">
                <a16:creationId xmlns:a16="http://schemas.microsoft.com/office/drawing/2014/main" id="{44A785A1-950B-8C77-5E6A-01939DCEDD15}"/>
              </a:ext>
            </a:extLst>
          </p:cNvPr>
          <p:cNvSpPr>
            <a:spLocks noGrp="1"/>
          </p:cNvSpPr>
          <p:nvPr>
            <p:ph type="pic" sz="quarter" idx="19"/>
          </p:nvPr>
        </p:nvSpPr>
        <p:spPr>
          <a:xfrm>
            <a:off x="3886323" y="4816475"/>
            <a:ext cx="2944812" cy="3848099"/>
          </a:xfrm>
          <a:prstGeom prst="roundRect">
            <a:avLst>
              <a:gd name="adj" fmla="val 3928"/>
            </a:avLst>
          </a:prstGeom>
        </p:spPr>
        <p:txBody>
          <a:bodyPr/>
          <a:lstStyle/>
          <a:p>
            <a:r>
              <a:rPr lang="en-US"/>
              <a:t>Click icon to add picture</a:t>
            </a:r>
          </a:p>
        </p:txBody>
      </p:sp>
      <p:sp>
        <p:nvSpPr>
          <p:cNvPr id="14" name="Picture Placeholder 11">
            <a:extLst>
              <a:ext uri="{FF2B5EF4-FFF2-40B4-BE49-F238E27FC236}">
                <a16:creationId xmlns:a16="http://schemas.microsoft.com/office/drawing/2014/main" id="{2EB4CD6A-60E0-7874-92C3-2B8B65BC2513}"/>
              </a:ext>
            </a:extLst>
          </p:cNvPr>
          <p:cNvSpPr>
            <a:spLocks noGrp="1"/>
          </p:cNvSpPr>
          <p:nvPr>
            <p:ph type="pic" sz="quarter" idx="20"/>
          </p:nvPr>
        </p:nvSpPr>
        <p:spPr>
          <a:xfrm>
            <a:off x="744538" y="4816475"/>
            <a:ext cx="2944812" cy="3848099"/>
          </a:xfrm>
          <a:prstGeom prst="roundRect">
            <a:avLst>
              <a:gd name="adj" fmla="val 3928"/>
            </a:avLst>
          </a:prstGeom>
        </p:spPr>
        <p:txBody>
          <a:bodyPr/>
          <a:lstStyle/>
          <a:p>
            <a:r>
              <a:rPr lang="en-US"/>
              <a:t>Click icon to add picture</a:t>
            </a:r>
          </a:p>
        </p:txBody>
      </p:sp>
      <p:sp>
        <p:nvSpPr>
          <p:cNvPr id="15" name="Picture Placeholder 11">
            <a:extLst>
              <a:ext uri="{FF2B5EF4-FFF2-40B4-BE49-F238E27FC236}">
                <a16:creationId xmlns:a16="http://schemas.microsoft.com/office/drawing/2014/main" id="{70ACE302-95B3-911F-AB83-273E008E5DB4}"/>
              </a:ext>
            </a:extLst>
          </p:cNvPr>
          <p:cNvSpPr>
            <a:spLocks noGrp="1"/>
          </p:cNvSpPr>
          <p:nvPr>
            <p:ph type="pic" sz="quarter" idx="21"/>
          </p:nvPr>
        </p:nvSpPr>
        <p:spPr>
          <a:xfrm>
            <a:off x="10169893" y="4816475"/>
            <a:ext cx="2944812" cy="3848099"/>
          </a:xfrm>
          <a:prstGeom prst="roundRect">
            <a:avLst>
              <a:gd name="adj" fmla="val 3928"/>
            </a:avLst>
          </a:prstGeom>
        </p:spPr>
        <p:txBody>
          <a:bodyPr/>
          <a:lstStyle/>
          <a:p>
            <a:r>
              <a:rPr lang="en-US"/>
              <a:t>Click icon to add picture</a:t>
            </a:r>
          </a:p>
        </p:txBody>
      </p:sp>
      <p:sp>
        <p:nvSpPr>
          <p:cNvPr id="17" name="Picture Placeholder 11">
            <a:extLst>
              <a:ext uri="{FF2B5EF4-FFF2-40B4-BE49-F238E27FC236}">
                <a16:creationId xmlns:a16="http://schemas.microsoft.com/office/drawing/2014/main" id="{42C6BB06-0E8B-702B-4085-BF8215AAC548}"/>
              </a:ext>
            </a:extLst>
          </p:cNvPr>
          <p:cNvSpPr>
            <a:spLocks noGrp="1"/>
          </p:cNvSpPr>
          <p:nvPr>
            <p:ph type="pic" sz="quarter" idx="22"/>
          </p:nvPr>
        </p:nvSpPr>
        <p:spPr>
          <a:xfrm>
            <a:off x="7028108" y="4816475"/>
            <a:ext cx="2944812" cy="3848099"/>
          </a:xfrm>
          <a:prstGeom prst="roundRect">
            <a:avLst>
              <a:gd name="adj" fmla="val 3928"/>
            </a:avLst>
          </a:prstGeom>
        </p:spPr>
        <p:txBody>
          <a:bodyPr/>
          <a:lstStyle/>
          <a:p>
            <a:r>
              <a:rPr lang="en-US"/>
              <a:t>Click icon to add picture</a:t>
            </a:r>
          </a:p>
        </p:txBody>
      </p:sp>
      <p:sp>
        <p:nvSpPr>
          <p:cNvPr id="18" name="Picture Placeholder 11">
            <a:extLst>
              <a:ext uri="{FF2B5EF4-FFF2-40B4-BE49-F238E27FC236}">
                <a16:creationId xmlns:a16="http://schemas.microsoft.com/office/drawing/2014/main" id="{73A66E9F-7C0F-B1DF-F5EF-43EB7FBDDF88}"/>
              </a:ext>
            </a:extLst>
          </p:cNvPr>
          <p:cNvSpPr>
            <a:spLocks noGrp="1"/>
          </p:cNvSpPr>
          <p:nvPr>
            <p:ph type="pic" sz="quarter" idx="23"/>
          </p:nvPr>
        </p:nvSpPr>
        <p:spPr>
          <a:xfrm>
            <a:off x="16453461" y="4816475"/>
            <a:ext cx="2944812" cy="3848099"/>
          </a:xfrm>
          <a:prstGeom prst="roundRect">
            <a:avLst>
              <a:gd name="adj" fmla="val 3928"/>
            </a:avLst>
          </a:prstGeom>
        </p:spPr>
        <p:txBody>
          <a:bodyPr/>
          <a:lstStyle/>
          <a:p>
            <a:r>
              <a:rPr lang="en-US"/>
              <a:t>Click icon to add picture</a:t>
            </a:r>
          </a:p>
        </p:txBody>
      </p:sp>
      <p:sp>
        <p:nvSpPr>
          <p:cNvPr id="19" name="Picture Placeholder 11">
            <a:extLst>
              <a:ext uri="{FF2B5EF4-FFF2-40B4-BE49-F238E27FC236}">
                <a16:creationId xmlns:a16="http://schemas.microsoft.com/office/drawing/2014/main" id="{E25B2D14-543F-FB2C-CCCB-6BDBF377E441}"/>
              </a:ext>
            </a:extLst>
          </p:cNvPr>
          <p:cNvSpPr>
            <a:spLocks noGrp="1"/>
          </p:cNvSpPr>
          <p:nvPr>
            <p:ph type="pic" sz="quarter" idx="24"/>
          </p:nvPr>
        </p:nvSpPr>
        <p:spPr>
          <a:xfrm>
            <a:off x="13311678" y="4816475"/>
            <a:ext cx="2944812" cy="3848099"/>
          </a:xfrm>
          <a:prstGeom prst="roundRect">
            <a:avLst>
              <a:gd name="adj" fmla="val 3928"/>
            </a:avLst>
          </a:prstGeom>
        </p:spPr>
        <p:txBody>
          <a:bodyPr/>
          <a:lstStyle/>
          <a:p>
            <a:r>
              <a:rPr lang="en-US"/>
              <a:t>Click icon to add picture</a:t>
            </a:r>
          </a:p>
        </p:txBody>
      </p:sp>
      <p:sp>
        <p:nvSpPr>
          <p:cNvPr id="20" name="Holder 3">
            <a:extLst>
              <a:ext uri="{FF2B5EF4-FFF2-40B4-BE49-F238E27FC236}">
                <a16:creationId xmlns:a16="http://schemas.microsoft.com/office/drawing/2014/main" id="{9E418B74-8E5F-9A17-57D1-E1763CBEBE3D}"/>
              </a:ext>
            </a:extLst>
          </p:cNvPr>
          <p:cNvSpPr>
            <a:spLocks noGrp="1"/>
          </p:cNvSpPr>
          <p:nvPr>
            <p:ph type="body" idx="25" hasCustomPrompt="1"/>
          </p:nvPr>
        </p:nvSpPr>
        <p:spPr>
          <a:xfrm>
            <a:off x="741964"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1" name="Holder 3">
            <a:extLst>
              <a:ext uri="{FF2B5EF4-FFF2-40B4-BE49-F238E27FC236}">
                <a16:creationId xmlns:a16="http://schemas.microsoft.com/office/drawing/2014/main" id="{1F264448-CA6F-C43B-A1CE-FE78D413A732}"/>
              </a:ext>
            </a:extLst>
          </p:cNvPr>
          <p:cNvSpPr>
            <a:spLocks noGrp="1"/>
          </p:cNvSpPr>
          <p:nvPr>
            <p:ph type="body" idx="26" hasCustomPrompt="1"/>
          </p:nvPr>
        </p:nvSpPr>
        <p:spPr>
          <a:xfrm>
            <a:off x="3883749"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2" name="Holder 3">
            <a:extLst>
              <a:ext uri="{FF2B5EF4-FFF2-40B4-BE49-F238E27FC236}">
                <a16:creationId xmlns:a16="http://schemas.microsoft.com/office/drawing/2014/main" id="{AB5A724C-73F9-0363-7489-306BD50D8D04}"/>
              </a:ext>
            </a:extLst>
          </p:cNvPr>
          <p:cNvSpPr>
            <a:spLocks noGrp="1"/>
          </p:cNvSpPr>
          <p:nvPr>
            <p:ph type="body" idx="27" hasCustomPrompt="1"/>
          </p:nvPr>
        </p:nvSpPr>
        <p:spPr>
          <a:xfrm>
            <a:off x="7025533"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3" name="Holder 3">
            <a:extLst>
              <a:ext uri="{FF2B5EF4-FFF2-40B4-BE49-F238E27FC236}">
                <a16:creationId xmlns:a16="http://schemas.microsoft.com/office/drawing/2014/main" id="{2154B34E-ECD4-73B9-B325-D58CEB385D47}"/>
              </a:ext>
            </a:extLst>
          </p:cNvPr>
          <p:cNvSpPr>
            <a:spLocks noGrp="1"/>
          </p:cNvSpPr>
          <p:nvPr>
            <p:ph type="body" idx="28" hasCustomPrompt="1"/>
          </p:nvPr>
        </p:nvSpPr>
        <p:spPr>
          <a:xfrm>
            <a:off x="10167318"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4" name="Holder 3">
            <a:extLst>
              <a:ext uri="{FF2B5EF4-FFF2-40B4-BE49-F238E27FC236}">
                <a16:creationId xmlns:a16="http://schemas.microsoft.com/office/drawing/2014/main" id="{43B8CAE3-21D2-8123-547B-CBB7EA334720}"/>
              </a:ext>
            </a:extLst>
          </p:cNvPr>
          <p:cNvSpPr>
            <a:spLocks noGrp="1"/>
          </p:cNvSpPr>
          <p:nvPr>
            <p:ph type="body" idx="29" hasCustomPrompt="1"/>
          </p:nvPr>
        </p:nvSpPr>
        <p:spPr>
          <a:xfrm>
            <a:off x="13309102"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5" name="Holder 3">
            <a:extLst>
              <a:ext uri="{FF2B5EF4-FFF2-40B4-BE49-F238E27FC236}">
                <a16:creationId xmlns:a16="http://schemas.microsoft.com/office/drawing/2014/main" id="{19B10D4D-8F9D-DD06-1735-1514DCD73278}"/>
              </a:ext>
            </a:extLst>
          </p:cNvPr>
          <p:cNvSpPr>
            <a:spLocks noGrp="1"/>
          </p:cNvSpPr>
          <p:nvPr>
            <p:ph type="body" idx="30" hasCustomPrompt="1"/>
          </p:nvPr>
        </p:nvSpPr>
        <p:spPr>
          <a:xfrm>
            <a:off x="16450887"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6" name="Holder 3">
            <a:extLst>
              <a:ext uri="{FF2B5EF4-FFF2-40B4-BE49-F238E27FC236}">
                <a16:creationId xmlns:a16="http://schemas.microsoft.com/office/drawing/2014/main" id="{FE34137D-ACAD-06D0-CE12-5391A7401E3A}"/>
              </a:ext>
            </a:extLst>
          </p:cNvPr>
          <p:cNvSpPr>
            <a:spLocks noGrp="1"/>
          </p:cNvSpPr>
          <p:nvPr>
            <p:ph type="body" idx="31" hasCustomPrompt="1"/>
          </p:nvPr>
        </p:nvSpPr>
        <p:spPr>
          <a:xfrm>
            <a:off x="1079560"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7" name="Holder 3">
            <a:extLst>
              <a:ext uri="{FF2B5EF4-FFF2-40B4-BE49-F238E27FC236}">
                <a16:creationId xmlns:a16="http://schemas.microsoft.com/office/drawing/2014/main" id="{FBAB60A6-0E50-C96F-04E2-DDB8405119C4}"/>
              </a:ext>
            </a:extLst>
          </p:cNvPr>
          <p:cNvSpPr>
            <a:spLocks noGrp="1"/>
          </p:cNvSpPr>
          <p:nvPr>
            <p:ph type="body" idx="32" hasCustomPrompt="1"/>
          </p:nvPr>
        </p:nvSpPr>
        <p:spPr>
          <a:xfrm>
            <a:off x="4221345"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8" name="Holder 3">
            <a:extLst>
              <a:ext uri="{FF2B5EF4-FFF2-40B4-BE49-F238E27FC236}">
                <a16:creationId xmlns:a16="http://schemas.microsoft.com/office/drawing/2014/main" id="{EEFA4546-85D7-FC0B-F300-41A78A6A0AB1}"/>
              </a:ext>
            </a:extLst>
          </p:cNvPr>
          <p:cNvSpPr>
            <a:spLocks noGrp="1"/>
          </p:cNvSpPr>
          <p:nvPr>
            <p:ph type="body" idx="33" hasCustomPrompt="1"/>
          </p:nvPr>
        </p:nvSpPr>
        <p:spPr>
          <a:xfrm>
            <a:off x="7363129"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9" name="Holder 3">
            <a:extLst>
              <a:ext uri="{FF2B5EF4-FFF2-40B4-BE49-F238E27FC236}">
                <a16:creationId xmlns:a16="http://schemas.microsoft.com/office/drawing/2014/main" id="{03898B82-DD93-74CE-6D15-3F13CA7B2E68}"/>
              </a:ext>
            </a:extLst>
          </p:cNvPr>
          <p:cNvSpPr>
            <a:spLocks noGrp="1"/>
          </p:cNvSpPr>
          <p:nvPr>
            <p:ph type="body" idx="34" hasCustomPrompt="1"/>
          </p:nvPr>
        </p:nvSpPr>
        <p:spPr>
          <a:xfrm>
            <a:off x="10504914"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0" name="Holder 3">
            <a:extLst>
              <a:ext uri="{FF2B5EF4-FFF2-40B4-BE49-F238E27FC236}">
                <a16:creationId xmlns:a16="http://schemas.microsoft.com/office/drawing/2014/main" id="{099ECA2E-429A-280F-5DFB-9263E8697DF1}"/>
              </a:ext>
            </a:extLst>
          </p:cNvPr>
          <p:cNvSpPr>
            <a:spLocks noGrp="1"/>
          </p:cNvSpPr>
          <p:nvPr>
            <p:ph type="body" idx="35" hasCustomPrompt="1"/>
          </p:nvPr>
        </p:nvSpPr>
        <p:spPr>
          <a:xfrm>
            <a:off x="13646698"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1" name="Holder 3">
            <a:extLst>
              <a:ext uri="{FF2B5EF4-FFF2-40B4-BE49-F238E27FC236}">
                <a16:creationId xmlns:a16="http://schemas.microsoft.com/office/drawing/2014/main" id="{C22C5E4D-2DAA-B000-969B-561E453EA17E}"/>
              </a:ext>
            </a:extLst>
          </p:cNvPr>
          <p:cNvSpPr>
            <a:spLocks noGrp="1"/>
          </p:cNvSpPr>
          <p:nvPr>
            <p:ph type="body" idx="36" hasCustomPrompt="1"/>
          </p:nvPr>
        </p:nvSpPr>
        <p:spPr>
          <a:xfrm>
            <a:off x="16788483"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Tree>
    <p:extLst>
      <p:ext uri="{BB962C8B-B14F-4D97-AF65-F5344CB8AC3E}">
        <p14:creationId xmlns:p14="http://schemas.microsoft.com/office/powerpoint/2010/main" val="28269959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01">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02">
    <p:spTree>
      <p:nvGrpSpPr>
        <p:cNvPr id="1" name=""/>
        <p:cNvGrpSpPr/>
        <p:nvPr/>
      </p:nvGrpSpPr>
      <p:grpSpPr>
        <a:xfrm>
          <a:off x="0" y="0"/>
          <a:ext cx="0" cy="0"/>
          <a:chOff x="0" y="0"/>
          <a:chExt cx="0" cy="0"/>
        </a:xfrm>
      </p:grpSpPr>
      <p:sp>
        <p:nvSpPr>
          <p:cNvPr id="16" name="bg object 16"/>
          <p:cNvSpPr/>
          <p:nvPr/>
        </p:nvSpPr>
        <p:spPr>
          <a:xfrm>
            <a:off x="0" y="3749675"/>
            <a:ext cx="20104100" cy="7559040"/>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blipFill dpi="0" rotWithShape="0">
            <a:blip r:embed="rId2"/>
            <a:srcRect/>
            <a:stretch>
              <a:fillRect/>
            </a:stretch>
          </a:blipFill>
        </p:spPr>
        <p:txBody>
          <a:bodyPr wrap="none" lIns="0" tIns="0" rIns="0" bIns="0" rtlCol="0"/>
          <a:lstStyle/>
          <a:p>
            <a:endParaRPr/>
          </a:p>
        </p:txBody>
      </p:sp>
      <p:sp>
        <p:nvSpPr>
          <p:cNvPr id="4" name="Holder 2">
            <a:extLst>
              <a:ext uri="{FF2B5EF4-FFF2-40B4-BE49-F238E27FC236}">
                <a16:creationId xmlns:a16="http://schemas.microsoft.com/office/drawing/2014/main" id="{24F22982-C7A9-20ED-6AC5-491666638161}"/>
              </a:ext>
            </a:extLst>
          </p:cNvPr>
          <p:cNvSpPr>
            <a:spLocks noGrp="1"/>
          </p:cNvSpPr>
          <p:nvPr>
            <p:ph type="title"/>
          </p:nvPr>
        </p:nvSpPr>
        <p:spPr>
          <a:xfrm>
            <a:off x="744693" y="1750789"/>
            <a:ext cx="16317757" cy="1617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15" name="Holder 3">
            <a:extLst>
              <a:ext uri="{FF2B5EF4-FFF2-40B4-BE49-F238E27FC236}">
                <a16:creationId xmlns:a16="http://schemas.microsoft.com/office/drawing/2014/main" id="{CA6491BE-8854-7189-828D-5C72467E103B}"/>
              </a:ext>
            </a:extLst>
          </p:cNvPr>
          <p:cNvSpPr>
            <a:spLocks noGrp="1"/>
          </p:cNvSpPr>
          <p:nvPr>
            <p:ph type="body" idx="1" hasCustomPrompt="1"/>
          </p:nvPr>
        </p:nvSpPr>
        <p:spPr>
          <a:xfrm>
            <a:off x="744693" y="722784"/>
            <a:ext cx="544357" cy="512291"/>
          </a:xfrm>
          <a:prstGeom prst="roundRect">
            <a:avLst/>
          </a:prstGeom>
          <a:solidFill>
            <a:schemeClr val="accent2"/>
          </a:solidFill>
          <a:ln w="28575">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8" name="Holder 3">
            <a:extLst>
              <a:ext uri="{FF2B5EF4-FFF2-40B4-BE49-F238E27FC236}">
                <a16:creationId xmlns:a16="http://schemas.microsoft.com/office/drawing/2014/main" id="{64D7073E-CD35-2745-71B7-D4F04DEC22BB}"/>
              </a:ext>
            </a:extLst>
          </p:cNvPr>
          <p:cNvSpPr>
            <a:spLocks noGrp="1"/>
          </p:cNvSpPr>
          <p:nvPr>
            <p:ph type="body" idx="13" hasCustomPrompt="1"/>
          </p:nvPr>
        </p:nvSpPr>
        <p:spPr>
          <a:xfrm>
            <a:off x="1441450" y="701676"/>
            <a:ext cx="2743199" cy="533400"/>
          </a:xfrm>
          <a:prstGeom prst="roundRect">
            <a:avLst/>
          </a:prstGeom>
          <a:noFill/>
          <a:ln w="28575">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20" name="Slide Number Placeholder 15">
            <a:extLst>
              <a:ext uri="{FF2B5EF4-FFF2-40B4-BE49-F238E27FC236}">
                <a16:creationId xmlns:a16="http://schemas.microsoft.com/office/drawing/2014/main" id="{8AE1BC8D-BE96-7269-7ECB-3D596DC5002C}"/>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2" name="Footer Placeholder 3">
            <a:extLst>
              <a:ext uri="{FF2B5EF4-FFF2-40B4-BE49-F238E27FC236}">
                <a16:creationId xmlns:a16="http://schemas.microsoft.com/office/drawing/2014/main" id="{3210F118-55CD-500F-F228-601C33A88ECD}"/>
              </a:ext>
            </a:extLst>
          </p:cNvPr>
          <p:cNvSpPr>
            <a:spLocks noGrp="1"/>
          </p:cNvSpPr>
          <p:nvPr>
            <p:ph type="ftr" sz="quarter" idx="11"/>
          </p:nvPr>
        </p:nvSpPr>
        <p:spPr>
          <a:xfrm>
            <a:off x="5044281" y="10531475"/>
            <a:ext cx="10015538" cy="601662"/>
          </a:xfrm>
        </p:spPr>
        <p:txBody>
          <a:bodyPr/>
          <a:lstStyle>
            <a:lvl1pPr>
              <a:defRPr sz="1600">
                <a:solidFill>
                  <a:srgbClr val="FFFFFF"/>
                </a:solidFill>
                <a:latin typeface="Aptos" panose="020B0004020202020204" pitchFamily="34" charset="0"/>
              </a:defRPr>
            </a:lvl1pPr>
          </a:lstStyle>
          <a:p>
            <a:endParaRPr lang="en-US">
              <a:latin typeface="Aptos" panose="020B0004020202020204" pitchFamily="34" charset="0"/>
            </a:endParaRPr>
          </a:p>
        </p:txBody>
      </p:sp>
    </p:spTree>
    <p:extLst>
      <p:ext uri="{BB962C8B-B14F-4D97-AF65-F5344CB8AC3E}">
        <p14:creationId xmlns:p14="http://schemas.microsoft.com/office/powerpoint/2010/main" val="2519262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03">
    <p:spTree>
      <p:nvGrpSpPr>
        <p:cNvPr id="1" name=""/>
        <p:cNvGrpSpPr/>
        <p:nvPr/>
      </p:nvGrpSpPr>
      <p:grpSpPr>
        <a:xfrm>
          <a:off x="0" y="0"/>
          <a:ext cx="0" cy="0"/>
          <a:chOff x="0" y="0"/>
          <a:chExt cx="0" cy="0"/>
        </a:xfrm>
      </p:grpSpPr>
      <p:sp>
        <p:nvSpPr>
          <p:cNvPr id="2" name="Holder 2"/>
          <p:cNvSpPr>
            <a:spLocks noGrp="1"/>
          </p:cNvSpPr>
          <p:nvPr>
            <p:ph type="title"/>
          </p:nvPr>
        </p:nvSpPr>
        <p:spPr>
          <a:xfrm>
            <a:off x="8672356" y="3280434"/>
            <a:ext cx="10714193" cy="2362200"/>
          </a:xfrm>
          <a:prstGeom prst="rect">
            <a:avLst/>
          </a:prstGeom>
        </p:spPr>
        <p:txBody>
          <a:bodyPr lIns="0" tIns="0" rIns="0" bIns="0" anchor="t" anchorCtr="0"/>
          <a:lstStyle>
            <a:lvl1pPr>
              <a:lnSpc>
                <a:spcPts val="7200"/>
              </a:lnSpc>
              <a:defRPr sz="7200" b="0" i="0">
                <a:solidFill>
                  <a:schemeClr val="tx1"/>
                </a:solidFill>
                <a:latin typeface="Delight Medium"/>
                <a:cs typeface="Delight Medium"/>
              </a:defRPr>
            </a:lvl1pPr>
          </a:lstStyle>
          <a:p>
            <a:r>
              <a:rPr lang="en-US"/>
              <a:t>Click to edit Master title style</a:t>
            </a:r>
            <a:endParaRP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4" name="Holder 3">
            <a:extLst>
              <a:ext uri="{FF2B5EF4-FFF2-40B4-BE49-F238E27FC236}">
                <a16:creationId xmlns:a16="http://schemas.microsoft.com/office/drawing/2014/main" id="{47A53557-AE03-2084-6047-D3D9E2E59DAF}"/>
              </a:ext>
            </a:extLst>
          </p:cNvPr>
          <p:cNvSpPr>
            <a:spLocks noGrp="1"/>
          </p:cNvSpPr>
          <p:nvPr>
            <p:ph type="body" idx="18" hasCustomPrompt="1"/>
          </p:nvPr>
        </p:nvSpPr>
        <p:spPr>
          <a:xfrm>
            <a:off x="8642350" y="2429071"/>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6" name="Holder 3">
            <a:extLst>
              <a:ext uri="{FF2B5EF4-FFF2-40B4-BE49-F238E27FC236}">
                <a16:creationId xmlns:a16="http://schemas.microsoft.com/office/drawing/2014/main" id="{DE177557-72B5-0B7D-5C61-39F7D1205775}"/>
              </a:ext>
            </a:extLst>
          </p:cNvPr>
          <p:cNvSpPr>
            <a:spLocks noGrp="1"/>
          </p:cNvSpPr>
          <p:nvPr>
            <p:ph type="body" idx="13" hasCustomPrompt="1"/>
          </p:nvPr>
        </p:nvSpPr>
        <p:spPr>
          <a:xfrm>
            <a:off x="9301007" y="2407963"/>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8" name="Picture Placeholder 7">
            <a:extLst>
              <a:ext uri="{FF2B5EF4-FFF2-40B4-BE49-F238E27FC236}">
                <a16:creationId xmlns:a16="http://schemas.microsoft.com/office/drawing/2014/main" id="{6E0848FF-CDF3-C3CC-36EC-611638477ECE}"/>
              </a:ext>
            </a:extLst>
          </p:cNvPr>
          <p:cNvSpPr>
            <a:spLocks noGrp="1"/>
          </p:cNvSpPr>
          <p:nvPr>
            <p:ph type="pic" sz="quarter" idx="19"/>
          </p:nvPr>
        </p:nvSpPr>
        <p:spPr>
          <a:xfrm>
            <a:off x="724616" y="2407964"/>
            <a:ext cx="7460534" cy="6154332"/>
          </a:xfrm>
          <a:prstGeom prst="roundRect">
            <a:avLst>
              <a:gd name="adj" fmla="val 2427"/>
            </a:avLst>
          </a:prstGeom>
        </p:spPr>
        <p:txBody>
          <a:bodyPr/>
          <a:lstStyle/>
          <a:p>
            <a:r>
              <a:rPr lang="en-US"/>
              <a:t>Click icon to add picture</a:t>
            </a:r>
          </a:p>
        </p:txBody>
      </p:sp>
      <p:sp>
        <p:nvSpPr>
          <p:cNvPr id="9" name="Holder 3">
            <a:extLst>
              <a:ext uri="{FF2B5EF4-FFF2-40B4-BE49-F238E27FC236}">
                <a16:creationId xmlns:a16="http://schemas.microsoft.com/office/drawing/2014/main" id="{F0DC79B5-FB6E-6753-9A09-F18B49FABC18}"/>
              </a:ext>
            </a:extLst>
          </p:cNvPr>
          <p:cNvSpPr>
            <a:spLocks noGrp="1"/>
          </p:cNvSpPr>
          <p:nvPr>
            <p:ph type="body" idx="20" hasCustomPrompt="1"/>
          </p:nvPr>
        </p:nvSpPr>
        <p:spPr>
          <a:xfrm>
            <a:off x="8666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0" name="Holder 3">
            <a:extLst>
              <a:ext uri="{FF2B5EF4-FFF2-40B4-BE49-F238E27FC236}">
                <a16:creationId xmlns:a16="http://schemas.microsoft.com/office/drawing/2014/main" id="{35A4B8CD-2206-BF17-16E0-300313D9676F}"/>
              </a:ext>
            </a:extLst>
          </p:cNvPr>
          <p:cNvSpPr>
            <a:spLocks noGrp="1"/>
          </p:cNvSpPr>
          <p:nvPr>
            <p:ph type="body" idx="21" hasCustomPrompt="1"/>
          </p:nvPr>
        </p:nvSpPr>
        <p:spPr>
          <a:xfrm>
            <a:off x="8672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01</a:t>
            </a:r>
          </a:p>
        </p:txBody>
      </p:sp>
      <p:cxnSp>
        <p:nvCxnSpPr>
          <p:cNvPr id="16" name="Straight Connector 15">
            <a:extLst>
              <a:ext uri="{FF2B5EF4-FFF2-40B4-BE49-F238E27FC236}">
                <a16:creationId xmlns:a16="http://schemas.microsoft.com/office/drawing/2014/main" id="{77F6CB32-0F57-875F-B6E6-5A7D926912AD}"/>
              </a:ext>
            </a:extLst>
          </p:cNvPr>
          <p:cNvCxnSpPr>
            <a:cxnSpLocks/>
          </p:cNvCxnSpPr>
          <p:nvPr userDrawn="1"/>
        </p:nvCxnSpPr>
        <p:spPr>
          <a:xfrm>
            <a:off x="8666007" y="6988175"/>
            <a:ext cx="10720543" cy="0"/>
          </a:xfrm>
          <a:prstGeom prst="line">
            <a:avLst/>
          </a:prstGeom>
          <a:ln w="28575">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Holder 3">
            <a:extLst>
              <a:ext uri="{FF2B5EF4-FFF2-40B4-BE49-F238E27FC236}">
                <a16:creationId xmlns:a16="http://schemas.microsoft.com/office/drawing/2014/main" id="{5A52CAFA-01C6-C31D-2C9D-13CA6660AFE0}"/>
              </a:ext>
            </a:extLst>
          </p:cNvPr>
          <p:cNvSpPr>
            <a:spLocks noGrp="1"/>
          </p:cNvSpPr>
          <p:nvPr>
            <p:ph type="body" idx="22" hasCustomPrompt="1"/>
          </p:nvPr>
        </p:nvSpPr>
        <p:spPr>
          <a:xfrm>
            <a:off x="12342655"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7" name="Holder 3">
            <a:extLst>
              <a:ext uri="{FF2B5EF4-FFF2-40B4-BE49-F238E27FC236}">
                <a16:creationId xmlns:a16="http://schemas.microsoft.com/office/drawing/2014/main" id="{EA5AAD78-A9A9-AC5C-DB63-E3ECE3225BC6}"/>
              </a:ext>
            </a:extLst>
          </p:cNvPr>
          <p:cNvSpPr>
            <a:spLocks noGrp="1"/>
          </p:cNvSpPr>
          <p:nvPr>
            <p:ph type="body" idx="23" hasCustomPrompt="1"/>
          </p:nvPr>
        </p:nvSpPr>
        <p:spPr>
          <a:xfrm>
            <a:off x="12349006"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02</a:t>
            </a:r>
          </a:p>
        </p:txBody>
      </p:sp>
      <p:sp>
        <p:nvSpPr>
          <p:cNvPr id="11" name="Holder 3">
            <a:extLst>
              <a:ext uri="{FF2B5EF4-FFF2-40B4-BE49-F238E27FC236}">
                <a16:creationId xmlns:a16="http://schemas.microsoft.com/office/drawing/2014/main" id="{F8483C8D-121F-7158-C0DE-431C181DBBB7}"/>
              </a:ext>
            </a:extLst>
          </p:cNvPr>
          <p:cNvSpPr>
            <a:spLocks noGrp="1"/>
          </p:cNvSpPr>
          <p:nvPr>
            <p:ph type="body" idx="24" hasCustomPrompt="1"/>
          </p:nvPr>
        </p:nvSpPr>
        <p:spPr>
          <a:xfrm>
            <a:off x="16032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2" name="Holder 3">
            <a:extLst>
              <a:ext uri="{FF2B5EF4-FFF2-40B4-BE49-F238E27FC236}">
                <a16:creationId xmlns:a16="http://schemas.microsoft.com/office/drawing/2014/main" id="{8484FB8D-31B9-69BC-D174-965C8ABDB1ED}"/>
              </a:ext>
            </a:extLst>
          </p:cNvPr>
          <p:cNvSpPr>
            <a:spLocks noGrp="1"/>
          </p:cNvSpPr>
          <p:nvPr>
            <p:ph type="body" idx="25" hasCustomPrompt="1"/>
          </p:nvPr>
        </p:nvSpPr>
        <p:spPr>
          <a:xfrm>
            <a:off x="16038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03</a:t>
            </a:r>
          </a:p>
        </p:txBody>
      </p:sp>
    </p:spTree>
    <p:extLst>
      <p:ext uri="{BB962C8B-B14F-4D97-AF65-F5344CB8AC3E}">
        <p14:creationId xmlns:p14="http://schemas.microsoft.com/office/powerpoint/2010/main" val="4097486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04">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9" name="Picture Placeholder 7">
            <a:extLst>
              <a:ext uri="{FF2B5EF4-FFF2-40B4-BE49-F238E27FC236}">
                <a16:creationId xmlns:a16="http://schemas.microsoft.com/office/drawing/2014/main" id="{08610E84-6F6D-9211-9DFC-1C03020A2CE1}"/>
              </a:ext>
            </a:extLst>
          </p:cNvPr>
          <p:cNvSpPr>
            <a:spLocks noGrp="1"/>
          </p:cNvSpPr>
          <p:nvPr>
            <p:ph type="pic" sz="quarter" idx="19"/>
          </p:nvPr>
        </p:nvSpPr>
        <p:spPr>
          <a:xfrm>
            <a:off x="8185150" y="282575"/>
            <a:ext cx="11620500" cy="10706100"/>
          </a:xfrm>
          <a:prstGeom prst="roundRect">
            <a:avLst>
              <a:gd name="adj" fmla="val 1894"/>
            </a:avLst>
          </a:prstGeom>
        </p:spPr>
        <p:txBody>
          <a:bodyPr/>
          <a:lstStyle/>
          <a:p>
            <a:r>
              <a:rPr lang="en-US"/>
              <a:t>Click icon to add picture</a:t>
            </a:r>
          </a:p>
        </p:txBody>
      </p:sp>
    </p:spTree>
    <p:extLst>
      <p:ext uri="{BB962C8B-B14F-4D97-AF65-F5344CB8AC3E}">
        <p14:creationId xmlns:p14="http://schemas.microsoft.com/office/powerpoint/2010/main" val="24710491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05">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33704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3" name="Footer Placeholder 3">
            <a:extLst>
              <a:ext uri="{FF2B5EF4-FFF2-40B4-BE49-F238E27FC236}">
                <a16:creationId xmlns:a16="http://schemas.microsoft.com/office/drawing/2014/main" id="{5B545B6F-8A16-4470-1FFE-CE5291C6C9F5}"/>
              </a:ext>
            </a:extLst>
          </p:cNvPr>
          <p:cNvSpPr>
            <a:spLocks noGrp="1"/>
          </p:cNvSpPr>
          <p:nvPr>
            <p:ph type="ftr" sz="quarter" idx="11"/>
          </p:nvPr>
        </p:nvSpPr>
        <p:spPr>
          <a:xfrm>
            <a:off x="4835771" y="10656765"/>
            <a:ext cx="10015538" cy="601662"/>
          </a:xfrm>
        </p:spPr>
        <p:txBody>
          <a:bodyPr/>
          <a:lstStyle>
            <a:lvl1pPr>
              <a:defRPr sz="1200"/>
            </a:lvl1pPr>
          </a:lstStyle>
          <a:p>
            <a:endParaRPr lang="en-US" sz="1200"/>
          </a:p>
        </p:txBody>
      </p:sp>
    </p:spTree>
    <p:extLst>
      <p:ext uri="{BB962C8B-B14F-4D97-AF65-F5344CB8AC3E}">
        <p14:creationId xmlns:p14="http://schemas.microsoft.com/office/powerpoint/2010/main" val="3209841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Blue">
    <p:spTree>
      <p:nvGrpSpPr>
        <p:cNvPr id="1" name=""/>
        <p:cNvGrpSpPr/>
        <p:nvPr/>
      </p:nvGrpSpPr>
      <p:grpSpPr>
        <a:xfrm>
          <a:off x="0" y="0"/>
          <a:ext cx="0" cy="0"/>
          <a:chOff x="0" y="0"/>
          <a:chExt cx="0" cy="0"/>
        </a:xfrm>
      </p:grpSpPr>
      <p:sp>
        <p:nvSpPr>
          <p:cNvPr id="16" name="bg object 16"/>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103E7B"/>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0" y="0"/>
            <a:ext cx="20104099" cy="11298085"/>
          </a:xfrm>
          <a:prstGeom prst="rect">
            <a:avLst/>
          </a:prstGeom>
        </p:spPr>
      </p:pic>
    </p:spTree>
    <p:extLst>
      <p:ext uri="{BB962C8B-B14F-4D97-AF65-F5344CB8AC3E}">
        <p14:creationId xmlns:p14="http://schemas.microsoft.com/office/powerpoint/2010/main" val="489744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White">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wer Statement">
    <p:bg>
      <p:bgPr>
        <a:solidFill>
          <a:srgbClr val="000000"/>
        </a:solidFill>
        <a:effectLst/>
      </p:bgPr>
    </p:bg>
    <p:spTree>
      <p:nvGrpSpPr>
        <p:cNvPr id="1" name=""/>
        <p:cNvGrpSpPr/>
        <p:nvPr/>
      </p:nvGrpSpPr>
      <p:grpSpPr>
        <a:xfrm>
          <a:off x="0" y="0"/>
          <a:ext cx="0" cy="0"/>
          <a:chOff x="0" y="0"/>
          <a:chExt cx="0" cy="0"/>
        </a:xfrm>
      </p:grpSpPr>
      <p:pic>
        <p:nvPicPr>
          <p:cNvPr id="5" name="Picture 4" descr="A blue and black logo  AI-generated content may be incorrect.">
            <a:extLst>
              <a:ext uri="{FF2B5EF4-FFF2-40B4-BE49-F238E27FC236}">
                <a16:creationId xmlns:a16="http://schemas.microsoft.com/office/drawing/2014/main" id="{BA9809BA-C40D-CD53-FB7A-4B6286BF70CF}"/>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3719769" y="-715963"/>
            <a:ext cx="27543638" cy="12741275"/>
          </a:xfrm>
          <a:prstGeom prst="rect">
            <a:avLst/>
          </a:prstGeom>
        </p:spPr>
      </p:pic>
      <p:sp>
        <p:nvSpPr>
          <p:cNvPr id="6" name="Holder 2">
            <a:extLst>
              <a:ext uri="{FF2B5EF4-FFF2-40B4-BE49-F238E27FC236}">
                <a16:creationId xmlns:a16="http://schemas.microsoft.com/office/drawing/2014/main" id="{E15183D9-D1DB-385D-678F-DCD262335E4A}"/>
              </a:ext>
            </a:extLst>
          </p:cNvPr>
          <p:cNvSpPr>
            <a:spLocks noGrp="1"/>
          </p:cNvSpPr>
          <p:nvPr>
            <p:ph type="title" hasCustomPrompt="1"/>
          </p:nvPr>
        </p:nvSpPr>
        <p:spPr>
          <a:xfrm>
            <a:off x="2045185" y="4677571"/>
            <a:ext cx="16013730" cy="1701004"/>
          </a:xfrm>
          <a:prstGeom prst="rect">
            <a:avLst/>
          </a:prstGeom>
        </p:spPr>
        <p:txBody>
          <a:bodyPr lIns="0" tIns="0" rIns="0" bIns="0"/>
          <a:lstStyle>
            <a:lvl1pPr algn="ctr">
              <a:lnSpc>
                <a:spcPts val="6500"/>
              </a:lnSpc>
              <a:defRPr sz="4800" b="0" i="0">
                <a:solidFill>
                  <a:schemeClr val="bg1"/>
                </a:solidFill>
                <a:latin typeface="Delight Medium" pitchFamily="2" charset="77"/>
                <a:cs typeface="Delight Medium" pitchFamily="2" charset="77"/>
              </a:defRPr>
            </a:lvl1pPr>
          </a:lstStyle>
          <a:p>
            <a:r>
              <a:rPr lang="en-US"/>
              <a:t>Add Power Statement</a:t>
            </a:r>
            <a:endParaRPr/>
          </a:p>
        </p:txBody>
      </p:sp>
    </p:spTree>
    <p:extLst>
      <p:ext uri="{BB962C8B-B14F-4D97-AF65-F5344CB8AC3E}">
        <p14:creationId xmlns:p14="http://schemas.microsoft.com/office/powerpoint/2010/main" val="2278652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13013" y="1850860"/>
            <a:ext cx="15078075" cy="3937329"/>
          </a:xfrm>
        </p:spPr>
        <p:txBody>
          <a:bodyPr anchor="b"/>
          <a:lstStyle>
            <a:lvl1pPr algn="ctr">
              <a:defRPr sz="9894"/>
            </a:lvl1pPr>
          </a:lstStyle>
          <a:p>
            <a:r>
              <a:rPr lang="en-US"/>
              <a:t>Click to edit Master title style</a:t>
            </a:r>
          </a:p>
        </p:txBody>
      </p:sp>
      <p:sp>
        <p:nvSpPr>
          <p:cNvPr id="3" name="Subtitle 2"/>
          <p:cNvSpPr>
            <a:spLocks noGrp="1"/>
          </p:cNvSpPr>
          <p:nvPr>
            <p:ph type="subTitle" idx="1"/>
          </p:nvPr>
        </p:nvSpPr>
        <p:spPr>
          <a:xfrm>
            <a:off x="2513013" y="5940028"/>
            <a:ext cx="15078075" cy="2730474"/>
          </a:xfrm>
        </p:spPr>
        <p:txBody>
          <a:bodyPr/>
          <a:lstStyle>
            <a:lvl1pPr marL="0" indent="0" algn="ctr">
              <a:buNone/>
              <a:defRPr sz="3958"/>
            </a:lvl1pPr>
            <a:lvl2pPr marL="753923" indent="0" algn="ctr">
              <a:buNone/>
              <a:defRPr sz="3298"/>
            </a:lvl2pPr>
            <a:lvl3pPr marL="1507846" indent="0" algn="ctr">
              <a:buNone/>
              <a:defRPr sz="2968"/>
            </a:lvl3pPr>
            <a:lvl4pPr marL="2261768" indent="0" algn="ctr">
              <a:buNone/>
              <a:defRPr sz="2638"/>
            </a:lvl4pPr>
            <a:lvl5pPr marL="3015691" indent="0" algn="ctr">
              <a:buNone/>
              <a:defRPr sz="2638"/>
            </a:lvl5pPr>
            <a:lvl6pPr marL="3769614" indent="0" algn="ctr">
              <a:buNone/>
              <a:defRPr sz="2638"/>
            </a:lvl6pPr>
            <a:lvl7pPr marL="4523537" indent="0" algn="ctr">
              <a:buNone/>
              <a:defRPr sz="2638"/>
            </a:lvl7pPr>
            <a:lvl8pPr marL="5277460" indent="0" algn="ctr">
              <a:buNone/>
              <a:defRPr sz="2638"/>
            </a:lvl8pPr>
            <a:lvl9pPr marL="6031382" indent="0" algn="ctr">
              <a:buNone/>
              <a:defRPr sz="2638"/>
            </a:lvl9pPr>
          </a:lstStyle>
          <a:p>
            <a:r>
              <a:rPr lang="en-US"/>
              <a:t>Click to edit Master subtitle style</a:t>
            </a:r>
          </a:p>
        </p:txBody>
      </p:sp>
    </p:spTree>
    <p:extLst>
      <p:ext uri="{BB962C8B-B14F-4D97-AF65-F5344CB8AC3E}">
        <p14:creationId xmlns:p14="http://schemas.microsoft.com/office/powerpoint/2010/main" val="8805948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0DD213-5353-21AD-09CC-1925F60EE915}"/>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19638A62-45C0-5967-7362-BDD0D04180C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A8A5F3-11FB-A9AE-7E80-7FF0675D3C91}"/>
              </a:ext>
            </a:extLst>
          </p:cNvPr>
          <p:cNvSpPr>
            <a:spLocks noGrp="1"/>
          </p:cNvSpPr>
          <p:nvPr>
            <p:ph type="sldNum" sz="quarter" idx="12"/>
          </p:nvPr>
        </p:nvSpPr>
        <p:spPr/>
        <p:txBody>
          <a:bodyPr/>
          <a:lstStyle/>
          <a:p>
            <a:fld id="{481B4AAB-B4EA-D749-AC5F-B7E5E0E99202}" type="slidenum">
              <a:rPr lang="en-US" smtClean="0"/>
              <a:pPr/>
              <a:t>‹#›</a:t>
            </a:fld>
            <a:endParaRPr lang="en-US"/>
          </a:p>
        </p:txBody>
      </p:sp>
    </p:spTree>
    <p:extLst>
      <p:ext uri="{BB962C8B-B14F-4D97-AF65-F5344CB8AC3E}">
        <p14:creationId xmlns:p14="http://schemas.microsoft.com/office/powerpoint/2010/main" val="33041070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F3B2C66-5CCD-5234-0C52-97267551F6B7}"/>
              </a:ext>
            </a:extLst>
          </p:cNvPr>
          <p:cNvSpPr>
            <a:spLocks noGrp="1"/>
          </p:cNvSpPr>
          <p:nvPr>
            <p:ph type="body" idx="1"/>
          </p:nvPr>
        </p:nvSpPr>
        <p:spPr>
          <a:xfrm>
            <a:off x="1382713" y="3009900"/>
            <a:ext cx="17338675" cy="7177088"/>
          </a:xfrm>
          <a:prstGeom prst="rect">
            <a:avLst/>
          </a:prstGeom>
          <a:ln>
            <a:noFill/>
          </a:ln>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Placeholder 8">
            <a:extLst>
              <a:ext uri="{FF2B5EF4-FFF2-40B4-BE49-F238E27FC236}">
                <a16:creationId xmlns:a16="http://schemas.microsoft.com/office/drawing/2014/main" id="{E262EE1D-5419-1607-C90B-A603F6BF18D0}"/>
              </a:ext>
            </a:extLst>
          </p:cNvPr>
          <p:cNvSpPr>
            <a:spLocks noGrp="1"/>
          </p:cNvSpPr>
          <p:nvPr>
            <p:ph type="title"/>
          </p:nvPr>
        </p:nvSpPr>
        <p:spPr>
          <a:xfrm>
            <a:off x="1382713" y="601663"/>
            <a:ext cx="17338675" cy="2185987"/>
          </a:xfrm>
          <a:prstGeom prst="rect">
            <a:avLst/>
          </a:prstGeom>
        </p:spPr>
        <p:txBody>
          <a:bodyPr vert="horz" lIns="0" tIns="0" rIns="0" bIns="0" rtlCol="0" anchor="ctr">
            <a:noAutofit/>
          </a:bodyPr>
          <a:lstStyle/>
          <a:p>
            <a:r>
              <a:rPr lang="en-US"/>
              <a:t>Click to edit Master title style</a:t>
            </a:r>
          </a:p>
        </p:txBody>
      </p:sp>
      <p:sp>
        <p:nvSpPr>
          <p:cNvPr id="14" name="Date Placeholder 9">
            <a:extLst>
              <a:ext uri="{FF2B5EF4-FFF2-40B4-BE49-F238E27FC236}">
                <a16:creationId xmlns:a16="http://schemas.microsoft.com/office/drawing/2014/main" id="{90C5EA89-0E1C-524E-1418-A4C325BDEB79}"/>
              </a:ext>
            </a:extLst>
          </p:cNvPr>
          <p:cNvSpPr>
            <a:spLocks noGrp="1"/>
          </p:cNvSpPr>
          <p:nvPr>
            <p:ph type="dt" sz="half" idx="2"/>
          </p:nvPr>
        </p:nvSpPr>
        <p:spPr>
          <a:xfrm>
            <a:off x="1382713" y="10482263"/>
            <a:ext cx="4522787" cy="601662"/>
          </a:xfrm>
          <a:prstGeom prst="rect">
            <a:avLst/>
          </a:prstGeom>
        </p:spPr>
        <p:txBody>
          <a:bodyPr vert="horz" lIns="91440" tIns="45720" rIns="91440" bIns="45720" rtlCol="0" anchor="ctr"/>
          <a:lstStyle>
            <a:lvl1pPr algn="l">
              <a:defRPr sz="2000" b="0" i="0">
                <a:solidFill>
                  <a:schemeClr val="tx2"/>
                </a:solidFill>
                <a:latin typeface="Delight Medium" pitchFamily="2" charset="77"/>
              </a:defRPr>
            </a:lvl1pPr>
          </a:lstStyle>
          <a:p>
            <a:endParaRPr lang="en-US"/>
          </a:p>
        </p:txBody>
      </p:sp>
      <p:sp>
        <p:nvSpPr>
          <p:cNvPr id="15" name="Footer Placeholder 10">
            <a:extLst>
              <a:ext uri="{FF2B5EF4-FFF2-40B4-BE49-F238E27FC236}">
                <a16:creationId xmlns:a16="http://schemas.microsoft.com/office/drawing/2014/main" id="{747DA8CB-9EC9-067D-D3BE-B8A2D9047B58}"/>
              </a:ext>
            </a:extLst>
          </p:cNvPr>
          <p:cNvSpPr>
            <a:spLocks noGrp="1"/>
          </p:cNvSpPr>
          <p:nvPr>
            <p:ph type="ftr" sz="quarter" idx="3"/>
          </p:nvPr>
        </p:nvSpPr>
        <p:spPr>
          <a:xfrm>
            <a:off x="6659563" y="10482263"/>
            <a:ext cx="6784975" cy="601662"/>
          </a:xfrm>
          <a:prstGeom prst="rect">
            <a:avLst/>
          </a:prstGeom>
        </p:spPr>
        <p:txBody>
          <a:bodyPr vert="horz" lIns="91440" tIns="45720" rIns="91440" bIns="45720" rtlCol="0" anchor="ctr"/>
          <a:lstStyle>
            <a:lvl1pPr algn="ctr">
              <a:defRPr sz="2000" b="0" i="0">
                <a:solidFill>
                  <a:schemeClr val="tx2"/>
                </a:solidFill>
                <a:latin typeface="Delight Medium" pitchFamily="2" charset="77"/>
              </a:defRPr>
            </a:lvl1pPr>
          </a:lstStyle>
          <a:p>
            <a:endParaRPr lang="en-US"/>
          </a:p>
        </p:txBody>
      </p:sp>
      <p:sp>
        <p:nvSpPr>
          <p:cNvPr id="17" name="Slide Number Placeholder 11">
            <a:extLst>
              <a:ext uri="{FF2B5EF4-FFF2-40B4-BE49-F238E27FC236}">
                <a16:creationId xmlns:a16="http://schemas.microsoft.com/office/drawing/2014/main" id="{193039B6-5B1F-C342-CAC2-4E3C97B67886}"/>
              </a:ext>
            </a:extLst>
          </p:cNvPr>
          <p:cNvSpPr>
            <a:spLocks noGrp="1"/>
          </p:cNvSpPr>
          <p:nvPr>
            <p:ph type="sldNum" sz="quarter" idx="4"/>
          </p:nvPr>
        </p:nvSpPr>
        <p:spPr>
          <a:xfrm>
            <a:off x="14198600" y="10482263"/>
            <a:ext cx="4522788" cy="601662"/>
          </a:xfrm>
          <a:prstGeom prst="rect">
            <a:avLst/>
          </a:prstGeom>
        </p:spPr>
        <p:txBody>
          <a:bodyPr vert="horz" lIns="0" tIns="0" rIns="0" bIns="0" rtlCol="0" anchor="ctr"/>
          <a:lstStyle>
            <a:lvl1pPr algn="r">
              <a:defRPr sz="2000" b="0" i="0">
                <a:solidFill>
                  <a:schemeClr val="tx2"/>
                </a:solidFill>
                <a:latin typeface="Delight Medium" pitchFamily="2" charset="77"/>
              </a:defRPr>
            </a:lvl1pPr>
          </a:lstStyle>
          <a:p>
            <a:fld id="{481B4AAB-B4EA-D749-AC5F-B7E5E0E99202}"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7" r:id="rId1"/>
    <p:sldLayoutId id="2147483674" r:id="rId2"/>
    <p:sldLayoutId id="2147483679" r:id="rId3"/>
    <p:sldLayoutId id="2147483680" r:id="rId4"/>
    <p:sldLayoutId id="2147483676" r:id="rId5"/>
    <p:sldLayoutId id="2147483681" r:id="rId6"/>
    <p:sldLayoutId id="2147483682" r:id="rId7"/>
    <p:sldLayoutId id="2147483683" r:id="rId8"/>
    <p:sldLayoutId id="2147483672" r:id="rId9"/>
    <p:sldLayoutId id="2147483673" r:id="rId10"/>
    <p:sldLayoutId id="2147483678" r:id="rId11"/>
    <p:sldLayoutId id="2147483684" r:id="rId12"/>
    <p:sldLayoutId id="2147483675" r:id="rId13"/>
    <p:sldLayoutId id="2147483685" r:id="rId14"/>
  </p:sldLayoutIdLst>
  <p:hf hdr="0" ftr="0" dt="0"/>
  <p:txStyles>
    <p:titleStyle>
      <a:lvl1pPr eaLnBrk="1" hangingPunct="1">
        <a:lnSpc>
          <a:spcPts val="7200"/>
        </a:lnSpc>
        <a:defRPr sz="9000" b="0" i="0">
          <a:solidFill>
            <a:schemeClr val="tx1"/>
          </a:solidFill>
          <a:latin typeface="Delight Medium" pitchFamily="2" charset="77"/>
          <a:ea typeface="+mj-ea"/>
          <a:cs typeface="+mj-cs"/>
        </a:defRPr>
      </a:lvl1pPr>
    </p:titleStyle>
    <p:bodyStyle>
      <a:lvl1pPr marL="0" algn="just" eaLnBrk="1" hangingPunct="1">
        <a:lnSpc>
          <a:spcPts val="2800"/>
        </a:lnSpc>
        <a:defRPr sz="1800" b="0" i="0">
          <a:solidFill>
            <a:schemeClr val="accent6"/>
          </a:solidFill>
          <a:latin typeface="Delight Regular" pitchFamily="2" charset="77"/>
          <a:ea typeface="+mn-ea"/>
          <a:cs typeface="+mn-cs"/>
        </a:defRPr>
      </a:lvl1pPr>
      <a:lvl2pPr marL="742950" indent="-285750" algn="just" eaLnBrk="1" hangingPunct="1">
        <a:lnSpc>
          <a:spcPts val="2800"/>
        </a:lnSpc>
        <a:buFont typeface="Arial" panose="020B0604020202020204" pitchFamily="34" charset="0"/>
        <a:buChar char="•"/>
        <a:defRPr sz="1800" b="0" i="0">
          <a:solidFill>
            <a:schemeClr val="accent6"/>
          </a:solidFill>
          <a:latin typeface="Delight Regular" pitchFamily="2" charset="77"/>
          <a:ea typeface="+mn-ea"/>
          <a:cs typeface="+mn-cs"/>
        </a:defRPr>
      </a:lvl2pPr>
      <a:lvl3pPr marL="1200150" indent="-285750" algn="just" eaLnBrk="1" hangingPunct="1">
        <a:lnSpc>
          <a:spcPts val="2800"/>
        </a:lnSpc>
        <a:buFont typeface="Arial" panose="020B0604020202020204" pitchFamily="34" charset="0"/>
        <a:buChar char="•"/>
        <a:defRPr sz="1800" b="0" i="0">
          <a:solidFill>
            <a:schemeClr val="bg2"/>
          </a:solidFill>
          <a:latin typeface="Delight Regular" pitchFamily="2" charset="77"/>
          <a:ea typeface="+mn-ea"/>
          <a:cs typeface="+mn-cs"/>
        </a:defRPr>
      </a:lvl3pPr>
      <a:lvl4pPr marL="1657350" indent="-285750" algn="just" eaLnBrk="1" hangingPunct="1">
        <a:lnSpc>
          <a:spcPts val="2800"/>
        </a:lnSpc>
        <a:buFont typeface="Arial" panose="020B0604020202020204" pitchFamily="34" charset="0"/>
        <a:buChar char="•"/>
        <a:defRPr sz="1800" b="0" i="0">
          <a:solidFill>
            <a:schemeClr val="accent2"/>
          </a:solidFill>
          <a:latin typeface="Delight Regular" pitchFamily="2" charset="77"/>
          <a:ea typeface="+mn-ea"/>
          <a:cs typeface="+mn-cs"/>
        </a:defRPr>
      </a:lvl4pPr>
      <a:lvl5pPr marL="2114550" indent="-285750" algn="just" eaLnBrk="1" hangingPunct="1">
        <a:lnSpc>
          <a:spcPts val="2800"/>
        </a:lnSpc>
        <a:buFont typeface="Arial" panose="020B0604020202020204" pitchFamily="34" charset="0"/>
        <a:buChar char="•"/>
        <a:defRPr sz="1800" b="0" i="0">
          <a:solidFill>
            <a:schemeClr val="accent5"/>
          </a:solidFill>
          <a:latin typeface="Delight Regular" pitchFamily="2" charset="77"/>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bodyStyle>
    <p:other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otherStyle>
  </p:txStyles>
  <p:extLst>
    <p:ext uri="{27BBF7A9-308A-43DC-89C8-2F10F3537804}">
      <p15:sldGuideLst xmlns:p15="http://schemas.microsoft.com/office/powerpoint/2012/main">
        <p15:guide id="1" orient="horz" pos="442" userDrawn="1">
          <p15:clr>
            <a:srgbClr val="F26B43"/>
          </p15:clr>
        </p15:guide>
        <p15:guide id="2" pos="452" userDrawn="1">
          <p15:clr>
            <a:srgbClr val="F26B43"/>
          </p15:clr>
        </p15:guide>
        <p15:guide id="3" orient="horz" pos="6634" userDrawn="1">
          <p15:clr>
            <a:srgbClr val="F26B43"/>
          </p15:clr>
        </p15:guide>
        <p15:guide id="4" pos="12212" userDrawn="1">
          <p15:clr>
            <a:srgbClr val="F26B43"/>
          </p15:clr>
        </p15:guide>
        <p15:guide id="5" orient="horz" pos="6298" userDrawn="1">
          <p15:clr>
            <a:srgbClr val="F26B43"/>
          </p15:clr>
        </p15:guide>
        <p15:guide id="6" orient="horz" pos="778" userDrawn="1">
          <p15:clr>
            <a:srgbClr val="F26B43"/>
          </p15:clr>
        </p15:guide>
        <p15:guide id="7" pos="5444" userDrawn="1">
          <p15:clr>
            <a:srgbClr val="F26B43"/>
          </p15:clr>
        </p15:guide>
        <p15:guide id="8" pos="5156" userDrawn="1">
          <p15:clr>
            <a:srgbClr val="F26B43"/>
          </p15:clr>
        </p15:guide>
        <p15:guide id="9" pos="4868" userDrawn="1">
          <p15:clr>
            <a:srgbClr val="F26B43"/>
          </p15:clr>
        </p15:guide>
        <p15:guide id="10" pos="6332" userDrawn="1">
          <p15:clr>
            <a:srgbClr val="5ACBF0"/>
          </p15:clr>
        </p15:guide>
        <p15:guide id="11" orient="horz" pos="3562"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chart" Target="../charts/char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Offering Release 26</a:t>
            </a:r>
          </a:p>
        </p:txBody>
      </p:sp>
      <p:sp>
        <p:nvSpPr>
          <p:cNvPr id="3" name="TextBox 2"/>
          <p:cNvSpPr txBox="1"/>
          <p:nvPr/>
        </p:nvSpPr>
        <p:spPr>
          <a:xfrm>
            <a:off x="3941063" y="7589520"/>
            <a:ext cx="11594592" cy="914400"/>
          </a:xfrm>
          <a:prstGeom prst="rect">
            <a:avLst/>
          </a:prstGeom>
          <a:noFill/>
        </p:spPr>
        <p:txBody>
          <a:bodyPr wrap="square" anchor="ctr" lIns="0" rIns="0" tIns="54864" bIns="54864">
            <a:spAutoFit/>
          </a:bodyPr>
          <a:lstStyle/>
          <a:p>
            <a:pPr algn="ctr">
              <a:spcAft>
                <a:spcPts val="600"/>
              </a:spcAft>
            </a:pPr>
            <a:r>
              <a:rPr sz="2400" b="0">
                <a:solidFill>
                  <a:srgbClr val="F5EFE9"/>
                </a:solidFill>
              </a:rPr>
              <a:t>How the database snapshot deployment and the Jaspersoft promotion were automated with AI, what the QA proves, what it saved, and what comes next  |  internal documentation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What Ships In Release 26</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Snapshot layer</a:t>
            </a:r>
          </a:p>
          <a:p>
            <a:pPr algn="l">
              <a:spcAft>
                <a:spcPts val="600"/>
              </a:spcAft>
            </a:pPr>
            <a:r>
              <a:rPr sz="1500" b="0">
                <a:solidFill>
                  <a:srgbClr val="4C5D69"/>
                </a:solidFill>
              </a:rPr>
              <a:t>built inside the client's CISADM</a:t>
            </a:r>
          </a:p>
        </p:txBody>
      </p:sp>
      <p:sp>
        <p:nvSpPr>
          <p:cNvPr id="7" name="Rounded Rectangle 6"/>
          <p:cNvSpPr/>
          <p:nvPr/>
        </p:nvSpPr>
        <p:spPr>
          <a:xfrm>
            <a:off x="52120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8 reporting tables (the active 8) loaded once from full history</a:t>
            </a:r>
          </a:p>
        </p:txBody>
      </p:sp>
      <p:sp>
        <p:nvSpPr>
          <p:cNvPr id="8" name="Rounded Rectangle 7"/>
          <p:cNvSpPr/>
          <p:nvPr/>
        </p:nvSpPr>
        <p:spPr>
          <a:xfrm>
            <a:off x="99364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Refresh procedures: full history for the baseline, then a rolling window</a:t>
            </a:r>
          </a:p>
        </p:txBody>
      </p:sp>
      <p:sp>
        <p:nvSpPr>
          <p:cNvPr id="9" name="Rounded Rectangle 8"/>
          <p:cNvSpPr/>
          <p:nvPr/>
        </p:nvSpPr>
        <p:spPr>
          <a:xfrm>
            <a:off x="14660879"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Database scheduler jobs, twice daily, staggered so they never overlap</a:t>
            </a:r>
          </a:p>
        </p:txBody>
      </p:sp>
      <p:cxnSp>
        <p:nvCxnSpPr>
          <p:cNvPr id="10" name="Connector 9"/>
          <p:cNvCxnSpPr/>
          <p:nvPr/>
        </p:nvCxnSpPr>
        <p:spPr>
          <a:xfrm>
            <a:off x="10058400" y="348386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0664" y="384048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Standard Offering</a:t>
            </a:r>
          </a:p>
          <a:p>
            <a:pPr algn="l">
              <a:spcAft>
                <a:spcPts val="600"/>
              </a:spcAft>
            </a:pPr>
            <a:r>
              <a:rPr sz="1500" b="0">
                <a:solidFill>
                  <a:srgbClr val="4C5D69"/>
                </a:solidFill>
              </a:rPr>
              <a:t>the Jaspersoft content</a:t>
            </a:r>
          </a:p>
        </p:txBody>
      </p:sp>
      <p:sp>
        <p:nvSpPr>
          <p:cNvPr id="13" name="Rounded Rectangle 12"/>
          <p:cNvSpPr/>
          <p:nvPr/>
        </p:nvSpPr>
        <p:spPr>
          <a:xfrm>
            <a:off x="52120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9 workstream folders, 53 domains, 156 Ad Hoc views, 14 dashboards</a:t>
            </a:r>
          </a:p>
        </p:txBody>
      </p:sp>
      <p:sp>
        <p:nvSpPr>
          <p:cNvPr id="14" name="Rounded Rectangle 13"/>
          <p:cNvSpPr/>
          <p:nvPr/>
        </p:nvSpPr>
        <p:spPr>
          <a:xfrm>
            <a:off x="99364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Standardized Reports folder of scheduled SQL reports</a:t>
            </a:r>
          </a:p>
        </p:txBody>
      </p:sp>
      <p:sp>
        <p:nvSpPr>
          <p:cNvPr id="15" name="Rounded Rectangle 14"/>
          <p:cNvSpPr/>
          <p:nvPr/>
        </p:nvSpPr>
        <p:spPr>
          <a:xfrm>
            <a:off x="14660879"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Theme, input controls, saved filters, folder permissions</a:t>
            </a:r>
          </a:p>
        </p:txBody>
      </p:sp>
      <p:cxnSp>
        <p:nvCxnSpPr>
          <p:cNvPr id="16" name="Connector 15"/>
          <p:cNvCxnSpPr/>
          <p:nvPr/>
        </p:nvCxnSpPr>
        <p:spPr>
          <a:xfrm>
            <a:off x="10058400" y="549554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 y="585216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5216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Per client</a:t>
            </a:r>
          </a:p>
          <a:p>
            <a:pPr algn="l">
              <a:spcAft>
                <a:spcPts val="600"/>
              </a:spcAft>
            </a:pPr>
            <a:r>
              <a:rPr sz="1500" b="0">
                <a:solidFill>
                  <a:srgbClr val="4C5D69"/>
                </a:solidFill>
              </a:rPr>
              <a:t>one org, one datasource, one proof</a:t>
            </a:r>
          </a:p>
        </p:txBody>
      </p:sp>
      <p:sp>
        <p:nvSpPr>
          <p:cNvPr id="19" name="Rounded Rectangle 18"/>
          <p:cNvSpPr/>
          <p:nvPr/>
        </p:nvSpPr>
        <p:spPr>
          <a:xfrm>
            <a:off x="52120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Authored on Origin_DEV, proven on Origin_TEST before any client</a:t>
            </a:r>
          </a:p>
        </p:txBody>
      </p:sp>
      <p:sp>
        <p:nvSpPr>
          <p:cNvPr id="20" name="Rounded Rectangle 19"/>
          <p:cNvSpPr/>
          <p:nvPr/>
        </p:nvSpPr>
        <p:spPr>
          <a:xfrm>
            <a:off x="99364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Client test org first, then the client prod org</a:t>
            </a:r>
          </a:p>
        </p:txBody>
      </p:sp>
      <p:sp>
        <p:nvSpPr>
          <p:cNvPr id="21" name="Rounded Rectangle 20"/>
          <p:cNvSpPr/>
          <p:nvPr/>
        </p:nvSpPr>
        <p:spPr>
          <a:xfrm>
            <a:off x="14660879"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Ellensburg, CityCorp, Newark on prod; Fond du Lac and College Station next</a:t>
            </a:r>
          </a:p>
        </p:txBody>
      </p:sp>
      <p:cxnSp>
        <p:nvCxnSpPr>
          <p:cNvPr id="22" name="Connector 21"/>
          <p:cNvCxnSpPr/>
          <p:nvPr/>
        </p:nvCxnSpPr>
        <p:spPr>
          <a:xfrm>
            <a:off x="10058400" y="7507224"/>
            <a:ext cx="0" cy="301751"/>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0664" y="786384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786384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Proof</a:t>
            </a:r>
          </a:p>
          <a:p>
            <a:pPr algn="l">
              <a:spcAft>
                <a:spcPts val="600"/>
              </a:spcAft>
            </a:pPr>
            <a:r>
              <a:rPr sz="1500" b="0">
                <a:solidFill>
                  <a:srgbClr val="4C5D69"/>
                </a:solidFill>
              </a:rPr>
              <a:t>before anything counts as done</a:t>
            </a:r>
          </a:p>
        </p:txBody>
      </p:sp>
      <p:sp>
        <p:nvSpPr>
          <p:cNvPr id="25" name="Rounded Rectangle 24"/>
          <p:cNvSpPr/>
          <p:nvPr/>
        </p:nvSpPr>
        <p:spPr>
          <a:xfrm>
            <a:off x="52120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Install gates in the database: no empty table, no duplicate key, balances tie</a:t>
            </a:r>
          </a:p>
        </p:txBody>
      </p:sp>
      <p:sp>
        <p:nvSpPr>
          <p:cNvPr id="26" name="Rounded Rectangle 25"/>
          <p:cNvSpPr/>
          <p:nvPr/>
        </p:nvSpPr>
        <p:spPr>
          <a:xfrm>
            <a:off x="99364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sweep executes every view, report and dashboard on the org</a:t>
            </a:r>
          </a:p>
        </p:txBody>
      </p:sp>
      <p:sp>
        <p:nvSpPr>
          <p:cNvPr id="27" name="Rounded Rectangle 26"/>
          <p:cNvSpPr/>
          <p:nvPr/>
        </p:nvSpPr>
        <p:spPr>
          <a:xfrm>
            <a:off x="14660879"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sign-off document per org; the inventory diff is the rollback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Before: Every Step By Hand</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each report</a:t>
            </a:r>
          </a:p>
          <a:p>
            <a:pPr algn="l">
              <a:spcAft>
                <a:spcPts val="600"/>
              </a:spcAft>
            </a:pPr>
            <a:r>
              <a:rPr sz="1600" b="0">
                <a:solidFill>
                  <a:srgbClr val="4C5D69"/>
                </a:solidFill>
              </a:rPr>
              <a:t>one at a time from the server UI, folder by folder, per client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Open in Notepad++</a:t>
            </a:r>
          </a:p>
          <a:p>
            <a:pPr algn="l">
              <a:spcAft>
                <a:spcPts val="600"/>
              </a:spcAft>
            </a:pPr>
            <a:r>
              <a:rPr sz="2000" b="0">
                <a:solidFill>
                  <a:srgbClr val="4C5D69"/>
                </a:solidFill>
              </a:rPr>
              <a:t>find every server endpoint, org path and folder path by eye</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Replace all</a:t>
            </a:r>
          </a:p>
          <a:p>
            <a:pPr algn="l">
              <a:spcAft>
                <a:spcPts val="600"/>
              </a:spcAft>
            </a:pPr>
            <a:r>
              <a:rPr sz="1600" b="0">
                <a:solidFill>
                  <a:srgbClr val="4C5D69"/>
                </a:solidFill>
              </a:rPr>
              <a:t>host, org, folder and datasource strings, in every file, hoping nothing was missed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Export the datasource</a:t>
            </a:r>
          </a:p>
          <a:p>
            <a:pPr algn="l">
              <a:spcAft>
                <a:spcPts val="600"/>
              </a:spcAft>
            </a:pPr>
            <a:r>
              <a:rPr sz="1600" b="0">
                <a:solidFill>
                  <a:srgbClr val="4C5D69"/>
                </a:solidFill>
              </a:rPr>
              <a:t>separately from the target server, then hand-edit its reference into each file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Re-zip and import</a:t>
            </a:r>
          </a:p>
          <a:p>
            <a:pPr algn="l">
              <a:spcAft>
                <a:spcPts val="600"/>
              </a:spcAft>
            </a:pPr>
            <a:r>
              <a:rPr sz="2000" b="0">
                <a:solidFill>
                  <a:srgbClr val="4C5D69"/>
                </a:solidFill>
              </a:rPr>
              <a:t>read the import log, fix the file, import again</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Open every report</a:t>
            </a:r>
          </a:p>
          <a:p>
            <a:pPr algn="l">
              <a:spcAft>
                <a:spcPts val="600"/>
              </a:spcAft>
            </a:pPr>
            <a:r>
              <a:rPr sz="1600" b="0">
                <a:solidFill>
                  <a:srgbClr val="4C5D69"/>
                </a:solidFill>
              </a:rPr>
              <a:t>click through each one; a broken topic only shows in the editor</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Fix and repeat</a:t>
            </a:r>
          </a:p>
          <a:p>
            <a:pPr algn="l">
              <a:spcAft>
                <a:spcPts val="600"/>
              </a:spcAft>
            </a:pPr>
            <a:r>
              <a:rPr sz="1600" b="0">
                <a:solidFill>
                  <a:srgbClr val="4C5D69"/>
                </a:solidFill>
              </a:rPr>
              <a:t>back to step 2 for whatever broke; no record of what changed</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Next client</a:t>
            </a:r>
          </a:p>
          <a:p>
            <a:pPr algn="l">
              <a:spcAft>
                <a:spcPts val="600"/>
              </a:spcAft>
            </a:pPr>
            <a:r>
              <a:rPr sz="2000" b="0">
                <a:solidFill>
                  <a:srgbClr val="4C5D69"/>
                </a:solidFill>
              </a:rPr>
              <a:t>the same again for every org on every server</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cost</a:t>
            </a:r>
          </a:p>
          <a:p>
            <a:pPr algn="l">
              <a:spcAft>
                <a:spcPts val="600"/>
              </a:spcAft>
            </a:pPr>
            <a:r>
              <a:rPr sz="1600" b="0">
                <a:solidFill>
                  <a:srgbClr val="4C5D69"/>
                </a:solidFill>
              </a:rPr>
              <a:t>Days per client and one to two weeks for a full offering. A missed replace surfaced weeks later as a report a user could not open. No two promotions were identical, so no result could be compared to the last one. The database side was the same: nineteen SQL scripts run one by one in SQL Developer, results copied into spreadsheets.</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Days and days of hand edits</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Missing</a:t>
            </a:r>
          </a:p>
        </p:txBody>
      </p:sp>
      <p:sp>
        <p:nvSpPr>
          <p:cNvPr id="23" name="Rounded Rectangle 22"/>
          <p:cNvSpPr/>
          <p:nvPr/>
        </p:nvSpPr>
        <p:spPr>
          <a:xfrm>
            <a:off x="2194560" y="8503920"/>
            <a:ext cx="96469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test</a:t>
            </a:r>
          </a:p>
        </p:txBody>
      </p:sp>
      <p:sp>
        <p:nvSpPr>
          <p:cNvPr id="24" name="Rounded Rectangle 23"/>
          <p:cNvSpPr/>
          <p:nvPr/>
        </p:nvSpPr>
        <p:spPr>
          <a:xfrm>
            <a:off x="3387852"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record of the change</a:t>
            </a:r>
          </a:p>
        </p:txBody>
      </p:sp>
      <p:sp>
        <p:nvSpPr>
          <p:cNvPr id="25" name="Rounded Rectangle 24"/>
          <p:cNvSpPr/>
          <p:nvPr/>
        </p:nvSpPr>
        <p:spPr>
          <a:xfrm>
            <a:off x="6263640" y="8503920"/>
            <a:ext cx="138531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rollback</a:t>
            </a:r>
          </a:p>
        </p:txBody>
      </p:sp>
      <p:sp>
        <p:nvSpPr>
          <p:cNvPr id="26" name="Rounded Rectangle 25"/>
          <p:cNvSpPr/>
          <p:nvPr/>
        </p:nvSpPr>
        <p:spPr>
          <a:xfrm>
            <a:off x="787755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two runs alike</a:t>
            </a:r>
          </a:p>
        </p:txBody>
      </p:sp>
      <p:sp>
        <p:nvSpPr>
          <p:cNvPr id="27" name="Rounded Rectangle 26"/>
          <p:cNvSpPr/>
          <p:nvPr/>
        </p:nvSpPr>
        <p:spPr>
          <a:xfrm>
            <a:off x="10122408" y="8503920"/>
            <a:ext cx="2226564"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proof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Now: Every Step Is A Tool With A Test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by API</a:t>
            </a:r>
          </a:p>
          <a:p>
            <a:pPr algn="l">
              <a:spcAft>
                <a:spcPts val="600"/>
              </a:spcAft>
            </a:pPr>
            <a:r>
              <a:rPr sz="2000" b="0">
                <a:solidFill>
                  <a:srgbClr val="4C5D69"/>
                </a:solidFill>
              </a:rPr>
              <a:t>the whole folder in one export task, polled and downloaded</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Rewrite by rule</a:t>
            </a:r>
          </a:p>
          <a:p>
            <a:pPr algn="l">
              <a:spcAft>
                <a:spcPts val="600"/>
              </a:spcAft>
            </a:pPr>
            <a:r>
              <a:rPr sz="1600" b="0">
                <a:solidFill>
                  <a:srgbClr val="4C5D69"/>
                </a:solidFill>
              </a:rPr>
              <a:t>every endpoint, org path and folder replaced by a tested function, longest match first</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3. Carry the datasource</a:t>
            </a:r>
          </a:p>
          <a:p>
            <a:pPr algn="l">
              <a:spcAft>
                <a:spcPts val="600"/>
              </a:spcAft>
            </a:pPr>
            <a:r>
              <a:rPr sz="1600" b="0">
                <a:solidFill>
                  <a:srgbClr val="4C5D69"/>
                </a:solidFill>
              </a:rPr>
              <a:t>the target's own datasource export goes into the package byte for byte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Verify before import</a:t>
            </a:r>
          </a:p>
          <a:p>
            <a:pPr algn="l">
              <a:spcAft>
                <a:spcPts val="600"/>
              </a:spcAft>
            </a:pPr>
            <a:r>
              <a:rPr sz="1600" b="0">
                <a:solidFill>
                  <a:srgbClr val="4C5D69"/>
                </a:solidFill>
              </a:rPr>
              <a:t>nothing from the source host survives; every reference exists; every field resolves</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Import and read back</a:t>
            </a:r>
          </a:p>
          <a:p>
            <a:pPr algn="l">
              <a:spcAft>
                <a:spcPts val="600"/>
              </a:spcAft>
            </a:pPr>
            <a:r>
              <a:rPr sz="1600" b="0">
                <a:solidFill>
                  <a:srgbClr val="4C5D69"/>
                </a:solidFill>
              </a:rPr>
              <a:t>re-exported and compared byte for byte; an importer warning is a failure</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 everything</a:t>
            </a:r>
          </a:p>
          <a:p>
            <a:pPr algn="l">
              <a:spcAft>
                <a:spcPts val="600"/>
              </a:spcAft>
            </a:pPr>
            <a:r>
              <a:rPr sz="1600" b="0">
                <a:solidFill>
                  <a:srgbClr val="4C5D69"/>
                </a:solidFill>
              </a:rPr>
              <a:t>every view queried, every report rendered, every domain probed for rows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Sign-off generated</a:t>
            </a:r>
          </a:p>
          <a:p>
            <a:pPr algn="l">
              <a:spcAft>
                <a:spcPts val="600"/>
              </a:spcAft>
            </a:pPr>
            <a:r>
              <a:rPr sz="1600" b="0">
                <a:solidFill>
                  <a:srgbClr val="4C5D69"/>
                </a:solidFill>
              </a:rPr>
              <a:t>PASS, EMPTY or FAIL per resource with timings, one document per org</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8. Same result every time</a:t>
            </a:r>
          </a:p>
          <a:p>
            <a:pPr algn="l">
              <a:spcAft>
                <a:spcPts val="600"/>
              </a:spcAft>
            </a:pPr>
            <a:r>
              <a:rPr sz="1600" b="0">
                <a:solidFill>
                  <a:srgbClr val="4C5D69"/>
                </a:solidFill>
              </a:rPr>
              <a:t>the same tests, the same order, the same evidence, for every org</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Why the result is consistent</a:t>
            </a:r>
          </a:p>
          <a:p>
            <a:pPr algn="l">
              <a:spcAft>
                <a:spcPts val="600"/>
              </a:spcAft>
            </a:pPr>
            <a:r>
              <a:rPr sz="1600" b="0">
                <a:solidFill>
                  <a:srgbClr val="4C5D69"/>
                </a:solidFill>
              </a:rPr>
              <a:t>The same checks run on every promotion, and the tool stops at the first failure and names the rollback. No person edits a file, so nothing can be missed or typed wrong. Every run leaves its package, its diff and its evidence beside the sign-off, so any two promotions can be compared. Fewer hands in the loop, one outcome.</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Hours, with proof</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4" name="Rounded Rectangle 23"/>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5" name="Rounded Rectangle 24"/>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6" name="Rounded Rectangle 25"/>
          <p:cNvSpPr/>
          <p:nvPr/>
        </p:nvSpPr>
        <p:spPr>
          <a:xfrm>
            <a:off x="10506456"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Two Weeks Then, Hours Now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Before: by hand, one to two weeks per client</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Now: AI-built tools, hours, repeatable</a:t>
            </a:r>
          </a:p>
        </p:txBody>
      </p:sp>
      <p:sp>
        <p:nvSpPr>
          <p:cNvPr id="7" name="Rounded Rectangle 6"/>
          <p:cNvSpPr/>
          <p:nvPr/>
        </p:nvSpPr>
        <p:spPr>
          <a:xfrm>
            <a:off x="740664"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Snapshot deployment: nineteen scripts run one by one in SQL Developer, baselines watched in a session that could time out, validation totals copied into spreadsheets</a:t>
            </a:r>
          </a:p>
        </p:txBody>
      </p:sp>
      <p:sp>
        <p:nvSpPr>
          <p:cNvPr id="8" name="Rounded Rectangle 7"/>
          <p:cNvSpPr/>
          <p:nvPr/>
        </p:nvSpPr>
        <p:spPr>
          <a:xfrm>
            <a:off x="10607040"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runner command per step; the eight baselines submitted as parallel database jobs and gated; every step logged per client</a:t>
            </a:r>
          </a:p>
          <a:p>
            <a:pPr algn="l">
              <a:spcAft>
                <a:spcPts val="600"/>
              </a:spcAft>
            </a:pPr>
            <a:r>
              <a:rPr sz="1500" b="0">
                <a:solidFill>
                  <a:srgbClr val="4C5D69"/>
                </a:solidFill>
              </a:rPr>
              <a:t>baseline ready gate, install gates, 12-month parity, duplicate-key safety</a:t>
            </a:r>
          </a:p>
        </p:txBody>
      </p:sp>
      <p:cxnSp>
        <p:nvCxnSpPr>
          <p:cNvPr id="9" name="Connector 8"/>
          <p:cNvCxnSpPr/>
          <p:nvPr/>
        </p:nvCxnSpPr>
        <p:spPr>
          <a:xfrm>
            <a:off x="9646920" y="3182111"/>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Standard Offering to a client: export, hand-edit the package in Notepad++, swap the datasource by hand, import, open the reports one at a time</a:t>
            </a:r>
          </a:p>
        </p:txBody>
      </p:sp>
      <p:sp>
        <p:nvSpPr>
          <p:cNvPr id="11" name="Rounded Rectangle 10"/>
          <p:cNvSpPr/>
          <p:nvPr/>
        </p:nvSpPr>
        <p:spPr>
          <a:xfrm>
            <a:off x="10607040"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promotion command: the datasource is the target's own export, every resource is re-exported, compared and executed</a:t>
            </a:r>
          </a:p>
          <a:p>
            <a:pPr algn="l">
              <a:spcAft>
                <a:spcPts val="600"/>
              </a:spcAft>
            </a:pPr>
            <a:r>
              <a:rPr sz="1500" b="0">
                <a:solidFill>
                  <a:srgbClr val="4C5D69"/>
                </a:solidFill>
              </a:rPr>
              <a:t>Ellensburg prod in 11 minutes, Newark in 21, 0 errors</a:t>
            </a:r>
          </a:p>
        </p:txBody>
      </p:sp>
      <p:cxnSp>
        <p:nvCxnSpPr>
          <p:cNvPr id="12" name="Connector 11"/>
          <p:cNvCxnSpPr/>
          <p:nvPr/>
        </p:nvCxnSpPr>
        <p:spPr>
          <a:xfrm>
            <a:off x="9646920" y="4700016"/>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Moving a client's reports between environments: a day per batch, and breakage found later by the users</a:t>
            </a:r>
          </a:p>
        </p:txBody>
      </p:sp>
      <p:sp>
        <p:nvSpPr>
          <p:cNvPr id="14" name="Rounded Rectangle 13"/>
          <p:cNvSpPr/>
          <p:nvPr/>
        </p:nvSpPr>
        <p:spPr>
          <a:xfrm>
            <a:off x="10607040"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21 College Station reports and their 13 domains moved prod to test in one morning, byte-equal, prod never written</a:t>
            </a:r>
          </a:p>
          <a:p>
            <a:pPr algn="l">
              <a:spcAft>
                <a:spcPts val="600"/>
              </a:spcAft>
            </a:pPr>
            <a:r>
              <a:rPr sz="1500" b="0">
                <a:solidFill>
                  <a:srgbClr val="4C5D69"/>
                </a:solidFill>
              </a:rPr>
              <a:t>22 executions on test, every domain and view matched</a:t>
            </a:r>
          </a:p>
        </p:txBody>
      </p:sp>
      <p:cxnSp>
        <p:nvCxnSpPr>
          <p:cNvPr id="15" name="Connector 14"/>
          <p:cNvCxnSpPr/>
          <p:nvPr/>
        </p:nvCxnSpPr>
        <p:spPr>
          <a:xfrm>
            <a:off x="9646920" y="621792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A domain change on every client: the Domain Designer opened per org, days of clicking, nothing recorded</a:t>
            </a:r>
          </a:p>
        </p:txBody>
      </p:sp>
      <p:sp>
        <p:nvSpPr>
          <p:cNvPr id="17" name="Rounded Rectangle 16"/>
          <p:cNvSpPr/>
          <p:nvPr/>
        </p:nvSpPr>
        <p:spPr>
          <a:xfrm>
            <a:off x="10607040"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patch definition, an additive-only guard, applied to six orgs with seven proofs each and a one-command rollback</a:t>
            </a:r>
          </a:p>
          <a:p>
            <a:pPr algn="l">
              <a:spcAft>
                <a:spcPts val="600"/>
              </a:spcAft>
            </a:pPr>
            <a:r>
              <a:rPr sz="1500" b="0">
                <a:solidFill>
                  <a:srgbClr val="4C5D69"/>
                </a:solidFill>
              </a:rPr>
              <a:t>read-back byte-equal, bound views run, rows tie to Oracle</a:t>
            </a:r>
          </a:p>
        </p:txBody>
      </p:sp>
      <p:cxnSp>
        <p:nvCxnSpPr>
          <p:cNvPr id="18" name="Connector 17"/>
          <p:cNvCxnSpPr/>
          <p:nvPr/>
        </p:nvCxnSpPr>
        <p:spPr>
          <a:xfrm>
            <a:off x="9646920" y="7735824"/>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40664"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Validation sign-off: assembled from screenshots over days, different every time</a:t>
            </a:r>
          </a:p>
        </p:txBody>
      </p:sp>
      <p:sp>
        <p:nvSpPr>
          <p:cNvPr id="20" name="Rounded Rectangle 19"/>
          <p:cNvSpPr/>
          <p:nvPr/>
        </p:nvSpPr>
        <p:spPr>
          <a:xfrm>
            <a:off x="10607040"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Generated from the sweep in minutes: PASS, EMPTY or FAIL per row with timings and the evidence file beside it</a:t>
            </a:r>
          </a:p>
          <a:p>
            <a:pPr algn="l">
              <a:spcAft>
                <a:spcPts val="600"/>
              </a:spcAft>
            </a:pPr>
            <a:r>
              <a:rPr sz="1500" b="0">
                <a:solidFill>
                  <a:srgbClr val="4C5D69"/>
                </a:solidFill>
              </a:rPr>
              <a:t>one document per org, identical structure every time</a:t>
            </a:r>
          </a:p>
        </p:txBody>
      </p:sp>
      <p:cxnSp>
        <p:nvCxnSpPr>
          <p:cNvPr id="21" name="Connector 20"/>
          <p:cNvCxnSpPr/>
          <p:nvPr/>
        </p:nvCxnSpPr>
        <p:spPr>
          <a:xfrm>
            <a:off x="9646920" y="9253728"/>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Time Per Client, To Scale</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5852160" y="1874519"/>
            <a:ext cx="12070080" cy="411480"/>
          </a:xfrm>
          <a:prstGeom prst="rect">
            <a:avLst/>
          </a:prstGeom>
          <a:noFill/>
        </p:spPr>
        <p:txBody>
          <a:bodyPr wrap="square" anchor="t" lIns="0" rIns="0" tIns="54864" bIns="54864">
            <a:spAutoFit/>
          </a:bodyPr>
          <a:lstStyle/>
          <a:p>
            <a:pPr algn="l">
              <a:spcAft>
                <a:spcPts val="600"/>
              </a:spcAft>
            </a:pPr>
            <a:r>
              <a:rPr sz="1800" b="0">
                <a:solidFill>
                  <a:srgbClr val="F5EFE9"/>
                </a:solidFill>
              </a:rPr>
              <a:t>Working days by hand (cream) against hours now (orange), drawn to the same scale</a:t>
            </a:r>
          </a:p>
        </p:txBody>
      </p:sp>
      <p:sp>
        <p:nvSpPr>
          <p:cNvPr id="6" name="TextBox 5"/>
          <p:cNvSpPr txBox="1"/>
          <p:nvPr/>
        </p:nvSpPr>
        <p:spPr>
          <a:xfrm>
            <a:off x="740664" y="246888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Standard Offering to a client org</a:t>
            </a:r>
          </a:p>
          <a:p>
            <a:pPr algn="l">
              <a:spcAft>
                <a:spcPts val="600"/>
              </a:spcAft>
            </a:pPr>
            <a:r>
              <a:rPr sz="1400" b="0">
                <a:solidFill>
                  <a:srgbClr val="F5EFE9"/>
                </a:solidFill>
              </a:rPr>
              <a:t>export, rewrite, datasource, import, verify, execute, sign off</a:t>
            </a:r>
          </a:p>
        </p:txBody>
      </p:sp>
      <p:sp>
        <p:nvSpPr>
          <p:cNvPr id="7" name="Rounded Rectangle 6"/>
          <p:cNvSpPr/>
          <p:nvPr/>
        </p:nvSpPr>
        <p:spPr>
          <a:xfrm>
            <a:off x="5852160" y="2514600"/>
            <a:ext cx="1207008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one to two weeks</a:t>
            </a:r>
          </a:p>
        </p:txBody>
      </p:sp>
      <p:sp>
        <p:nvSpPr>
          <p:cNvPr id="8" name="Rounded Rectangle 7"/>
          <p:cNvSpPr/>
          <p:nvPr/>
        </p:nvSpPr>
        <p:spPr>
          <a:xfrm>
            <a:off x="5852160" y="310530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45352" y="310530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11 minutes at Ellensburg, 21 at Newark</a:t>
            </a:r>
          </a:p>
        </p:txBody>
      </p:sp>
      <p:sp>
        <p:nvSpPr>
          <p:cNvPr id="10" name="TextBox 9"/>
          <p:cNvSpPr txBox="1"/>
          <p:nvPr/>
        </p:nvSpPr>
        <p:spPr>
          <a:xfrm>
            <a:off x="740664" y="393192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Snapshot layer to a client</a:t>
            </a:r>
          </a:p>
          <a:p>
            <a:pPr algn="l">
              <a:spcAft>
                <a:spcPts val="600"/>
              </a:spcAft>
            </a:pPr>
            <a:r>
              <a:rPr sz="1400" b="0">
                <a:solidFill>
                  <a:srgbClr val="F5EFE9"/>
                </a:solidFill>
              </a:rPr>
              <a:t>tables, procedures, baselines, gates, schedule</a:t>
            </a:r>
          </a:p>
        </p:txBody>
      </p:sp>
      <p:sp>
        <p:nvSpPr>
          <p:cNvPr id="11" name="Rounded Rectangle 10"/>
          <p:cNvSpPr/>
          <p:nvPr/>
        </p:nvSpPr>
        <p:spPr>
          <a:xfrm>
            <a:off x="5852160" y="3977640"/>
            <a:ext cx="603504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a working week</a:t>
            </a:r>
          </a:p>
        </p:txBody>
      </p:sp>
      <p:sp>
        <p:nvSpPr>
          <p:cNvPr id="12" name="Rounded Rectangle 11"/>
          <p:cNvSpPr/>
          <p:nvPr/>
        </p:nvSpPr>
        <p:spPr>
          <a:xfrm>
            <a:off x="5852160" y="456834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2824" y="456834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morning, then the baselines load unattended</a:t>
            </a:r>
          </a:p>
        </p:txBody>
      </p:sp>
      <p:sp>
        <p:nvSpPr>
          <p:cNvPr id="14" name="TextBox 13"/>
          <p:cNvSpPr txBox="1"/>
          <p:nvPr/>
        </p:nvSpPr>
        <p:spPr>
          <a:xfrm>
            <a:off x="740664" y="539496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domain change on every client</a:t>
            </a:r>
          </a:p>
          <a:p>
            <a:pPr algn="l">
              <a:spcAft>
                <a:spcPts val="600"/>
              </a:spcAft>
            </a:pPr>
            <a:r>
              <a:rPr sz="1400" b="0">
                <a:solidFill>
                  <a:srgbClr val="F5EFE9"/>
                </a:solidFill>
              </a:rPr>
              <a:t>one patch, additive-only, six orgs</a:t>
            </a:r>
          </a:p>
        </p:txBody>
      </p:sp>
      <p:sp>
        <p:nvSpPr>
          <p:cNvPr id="15" name="Rounded Rectangle 14"/>
          <p:cNvSpPr/>
          <p:nvPr/>
        </p:nvSpPr>
        <p:spPr>
          <a:xfrm>
            <a:off x="5852160" y="5440680"/>
            <a:ext cx="3621023"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days, one org at a time</a:t>
            </a:r>
          </a:p>
        </p:txBody>
      </p:sp>
      <p:sp>
        <p:nvSpPr>
          <p:cNvPr id="16" name="Rounded Rectangle 15"/>
          <p:cNvSpPr/>
          <p:nvPr/>
        </p:nvSpPr>
        <p:spPr>
          <a:xfrm>
            <a:off x="5852160" y="603138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603138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an afternoon for six orgs, seven proofs each</a:t>
            </a:r>
          </a:p>
        </p:txBody>
      </p:sp>
      <p:sp>
        <p:nvSpPr>
          <p:cNvPr id="18" name="TextBox 17"/>
          <p:cNvSpPr txBox="1"/>
          <p:nvPr/>
        </p:nvSpPr>
        <p:spPr>
          <a:xfrm>
            <a:off x="740664" y="685800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batch of reports between environments</a:t>
            </a:r>
          </a:p>
          <a:p>
            <a:pPr algn="l">
              <a:spcAft>
                <a:spcPts val="600"/>
              </a:spcAft>
            </a:pPr>
            <a:r>
              <a:rPr sz="1400" b="0">
                <a:solidFill>
                  <a:srgbClr val="F5EFE9"/>
                </a:solidFill>
              </a:rPr>
              <a:t>21 reports and their 13 domains</a:t>
            </a:r>
          </a:p>
        </p:txBody>
      </p:sp>
      <p:sp>
        <p:nvSpPr>
          <p:cNvPr id="19" name="Rounded Rectangle 18"/>
          <p:cNvSpPr/>
          <p:nvPr/>
        </p:nvSpPr>
        <p:spPr>
          <a:xfrm>
            <a:off x="5852160" y="6903720"/>
            <a:ext cx="1207007"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8" y="690372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day per batch</a:t>
            </a:r>
          </a:p>
        </p:txBody>
      </p:sp>
      <p:sp>
        <p:nvSpPr>
          <p:cNvPr id="21" name="Rounded Rectangle 20"/>
          <p:cNvSpPr/>
          <p:nvPr/>
        </p:nvSpPr>
        <p:spPr>
          <a:xfrm>
            <a:off x="5852160" y="7494422"/>
            <a:ext cx="452627"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749442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one morning, byte-equal</a:t>
            </a:r>
          </a:p>
        </p:txBody>
      </p:sp>
      <p:sp>
        <p:nvSpPr>
          <p:cNvPr id="23" name="TextBox 22"/>
          <p:cNvSpPr txBox="1"/>
          <p:nvPr/>
        </p:nvSpPr>
        <p:spPr>
          <a:xfrm>
            <a:off x="740664" y="832104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Validation sign-off</a:t>
            </a:r>
          </a:p>
          <a:p>
            <a:pPr algn="l">
              <a:spcAft>
                <a:spcPts val="600"/>
              </a:spcAft>
            </a:pPr>
            <a:r>
              <a:rPr sz="1400" b="0">
                <a:solidFill>
                  <a:srgbClr val="F5EFE9"/>
                </a:solidFill>
              </a:rPr>
              <a:t>one document per org</a:t>
            </a:r>
          </a:p>
        </p:txBody>
      </p:sp>
      <p:sp>
        <p:nvSpPr>
          <p:cNvPr id="24" name="Rounded Rectangle 23"/>
          <p:cNvSpPr/>
          <p:nvPr/>
        </p:nvSpPr>
        <p:spPr>
          <a:xfrm>
            <a:off x="5852160" y="8366760"/>
            <a:ext cx="2414015"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3336" y="836676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days of screenshots</a:t>
            </a:r>
          </a:p>
        </p:txBody>
      </p:sp>
      <p:sp>
        <p:nvSpPr>
          <p:cNvPr id="26" name="Rounded Rectangle 25"/>
          <p:cNvSpPr/>
          <p:nvPr/>
        </p:nvSpPr>
        <p:spPr>
          <a:xfrm>
            <a:off x="5852160" y="895746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45352" y="895746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minutes, generated from the sweep</a:t>
            </a:r>
          </a:p>
        </p:txBody>
      </p:sp>
      <p:sp>
        <p:nvSpPr>
          <p:cNvPr id="28" name="TextBox 27"/>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by-hand figures are the team's own estimates of the old process; the now figures are measured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Snapshot Deployment Workflow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Preflight</a:t>
            </a:r>
          </a:p>
          <a:p>
            <a:pPr algn="l">
              <a:spcAft>
                <a:spcPts val="600"/>
              </a:spcAft>
            </a:pPr>
            <a:r>
              <a:rPr sz="1600" b="0">
                <a:solidFill>
                  <a:srgbClr val="4C5D69"/>
                </a:solidFill>
              </a:rPr>
              <a:t>proves the deploy user can read every CISADM table and write the target schema</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Tables</a:t>
            </a:r>
          </a:p>
          <a:p>
            <a:pPr algn="l">
              <a:spcAft>
                <a:spcPts val="600"/>
              </a:spcAft>
            </a:pPr>
            <a:r>
              <a:rPr sz="2000" b="0">
                <a:solidFill>
                  <a:srgbClr val="4C5D69"/>
                </a:solidFill>
              </a:rPr>
              <a:t>creates the active 8 and the domain-support objects, empty</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Procedures</a:t>
            </a:r>
          </a:p>
          <a:p>
            <a:pPr algn="l">
              <a:spcAft>
                <a:spcPts val="600"/>
              </a:spcAft>
            </a:pPr>
            <a:r>
              <a:rPr sz="1600" b="0">
                <a:solidFill>
                  <a:srgbClr val="4C5D69"/>
                </a:solidFill>
              </a:rPr>
              <a:t>installs the full-history baseline and the domain refresh PL/SQL</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Baselines</a:t>
            </a:r>
          </a:p>
          <a:p>
            <a:pPr algn="l">
              <a:spcAft>
                <a:spcPts val="600"/>
              </a:spcAft>
            </a:pPr>
            <a:r>
              <a:rPr sz="2000" b="0">
                <a:solidFill>
                  <a:srgbClr val="4C5D69"/>
                </a:solidFill>
              </a:rPr>
              <a:t>submits 8 database jobs at once; they run unattended</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Wait and gate</a:t>
            </a:r>
          </a:p>
          <a:p>
            <a:pPr algn="l">
              <a:spcAft>
                <a:spcPts val="600"/>
              </a:spcAft>
            </a:pPr>
            <a:r>
              <a:rPr sz="1600" b="0">
                <a:solidFill>
                  <a:srgbClr val="4C5D69"/>
                </a:solidFill>
              </a:rPr>
              <a:t>polls the job table up to 8 hours until every job says SUCCEEDED</a:t>
            </a:r>
          </a:p>
        </p:txBody>
      </p:sp>
      <p:sp>
        <p:nvSpPr>
          <p:cNvPr id="10" name="Rounded Rectangle 9"/>
          <p:cNvSpPr/>
          <p:nvPr/>
        </p:nvSpPr>
        <p:spPr>
          <a:xfrm>
            <a:off x="18553176" y="350215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waits</a:t>
            </a:r>
          </a:p>
        </p:txBody>
      </p:sp>
      <p:sp>
        <p:nvSpPr>
          <p:cNvPr id="11" name="Rounded Rectangle 10"/>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Indexes</a:t>
            </a:r>
          </a:p>
          <a:p>
            <a:pPr algn="l">
              <a:spcAft>
                <a:spcPts val="600"/>
              </a:spcAft>
            </a:pPr>
            <a:r>
              <a:rPr sz="1600" b="0">
                <a:solidFill>
                  <a:srgbClr val="4C5D69"/>
                </a:solidFill>
              </a:rPr>
              <a:t>post-load indexes on the keys and dates the reports filter on</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7. Rolling and schedule</a:t>
            </a:r>
          </a:p>
          <a:p>
            <a:pPr algn="l">
              <a:spcAft>
                <a:spcPts val="600"/>
              </a:spcAft>
            </a:pPr>
            <a:r>
              <a:rPr sz="1600" b="0">
                <a:solidFill>
                  <a:srgbClr val="4C5D69"/>
                </a:solidFill>
              </a:rPr>
              <a:t>installs the rolling procedures and creates the scheduler jobs</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Refresh and gates</a:t>
            </a:r>
          </a:p>
          <a:p>
            <a:pPr algn="l">
              <a:spcAft>
                <a:spcPts val="600"/>
              </a:spcAft>
            </a:pPr>
            <a:r>
              <a:rPr sz="2000" b="0">
                <a:solidFill>
                  <a:srgbClr val="4C5D69"/>
                </a:solidFill>
              </a:rPr>
              <a:t>refreshes domain support, then the install and parity gates</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One command per step, one wrapper for prod</a:t>
            </a:r>
          </a:p>
          <a:p>
            <a:pPr algn="l">
              <a:spcAft>
                <a:spcPts val="600"/>
              </a:spcAft>
            </a:pPr>
            <a:r>
              <a:rPr sz="1600" b="0">
                <a:solidFill>
                  <a:srgbClr val="4C5D69"/>
                </a:solidFill>
              </a:rPr>
              <a:t>A Python runner takes a step name and a client and runs that step's SQL as the deploy user, logging every statement and result per client. Compound steps chain a stage with its validation so nothing moves on unvalidated. A shell wrapper runs the whole prod sequence, steps 1 to 8, and stops at the first failed gate.</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Network access to start; jobs keep running if it drops</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4" name="Rounded Rectangle 23"/>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baseline jobs SUCCEEDED</a:t>
            </a:r>
          </a:p>
        </p:txBody>
      </p:sp>
      <p:sp>
        <p:nvSpPr>
          <p:cNvPr id="25" name="Rounded Rectangle 24"/>
          <p:cNvSpPr/>
          <p:nvPr/>
        </p:nvSpPr>
        <p:spPr>
          <a:xfrm>
            <a:off x="5070348" y="8503920"/>
            <a:ext cx="18059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empty tables</a:t>
            </a:r>
          </a:p>
        </p:txBody>
      </p:sp>
      <p:sp>
        <p:nvSpPr>
          <p:cNvPr id="26" name="Rounded Rectangle 25"/>
          <p:cNvSpPr/>
          <p:nvPr/>
        </p:nvSpPr>
        <p:spPr>
          <a:xfrm>
            <a:off x="7104888"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duplicate keys</a:t>
            </a:r>
          </a:p>
        </p:txBody>
      </p:sp>
      <p:sp>
        <p:nvSpPr>
          <p:cNvPr id="27" name="Rounded Rectangle 26"/>
          <p:cNvSpPr/>
          <p:nvPr/>
        </p:nvSpPr>
        <p:spPr>
          <a:xfrm>
            <a:off x="9349740" y="8503920"/>
            <a:ext cx="15956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CMS FT parity</a:t>
            </a:r>
          </a:p>
        </p:txBody>
      </p:sp>
      <p:sp>
        <p:nvSpPr>
          <p:cNvPr id="28" name="Rounded Rectangle 27"/>
          <p:cNvSpPr/>
          <p:nvPr/>
        </p:nvSpPr>
        <p:spPr>
          <a:xfrm>
            <a:off x="11173967"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12-month monthly parity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Snapshot Deployment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Baseline and validate</a:t>
            </a:r>
          </a:p>
          <a:p>
            <a:pPr algn="l">
              <a:spcAft>
                <a:spcPts val="600"/>
              </a:spcAft>
            </a:pPr>
            <a:r>
              <a:rPr sz="2100" b="0">
                <a:solidFill>
                  <a:srgbClr val="4C5D69"/>
                </a:solidFill>
              </a:rPr>
              <a:t>•  Creates the eight reporting tables and the views the domains read, then installs the full-history procedures</a:t>
            </a:r>
          </a:p>
          <a:p>
            <a:pPr algn="l">
              <a:spcAft>
                <a:spcPts val="600"/>
              </a:spcAft>
            </a:pPr>
            <a:r>
              <a:rPr sz="2100" b="0">
                <a:solidFill>
                  <a:srgbClr val="4C5D69"/>
                </a:solidFill>
              </a:rPr>
              <a:t>•  Submits one database job per table so all eight load in parallel and the session is never the bottleneck</a:t>
            </a:r>
          </a:p>
          <a:p>
            <a:pPr algn="l">
              <a:spcAft>
                <a:spcPts val="600"/>
              </a:spcAft>
            </a:pPr>
            <a:r>
              <a:rPr sz="2100" b="0">
                <a:solidFill>
                  <a:srgbClr val="4C5D69"/>
                </a:solidFill>
              </a:rPr>
              <a:t>•  Polls the scheduler's job table until every job is SUCCEEDED; a FAILED or missing job stops the step</a:t>
            </a:r>
          </a:p>
          <a:p>
            <a:pPr algn="l">
              <a:spcAft>
                <a:spcPts val="600"/>
              </a:spcAft>
            </a:pPr>
            <a:r>
              <a:rPr sz="2100" b="0">
                <a:solidFill>
                  <a:srgbClr val="4C5D69"/>
                </a:solidFill>
              </a:rPr>
              <a:t>•  Validates row counts per table, twelve monthly totals against the source, and that no grain key repeats</a:t>
            </a:r>
          </a:p>
          <a:p>
            <a:pPr algn="l">
              <a:spcAft>
                <a:spcPts val="600"/>
              </a:spcAft>
            </a:pPr>
            <a:r>
              <a:rPr sz="2100" b="0">
                <a:solidFill>
                  <a:srgbClr val="4C5D69"/>
                </a:solidFill>
              </a:rPr>
              <a:t>•  The install gate fails on any empty table or duplicate key, so a wrong grant or filter cannot pass silently</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Cutover and validate</a:t>
            </a:r>
          </a:p>
          <a:p>
            <a:pPr algn="l">
              <a:spcAft>
                <a:spcPts val="600"/>
              </a:spcAft>
            </a:pPr>
            <a:r>
              <a:rPr sz="2100" b="0">
                <a:solidFill>
                  <a:srgbClr val="4C5D69"/>
                </a:solidFill>
              </a:rPr>
              <a:t>•  Installs the rolling procedures: delete the newest months, rebuild them, leave the rest untouched</a:t>
            </a:r>
          </a:p>
          <a:p>
            <a:pPr algn="l">
              <a:spcAft>
                <a:spcPts val="600"/>
              </a:spcAft>
            </a:pPr>
            <a:r>
              <a:rPr sz="2100" b="0">
                <a:solidFill>
                  <a:srgbClr val="4C5D69"/>
                </a:solidFill>
              </a:rPr>
              <a:t>•  Runs one operational refresh by hand to prove the rolling path before it is scheduled</a:t>
            </a:r>
          </a:p>
          <a:p>
            <a:pPr algn="l">
              <a:spcAft>
                <a:spcPts val="600"/>
              </a:spcAft>
            </a:pPr>
            <a:r>
              <a:rPr sz="2100" b="0">
                <a:solidFill>
                  <a:srgbClr val="4C5D69"/>
                </a:solidFill>
              </a:rPr>
              <a:t>•  Runs the same validation again so the rolling result is compared to the baseline result</a:t>
            </a:r>
          </a:p>
          <a:p>
            <a:pPr algn="l">
              <a:spcAft>
                <a:spcPts val="600"/>
              </a:spcAft>
            </a:pPr>
            <a:r>
              <a:rPr sz="2100" b="0">
                <a:solidFill>
                  <a:srgbClr val="4C5D69"/>
                </a:solidFill>
              </a:rPr>
              <a:t>•  Refreshes the domain-support views and checks the aged-balance buckets sum to the balance</a:t>
            </a:r>
          </a:p>
          <a:p>
            <a:pPr algn="l">
              <a:spcAft>
                <a:spcPts val="600"/>
              </a:spcAft>
            </a:pPr>
            <a:r>
              <a:rPr sz="2100" b="0">
                <a:solidFill>
                  <a:srgbClr val="4C5D69"/>
                </a:solidFill>
              </a:rPr>
              <a:t>•  Refuses to schedule until both validations are green</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Schedule and monitor</a:t>
            </a:r>
          </a:p>
          <a:p>
            <a:pPr algn="l">
              <a:spcAft>
                <a:spcPts val="600"/>
              </a:spcAft>
            </a:pPr>
            <a:r>
              <a:rPr sz="2100" b="0">
                <a:solidFill>
                  <a:srgbClr val="4C5D69"/>
                </a:solidFill>
              </a:rPr>
              <a:t>•  Creates one scheduler job per table, twice daily, staggered thirty minutes so two never overlap</a:t>
            </a:r>
          </a:p>
          <a:p>
            <a:pPr algn="l">
              <a:spcAft>
                <a:spcPts val="600"/>
              </a:spcAft>
            </a:pPr>
            <a:r>
              <a:rPr sz="2100" b="0">
                <a:solidFill>
                  <a:srgbClr val="4C5D69"/>
                </a:solidFill>
              </a:rPr>
              <a:t>•  Long refreshes run as background jobs, never in the session, after a 15-minute timeout once committed a delete without its insert</a:t>
            </a:r>
          </a:p>
          <a:p>
            <a:pPr algn="l">
              <a:spcAft>
                <a:spcPts val="600"/>
              </a:spcAft>
            </a:pPr>
            <a:r>
              <a:rPr sz="2100" b="0">
                <a:solidFill>
                  <a:srgbClr val="4C5D69"/>
                </a:solidFill>
              </a:rPr>
              <a:t>•  A capture step records the last run, its duration and its status for every job</a:t>
            </a:r>
          </a:p>
          <a:p>
            <a:pPr algn="l">
              <a:spcAft>
                <a:spcPts val="600"/>
              </a:spcAft>
            </a:pPr>
            <a:r>
              <a:rPr sz="2100" b="0">
                <a:solidFill>
                  <a:srgbClr val="4C5D69"/>
                </a:solidFill>
              </a:rPr>
              <a:t>•  High-level data-quality checks run per client and the results are kept with the rollout log</a:t>
            </a:r>
          </a:p>
          <a:p>
            <a:pPr algn="l">
              <a:spcAft>
                <a:spcPts val="600"/>
              </a:spcAft>
            </a:pPr>
            <a:r>
              <a:rPr sz="2100" b="0">
                <a:solidFill>
                  <a:srgbClr val="4C5D69"/>
                </a:solidFill>
              </a:rPr>
              <a:t>•  Validate after the baseline, after the cutover, and after the first scheduled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Database Deployment, Step By Step</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41832" y="2029968"/>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1</a:t>
            </a:r>
          </a:p>
        </p:txBody>
      </p:sp>
      <p:sp>
        <p:nvSpPr>
          <p:cNvPr id="7" name="TextBox 6"/>
          <p:cNvSpPr txBox="1"/>
          <p:nvPr/>
        </p:nvSpPr>
        <p:spPr>
          <a:xfrm>
            <a:off x="1517904" y="1920240"/>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Preflight</a:t>
            </a:r>
          </a:p>
          <a:p>
            <a:pPr algn="l">
              <a:spcAft>
                <a:spcPts val="600"/>
              </a:spcAft>
            </a:pPr>
            <a:r>
              <a:rPr sz="1500" b="0">
                <a:solidFill>
                  <a:srgbClr val="4C5D69"/>
                </a:solidFill>
              </a:rPr>
              <a:t>Proves the deploy user can read every CISADM table the snapshots need and write the target objects. A limited-privilege variant exists for locked-down instances.</a:t>
            </a:r>
          </a:p>
        </p:txBody>
      </p:sp>
      <p:sp>
        <p:nvSpPr>
          <p:cNvPr id="8" name="Rounded Rectangle 7"/>
          <p:cNvSpPr/>
          <p:nvPr/>
        </p:nvSpPr>
        <p:spPr>
          <a:xfrm>
            <a:off x="740664" y="3493008"/>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3694176"/>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2</a:t>
            </a:r>
          </a:p>
        </p:txBody>
      </p:sp>
      <p:sp>
        <p:nvSpPr>
          <p:cNvPr id="10" name="TextBox 9"/>
          <p:cNvSpPr txBox="1"/>
          <p:nvPr/>
        </p:nvSpPr>
        <p:spPr>
          <a:xfrm>
            <a:off x="1517904" y="3584448"/>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Create the seven rolling snapshot tables</a:t>
            </a:r>
          </a:p>
          <a:p>
            <a:pPr algn="l">
              <a:spcAft>
                <a:spcPts val="600"/>
              </a:spcAft>
            </a:pPr>
            <a:r>
              <a:rPr sz="1500" b="0">
                <a:solidFill>
                  <a:srgbClr val="4C5D69"/>
                </a:solidFill>
              </a:rPr>
              <a:t>Financial transactions, billed usage, SQ usage, GL distribution, measurements, usage and usage scalar detail: created empty with their keys, nothing loaded yet.</a:t>
            </a:r>
          </a:p>
        </p:txBody>
      </p:sp>
      <p:sp>
        <p:nvSpPr>
          <p:cNvPr id="11" name="Rounded Rectangle 10"/>
          <p:cNvSpPr/>
          <p:nvPr/>
        </p:nvSpPr>
        <p:spPr>
          <a:xfrm>
            <a:off x="740664" y="5157216"/>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5358383"/>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3</a:t>
            </a:r>
          </a:p>
        </p:txBody>
      </p:sp>
      <p:sp>
        <p:nvSpPr>
          <p:cNvPr id="13" name="TextBox 12"/>
          <p:cNvSpPr txBox="1"/>
          <p:nvPr/>
        </p:nvSpPr>
        <p:spPr>
          <a:xfrm>
            <a:off x="1517904" y="5248655"/>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Create the domain-support objects</a:t>
            </a:r>
          </a:p>
          <a:p>
            <a:pPr algn="l">
              <a:spcAft>
                <a:spcPts val="600"/>
              </a:spcAft>
            </a:pPr>
            <a:r>
              <a:rPr sz="1500" b="0">
                <a:solidFill>
                  <a:srgbClr val="4C5D69"/>
                </a:solidFill>
              </a:rPr>
              <a:t>The SA aged-balance snapshot table, its snapshot-type lookup seed, and eight CMS views for device, asset, crew, field activity and case, with grants and the read-schema synonyms repaired.</a:t>
            </a:r>
          </a:p>
        </p:txBody>
      </p:sp>
      <p:sp>
        <p:nvSpPr>
          <p:cNvPr id="14" name="Rounded Rectangle 13"/>
          <p:cNvSpPr/>
          <p:nvPr/>
        </p:nvSpPr>
        <p:spPr>
          <a:xfrm>
            <a:off x="740664" y="6821423"/>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1832" y="7022591"/>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4</a:t>
            </a:r>
          </a:p>
        </p:txBody>
      </p:sp>
      <p:sp>
        <p:nvSpPr>
          <p:cNvPr id="16" name="TextBox 15"/>
          <p:cNvSpPr txBox="1"/>
          <p:nvPr/>
        </p:nvSpPr>
        <p:spPr>
          <a:xfrm>
            <a:off x="1517904" y="6912863"/>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Deploy the procedures</a:t>
            </a:r>
          </a:p>
          <a:p>
            <a:pPr algn="l">
              <a:spcAft>
                <a:spcPts val="600"/>
              </a:spcAft>
            </a:pPr>
            <a:r>
              <a:rPr sz="1500" b="0">
                <a:solidFill>
                  <a:srgbClr val="4C5D69"/>
                </a:solidFill>
              </a:rPr>
              <a:t>One baseline procedure per snapshot (the retained 24 months, loaded once) and one operational procedure; the aged-balance refresh procedure for the SA snapshot.</a:t>
            </a:r>
          </a:p>
        </p:txBody>
      </p:sp>
      <p:sp>
        <p:nvSpPr>
          <p:cNvPr id="17" name="Rounded Rectangle 16"/>
          <p:cNvSpPr/>
          <p:nvPr/>
        </p:nvSpPr>
        <p:spPr>
          <a:xfrm>
            <a:off x="740664" y="8485632"/>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41832" y="8686800"/>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5</a:t>
            </a:r>
          </a:p>
        </p:txBody>
      </p:sp>
      <p:sp>
        <p:nvSpPr>
          <p:cNvPr id="19" name="TextBox 18"/>
          <p:cNvSpPr txBox="1"/>
          <p:nvPr/>
        </p:nvSpPr>
        <p:spPr>
          <a:xfrm>
            <a:off x="1517904" y="8577072"/>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Submit the baselines</a:t>
            </a:r>
          </a:p>
          <a:p>
            <a:pPr algn="l">
              <a:spcAft>
                <a:spcPts val="600"/>
              </a:spcAft>
            </a:pPr>
            <a:r>
              <a:rPr sz="1500" b="0">
                <a:solidFill>
                  <a:srgbClr val="4C5D69"/>
                </a:solidFill>
              </a:rPr>
              <a:t>All eight loads submitted at once as database scheduler jobs; they run unattended and survive a dropped connection. The SA snapshot refresh runs alongside from live financial transactions.</a:t>
            </a:r>
          </a:p>
        </p:txBody>
      </p:sp>
      <p:sp>
        <p:nvSpPr>
          <p:cNvPr id="20" name="Rounded Rectangle 19"/>
          <p:cNvSpPr/>
          <p:nvPr/>
        </p:nvSpPr>
        <p:spPr>
          <a:xfrm>
            <a:off x="10181844" y="1828800"/>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383012" y="2029968"/>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6</a:t>
            </a:r>
          </a:p>
        </p:txBody>
      </p:sp>
      <p:sp>
        <p:nvSpPr>
          <p:cNvPr id="22" name="TextBox 21"/>
          <p:cNvSpPr txBox="1"/>
          <p:nvPr/>
        </p:nvSpPr>
        <p:spPr>
          <a:xfrm>
            <a:off x="10959084" y="1920240"/>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Ready gate</a:t>
            </a:r>
          </a:p>
          <a:p>
            <a:pPr algn="l">
              <a:spcAft>
                <a:spcPts val="600"/>
              </a:spcAft>
            </a:pPr>
            <a:r>
              <a:rPr sz="1500" b="0">
                <a:solidFill>
                  <a:srgbClr val="4C5D69"/>
                </a:solidFill>
              </a:rPr>
              <a:t>The scheduler's job table is polled up to eight hours until every job reports SUCCEEDED. A FAILED or missing job stops the rollout.</a:t>
            </a:r>
          </a:p>
        </p:txBody>
      </p:sp>
      <p:sp>
        <p:nvSpPr>
          <p:cNvPr id="23" name="Rounded Rectangle 22"/>
          <p:cNvSpPr/>
          <p:nvPr/>
        </p:nvSpPr>
        <p:spPr>
          <a:xfrm>
            <a:off x="10181844" y="3493008"/>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83012" y="3694176"/>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7</a:t>
            </a:r>
          </a:p>
        </p:txBody>
      </p:sp>
      <p:sp>
        <p:nvSpPr>
          <p:cNvPr id="25" name="TextBox 24"/>
          <p:cNvSpPr txBox="1"/>
          <p:nvPr/>
        </p:nvSpPr>
        <p:spPr>
          <a:xfrm>
            <a:off x="10959084" y="3584448"/>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Validate and gate</a:t>
            </a:r>
          </a:p>
          <a:p>
            <a:pPr algn="l">
              <a:spcAft>
                <a:spcPts val="600"/>
              </a:spcAft>
            </a:pPr>
            <a:r>
              <a:rPr sz="1500" b="0">
                <a:solidFill>
                  <a:srgbClr val="4C5D69"/>
                </a:solidFill>
              </a:rPr>
              <a:t>Row counts, twelve monthly totals against the source, duplicate keys. The install gate fails on any empty table or duplicate key. Domain support: views valid, lookup seeded, aging buckets sum to the balance, FT parity.</a:t>
            </a:r>
          </a:p>
        </p:txBody>
      </p:sp>
      <p:sp>
        <p:nvSpPr>
          <p:cNvPr id="26" name="Rounded Rectangle 25"/>
          <p:cNvSpPr/>
          <p:nvPr/>
        </p:nvSpPr>
        <p:spPr>
          <a:xfrm>
            <a:off x="10181844" y="5157216"/>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83012" y="5358383"/>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8</a:t>
            </a:r>
          </a:p>
        </p:txBody>
      </p:sp>
      <p:sp>
        <p:nvSpPr>
          <p:cNvPr id="28" name="TextBox 27"/>
          <p:cNvSpPr txBox="1"/>
          <p:nvPr/>
        </p:nvSpPr>
        <p:spPr>
          <a:xfrm>
            <a:off x="10959084" y="5248655"/>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Post-load indexes</a:t>
            </a:r>
          </a:p>
          <a:p>
            <a:pPr algn="l">
              <a:spcAft>
                <a:spcPts val="600"/>
              </a:spcAft>
            </a:pPr>
            <a:r>
              <a:rPr sz="1500" b="0">
                <a:solidFill>
                  <a:srgbClr val="4C5D69"/>
                </a:solidFill>
              </a:rPr>
              <a:t>Indexes on the keys and dates the domains filter on, created after the load so the baseline is never slowed by them.</a:t>
            </a:r>
          </a:p>
        </p:txBody>
      </p:sp>
      <p:sp>
        <p:nvSpPr>
          <p:cNvPr id="29" name="Rounded Rectangle 28"/>
          <p:cNvSpPr/>
          <p:nvPr/>
        </p:nvSpPr>
        <p:spPr>
          <a:xfrm>
            <a:off x="10181844" y="6821423"/>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83012" y="7022591"/>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9</a:t>
            </a:r>
          </a:p>
        </p:txBody>
      </p:sp>
      <p:sp>
        <p:nvSpPr>
          <p:cNvPr id="31" name="TextBox 30"/>
          <p:cNvSpPr txBox="1"/>
          <p:nvPr/>
        </p:nvSpPr>
        <p:spPr>
          <a:xfrm>
            <a:off x="10959084" y="6912863"/>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Rolling cutover</a:t>
            </a:r>
          </a:p>
          <a:p>
            <a:pPr algn="l">
              <a:spcAft>
                <a:spcPts val="600"/>
              </a:spcAft>
            </a:pPr>
            <a:r>
              <a:rPr sz="1500" b="0">
                <a:solidFill>
                  <a:srgbClr val="4C5D69"/>
                </a:solidFill>
              </a:rPr>
              <a:t>Rolling procedures installed (3 months rebuilt, 24 kept; 6-month at CityCorp and Odessa), one operational refresh run by hand and validated again. Long refreshes run as background jobs, never in the session.</a:t>
            </a:r>
          </a:p>
        </p:txBody>
      </p:sp>
      <p:sp>
        <p:nvSpPr>
          <p:cNvPr id="32" name="Rounded Rectangle 31"/>
          <p:cNvSpPr/>
          <p:nvPr/>
        </p:nvSpPr>
        <p:spPr>
          <a:xfrm>
            <a:off x="10181844" y="8485632"/>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383012" y="8686800"/>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10</a:t>
            </a:r>
          </a:p>
        </p:txBody>
      </p:sp>
      <p:sp>
        <p:nvSpPr>
          <p:cNvPr id="34" name="TextBox 33"/>
          <p:cNvSpPr txBox="1"/>
          <p:nvPr/>
        </p:nvSpPr>
        <p:spPr>
          <a:xfrm>
            <a:off x="10959084" y="8577072"/>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Schedule and monitor</a:t>
            </a:r>
          </a:p>
          <a:p>
            <a:pPr algn="l">
              <a:spcAft>
                <a:spcPts val="600"/>
              </a:spcAft>
            </a:pPr>
            <a:r>
              <a:rPr sz="1500" b="0">
                <a:solidFill>
                  <a:srgbClr val="4C5D69"/>
                </a:solidFill>
              </a:rPr>
              <a:t>One scheduler job per table, twice daily with a 30-minute stagger, held on TEST until approved. Last-run capture and data-quality checks per client; validate again after the first scheduled run.</a:t>
            </a:r>
          </a:p>
        </p:txBody>
      </p:sp>
      <p:sp>
        <p:nvSpPr>
          <p:cNvPr id="35" name="TextBox 34"/>
          <p:cNvSpPr txBox="1"/>
          <p:nvPr/>
        </p:nvSpPr>
        <p:spPr>
          <a:xfrm>
            <a:off x="740664" y="10012680"/>
            <a:ext cx="18288000" cy="457200"/>
          </a:xfrm>
          <a:prstGeom prst="rect">
            <a:avLst/>
          </a:prstGeom>
          <a:noFill/>
        </p:spPr>
        <p:txBody>
          <a:bodyPr wrap="square" anchor="t" lIns="0" rIns="0" tIns="54864" bIns="54864">
            <a:spAutoFit/>
          </a:bodyPr>
          <a:lstStyle/>
          <a:p>
            <a:pPr algn="l">
              <a:spcAft>
                <a:spcPts val="600"/>
              </a:spcAft>
            </a:pPr>
            <a:r>
              <a:rPr sz="1400" b="0">
                <a:solidFill>
                  <a:srgbClr val="F5EFE9"/>
                </a:solidFill>
              </a:rPr>
              <a:t>Steps 1 to 8 are the baseline; 9 and 10 are the cutover to rolling refresh. The domain-support objects ride the same rollout so the live domains work the day the snapshots 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Objects The Domains Depend On (1 of 2)</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5EFE9"/>
                          </a:solidFill>
                        </a:rPr>
                        <a:t>Object</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Kind</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is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Depended on by</a:t>
                      </a:r>
                    </a:p>
                  </a:txBody>
                  <a:tcPr>
                    <a:solidFill>
                      <a:srgbClr val="0B3D7A"/>
                    </a:solidFill>
                  </a:tcPr>
                </a:tc>
              </a:tr>
              <a:tr h="1325880">
                <a:tc>
                  <a:txBody>
                    <a:bodyPr wrap="square" anchor="ctr" lIns="137160" rIns="137160" tIns="54864" bIns="54864"/>
                    <a:lstStyle/>
                    <a:p>
                      <a:pPr algn="l">
                        <a:spcAft>
                          <a:spcPts val="600"/>
                        </a:spcAft>
                      </a:pPr>
                      <a:r>
                        <a:rPr sz="1600" b="1">
                          <a:solidFill>
                            <a:srgbClr val="0B3D7A"/>
                          </a:solidFill>
                        </a:rPr>
                        <a:t>CMS_SA_SNAPSHOT</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table + refresh procedure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end-of-day (LDAY) aged-balance row per service agreement: current and payoff balance, new charges, and ten aging buckets built from frozen ARS financial transactions dated up to today. Credits and payments retire the oldest debt first; excess credit sits in the current bucket; buckets 1 to 5 always sum to the current balance; future-dated amounts are excluded.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Debt Management: the SA Snapshot Aged Balance domain, its account roll-up (a derived query over this table, not a second object), and every aged-debt view and dashboard on it</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CM_SNAPSHOT_TYPE_FLG</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lookup seed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four snapshot-type codes (LDAY, EMON, ARCH, LEMN) written into the C2M lookup tables. The domain inner-joins them, so a fresh database without the seed returns zero rows in every Ad Hoc 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Debt Management: SA Snapshot Aged Balance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CMS_D1_DVC_IDENTIFIER_VW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device with its identifiers pivoted from rows into columns: asset id, badge number, serial number, internal meter number, external and MDM ids, NIC id and serial, name, utility device id.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Device domain; Daily Installations, Disconnected Service Points, Meters Not Recently Read</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CMS_D1_DVC_BODA_VW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device's business-object data area parsed out of its XML: business object code, latest status, retirement date and time. One row per device.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Device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CMS_W1_ASSET_IDENTIFIER_VW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asset with its identifiers pivoted into columns, the asset-side twin of the device identifier view, so the Asset domain can join by badge, serial or external id.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Asset domain; In Storage, Distribution of Installed Assets, Non-Meter Assets</a:t>
                      </a:r>
                    </a:p>
                  </a:txBody>
                  <a:tcPr>
                    <a:solidFill>
                      <a:srgbClr val="F5EFE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Objects The Domains Depend On (2 of 2)</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5EFE9"/>
                          </a:solidFill>
                        </a:rPr>
                        <a:t>Object</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Kind</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is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Depended on by</a:t>
                      </a:r>
                    </a:p>
                  </a:txBody>
                  <a:tcPr>
                    <a:solidFill>
                      <a:srgbClr val="0B3D7A"/>
                    </a:solidFill>
                  </a:tcPr>
                </a:tc>
              </a:tr>
              <a:tr h="1325880">
                <a:tc>
                  <a:txBody>
                    <a:bodyPr wrap="square" anchor="ctr" lIns="137160" rIns="137160" tIns="54864" bIns="54864"/>
                    <a:lstStyle/>
                    <a:p>
                      <a:pPr algn="l">
                        <a:spcAft>
                          <a:spcPts val="600"/>
                        </a:spcAft>
                      </a:pPr>
                      <a:r>
                        <a:rPr sz="1600" b="1">
                          <a:solidFill>
                            <a:srgbClr val="0B3D7A"/>
                          </a:solidFill>
                        </a:rPr>
                        <a:t>CMS_C1_REPRESENTATIVE_BODA_VW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representative (crew member) mobile details parsed out of the representative's XML data area: the service areas they cover and their worker capabilities, one row per representative and area or capability.</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domain and its views</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CMS_D1_ACTIVITY_CHAR_VW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Activity characteristics pivoted per field activity: internal field-activity status, priority, and the third-party representative code, so the domain filters on them as columns.</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CMS_D1_ACTIVITY_D1FA_BODA_VW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field activity's business-object data parsed from XML: instructions and comments, the appointment window and who took it, expiration, requester, external references, and the customer and contact names and phone numbers.</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and Field Activity domains; Upcoming Field Work, Cancelations, Average Days per Field Task</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CMS_CI_CASE_VW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case with its create and close timestamps derived from the case log (the case-created entry and the closing status entry) and the duration in minutes, measured to now while the case is open.</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Customer Operations: Case domain and every case view</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CMS_CI_CASE_LOG_VW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case log as a timeline: every status change with the previous status, the previous log time, and how long the case sat in the previous and the current state.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Customer Operations: Case domain (state durations and the case timeline views)</a:t>
                      </a:r>
                    </a:p>
                  </a:txBody>
                  <a:tcPr>
                    <a:solidFill>
                      <a:srgbClr val="F5EFE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Full History, Then Rolling Refresh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Baseline procedure</a:t>
            </a:r>
          </a:p>
          <a:p>
            <a:pPr algn="l">
              <a:spcAft>
                <a:spcPts val="600"/>
              </a:spcAft>
            </a:pPr>
            <a:r>
              <a:rPr sz="2000" b="0">
                <a:solidFill>
                  <a:srgbClr val="4C5D69"/>
                </a:solidFill>
              </a:rPr>
              <a:t>loads every year of history once, one job per table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Validate</a:t>
            </a:r>
          </a:p>
          <a:p>
            <a:pPr algn="l">
              <a:spcAft>
                <a:spcPts val="600"/>
              </a:spcAft>
            </a:pPr>
            <a:r>
              <a:rPr sz="2000" b="0">
                <a:solidFill>
                  <a:srgbClr val="4C5D69"/>
                </a:solidFill>
              </a:rPr>
              <a:t>row counts, monthly totals and keys checked after the load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Rolling procedure</a:t>
            </a:r>
          </a:p>
          <a:p>
            <a:pPr algn="l">
              <a:spcAft>
                <a:spcPts val="600"/>
              </a:spcAft>
            </a:pPr>
            <a:r>
              <a:rPr sz="2000" b="0">
                <a:solidFill>
                  <a:srgbClr val="4C5D69"/>
                </a:solidFill>
              </a:rPr>
              <a:t>deletes and rebuilds only the newest months, twice a day</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Schedule</a:t>
            </a:r>
          </a:p>
          <a:p>
            <a:pPr algn="l">
              <a:spcAft>
                <a:spcPts val="600"/>
              </a:spcAft>
            </a:pPr>
            <a:r>
              <a:rPr sz="2000" b="0">
                <a:solidFill>
                  <a:srgbClr val="4C5D69"/>
                </a:solidFill>
              </a:rPr>
              <a:t>database jobs at 10:00 and 16:00 UTC, 30-minute stagger</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Capture runs</a:t>
            </a:r>
          </a:p>
          <a:p>
            <a:pPr algn="l">
              <a:spcAft>
                <a:spcPts val="600"/>
              </a:spcAft>
            </a:pPr>
            <a:r>
              <a:rPr sz="2000" b="0">
                <a:solidFill>
                  <a:srgbClr val="4C5D69"/>
                </a:solidFill>
              </a:rPr>
              <a:t>last run, duration and status recorded per job</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Data quality</a:t>
            </a:r>
          </a:p>
          <a:p>
            <a:pPr algn="l">
              <a:spcAft>
                <a:spcPts val="600"/>
              </a:spcAft>
            </a:pPr>
            <a:r>
              <a:rPr sz="2000" b="0">
                <a:solidFill>
                  <a:srgbClr val="4C5D69"/>
                </a:solidFill>
              </a:rPr>
              <a:t>high-level checks per client after every refresh</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Warehouse parity</a:t>
            </a:r>
          </a:p>
          <a:p>
            <a:pPr algn="l">
              <a:spcAft>
                <a:spcPts val="600"/>
              </a:spcAft>
            </a:pPr>
            <a:r>
              <a:rPr sz="2000" b="0">
                <a:solidFill>
                  <a:srgbClr val="4C5D69"/>
                </a:solidFill>
              </a:rPr>
              <a:t>nightly comparison of the dbt canvases to these tables</a:t>
            </a:r>
          </a:p>
        </p:txBody>
      </p:sp>
      <p:sp>
        <p:nvSpPr>
          <p:cNvPr id="12" name="Rounded Rectangle 11"/>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nightly</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Windows per client</a:t>
            </a:r>
          </a:p>
          <a:p>
            <a:pPr algn="l">
              <a:spcAft>
                <a:spcPts val="600"/>
              </a:spcAft>
            </a:pPr>
            <a:r>
              <a:rPr sz="1600" b="0">
                <a:solidFill>
                  <a:srgbClr val="4C5D69"/>
                </a:solidFill>
              </a:rPr>
              <a:t>12 months; 6 at CityCorp and Odessa; 3 rolling with 24 kept at College Station and Newark</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The lesson that shaped it</a:t>
            </a:r>
          </a:p>
          <a:p>
            <a:pPr algn="l">
              <a:spcAft>
                <a:spcPts val="600"/>
              </a:spcAft>
            </a:pPr>
            <a:r>
              <a:rPr sz="1600" b="0">
                <a:solidFill>
                  <a:srgbClr val="4C5D69"/>
                </a:solidFill>
              </a:rPr>
              <a:t>A refresh longer than the 15-minute client timeout committed its DELETE without the INSERT (Newark usage). Long refreshes now run as background scheduler jobs, never in the session, and the window is sized per client so a refresh finishes well inside the gap between runs.</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Rolling schedule held on TEST until approved</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baseline</a:t>
            </a:r>
          </a:p>
        </p:txBody>
      </p:sp>
      <p:sp>
        <p:nvSpPr>
          <p:cNvPr id="24" name="Rounded Rectangle 23"/>
          <p:cNvSpPr/>
          <p:nvPr/>
        </p:nvSpPr>
        <p:spPr>
          <a:xfrm>
            <a:off x="5070348" y="8503920"/>
            <a:ext cx="254203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cutover</a:t>
            </a:r>
          </a:p>
        </p:txBody>
      </p:sp>
      <p:sp>
        <p:nvSpPr>
          <p:cNvPr id="25" name="Rounded Rectangle 24"/>
          <p:cNvSpPr/>
          <p:nvPr/>
        </p:nvSpPr>
        <p:spPr>
          <a:xfrm>
            <a:off x="7840979" y="8503920"/>
            <a:ext cx="42245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the first scheduled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Built The Python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The prompt</a:t>
            </a:r>
          </a:p>
          <a:p>
            <a:pPr algn="l">
              <a:spcAft>
                <a:spcPts val="600"/>
              </a:spcAft>
            </a:pPr>
            <a:r>
              <a:rPr sz="2000" b="0">
                <a:solidFill>
                  <a:srgbClr val="4C5D69"/>
                </a:solidFill>
              </a:rPr>
              <a:t>the manual step, the SQL it ran, and the last failure seen</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Script with a dry run</a:t>
            </a:r>
          </a:p>
          <a:p>
            <a:pPr algn="l">
              <a:spcAft>
                <a:spcPts val="600"/>
              </a:spcAft>
            </a:pPr>
            <a:r>
              <a:rPr sz="1600" b="0">
                <a:solidFill>
                  <a:srgbClr val="4C5D69"/>
                </a:solidFill>
              </a:rPr>
              <a:t>every write is printed before it is made; nothing runs blind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Run on TEST</a:t>
            </a:r>
          </a:p>
          <a:p>
            <a:pPr algn="l">
              <a:spcAft>
                <a:spcPts val="600"/>
              </a:spcAft>
            </a:pPr>
            <a:r>
              <a:rPr sz="2000" b="0">
                <a:solidFill>
                  <a:srgbClr val="4C5D69"/>
                </a:solidFill>
              </a:rPr>
              <a:t>measured, and the real error read rather than guessed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Gate added</a:t>
            </a:r>
          </a:p>
          <a:p>
            <a:pPr algn="l">
              <a:spcAft>
                <a:spcPts val="600"/>
              </a:spcAft>
            </a:pPr>
            <a:r>
              <a:rPr sz="2000" b="0">
                <a:solidFill>
                  <a:srgbClr val="4C5D69"/>
                </a:solidFill>
              </a:rPr>
              <a:t>the failure becomes a check that fails first next time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records it</a:t>
            </a:r>
          </a:p>
          <a:p>
            <a:pPr algn="l">
              <a:spcAft>
                <a:spcPts val="600"/>
              </a:spcAft>
            </a:pPr>
            <a:r>
              <a:rPr sz="2000" b="0">
                <a:solidFill>
                  <a:srgbClr val="4C5D69"/>
                </a:solidFill>
              </a:rPr>
              <a:t>dated, with the number, so the next session starts knowing</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TEMP blew to 246 GB</a:t>
            </a:r>
          </a:p>
          <a:p>
            <a:pPr algn="l">
              <a:spcAft>
                <a:spcPts val="600"/>
              </a:spcAft>
            </a:pPr>
            <a:r>
              <a:rPr sz="2000" b="0">
                <a:solidFill>
                  <a:srgbClr val="4C5D69"/>
                </a:solidFill>
              </a:rPr>
              <a:t>now: staged builds and TEMP capped before the first run</a:t>
            </a:r>
          </a:p>
        </p:txBody>
      </p:sp>
      <p:sp>
        <p:nvSpPr>
          <p:cNvPr id="11" name="Rounded Rectangle 10"/>
          <p:cNvSpPr/>
          <p:nvPr/>
        </p:nvSpPr>
        <p:spPr>
          <a:xfrm>
            <a:off x="3666744"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Import 'succeeded', wrote nothing</a:t>
            </a:r>
          </a:p>
          <a:p>
            <a:pPr algn="l">
              <a:spcAft>
                <a:spcPts val="600"/>
              </a:spcAft>
            </a:pPr>
            <a:r>
              <a:rPr sz="2000" b="0">
                <a:solidFill>
                  <a:srgbClr val="4C5D69"/>
                </a:solidFill>
              </a:rPr>
              <a:t>now: the package must carry the target's own datasource</a:t>
            </a:r>
          </a:p>
        </p:txBody>
      </p:sp>
      <p:sp>
        <p:nvSpPr>
          <p:cNvPr id="13" name="Rounded Rectangle 12"/>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4" name="Rounded Rectangle 13"/>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View runs but will not open</a:t>
            </a:r>
          </a:p>
          <a:p>
            <a:pPr algn="l">
              <a:spcAft>
                <a:spcPts val="600"/>
              </a:spcAft>
            </a:pPr>
            <a:r>
              <a:rPr sz="2000" b="0">
                <a:solidFill>
                  <a:srgbClr val="4C5D69"/>
                </a:solidFill>
              </a:rPr>
              <a:t>now: a checker predicts the broken topic before promotion</a:t>
            </a:r>
          </a:p>
        </p:txBody>
      </p:sp>
      <p:sp>
        <p:nvSpPr>
          <p:cNvPr id="15" name="Rounded Rectangle 14"/>
          <p:cNvSpPr/>
          <p:nvPr/>
        </p:nvSpPr>
        <p:spPr>
          <a:xfrm>
            <a:off x="13469112"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6" name="Rounded Rectangle 15"/>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More debugging that became tooling</a:t>
            </a:r>
          </a:p>
          <a:p>
            <a:pPr algn="l">
              <a:spcAft>
                <a:spcPts val="600"/>
              </a:spcAft>
            </a:pPr>
            <a:r>
              <a:rPr sz="1600" b="0">
                <a:solidFill>
                  <a:srgbClr val="4C5D69"/>
                </a:solidFill>
              </a:rPr>
              <a:t>The Ad Hoc engine's 300,000-row cap (count on the whole population, sum on a window). The same org id living on two servers. Nested domain item groups with three-level ids. Reading a scheduled job's own error before blaming the database (the Fond du Lac SFTP case). Each one is now a test, a gate, or a dated line in a skill.</a:t>
            </a:r>
          </a:p>
        </p:txBody>
      </p:sp>
      <p:sp>
        <p:nvSpPr>
          <p:cNvPr id="17" name="Rounded Rectangle 16"/>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Rule: a lesson is not learned until it is a test or a gate</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706624" y="1810512"/>
            <a:ext cx="17135856"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706624"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7" name="Rounded Rectangle 26"/>
          <p:cNvSpPr/>
          <p:nvPr/>
        </p:nvSpPr>
        <p:spPr>
          <a:xfrm>
            <a:off x="2194560"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dry run before every write</a:t>
            </a:r>
          </a:p>
        </p:txBody>
      </p:sp>
      <p:sp>
        <p:nvSpPr>
          <p:cNvPr id="28" name="Rounded Rectangle 27"/>
          <p:cNvSpPr/>
          <p:nvPr/>
        </p:nvSpPr>
        <p:spPr>
          <a:xfrm>
            <a:off x="538581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run on TEST first</a:t>
            </a:r>
          </a:p>
        </p:txBody>
      </p:sp>
      <p:sp>
        <p:nvSpPr>
          <p:cNvPr id="29" name="Rounded Rectangle 28"/>
          <p:cNvSpPr/>
          <p:nvPr/>
        </p:nvSpPr>
        <p:spPr>
          <a:xfrm>
            <a:off x="7630668"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the failure becomes a gate</a:t>
            </a:r>
          </a:p>
        </p:txBody>
      </p:sp>
      <p:sp>
        <p:nvSpPr>
          <p:cNvPr id="30" name="Rounded Rectangle 29"/>
          <p:cNvSpPr/>
          <p:nvPr/>
        </p:nvSpPr>
        <p:spPr>
          <a:xfrm>
            <a:off x="10821924"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lesson dated in a skill</a:t>
            </a:r>
          </a:p>
        </p:txBody>
      </p:sp>
      <p:sp>
        <p:nvSpPr>
          <p:cNvPr id="31" name="TextBox 30"/>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Orange tag = a real failure and the tool it produced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Promotion Path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Pentagon 4"/>
          <p:cNvSpPr/>
          <p:nvPr/>
        </p:nvSpPr>
        <p:spPr>
          <a:xfrm>
            <a:off x="740664" y="2834640"/>
            <a:ext cx="4903470" cy="1645920"/>
          </a:xfrm>
          <a:prstGeom prst="homePlate">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Origin_DEV</a:t>
            </a:r>
          </a:p>
          <a:p>
            <a:pPr algn="ctr">
              <a:spcAft>
                <a:spcPts val="600"/>
              </a:spcAft>
            </a:pPr>
            <a:r>
              <a:rPr sz="1400" b="0">
                <a:solidFill>
                  <a:srgbClr val="4C5D69"/>
                </a:solidFill>
              </a:rPr>
              <a:t>authoring</a:t>
            </a:r>
          </a:p>
        </p:txBody>
      </p:sp>
      <p:sp>
        <p:nvSpPr>
          <p:cNvPr id="6" name="TextBox 5"/>
          <p:cNvSpPr txBox="1"/>
          <p:nvPr/>
        </p:nvSpPr>
        <p:spPr>
          <a:xfrm>
            <a:off x="101498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Every domain, view, report and dashboard is built here first</a:t>
            </a:r>
          </a:p>
          <a:p>
            <a:pPr algn="l">
              <a:spcAft>
                <a:spcPts val="600"/>
              </a:spcAft>
            </a:pPr>
            <a:r>
              <a:rPr sz="1600" b="0">
                <a:solidFill>
                  <a:srgbClr val="F5EFE9"/>
                </a:solidFill>
              </a:rPr>
              <a:t>The only place content is ever edited by hand</a:t>
            </a:r>
          </a:p>
        </p:txBody>
      </p:sp>
      <p:sp>
        <p:nvSpPr>
          <p:cNvPr id="7" name="Chevron 6"/>
          <p:cNvSpPr/>
          <p:nvPr/>
        </p:nvSpPr>
        <p:spPr>
          <a:xfrm>
            <a:off x="532409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Origin_TEST</a:t>
            </a:r>
          </a:p>
          <a:p>
            <a:pPr algn="ctr">
              <a:spcAft>
                <a:spcPts val="600"/>
              </a:spcAft>
            </a:pPr>
            <a:r>
              <a:rPr sz="1400" b="0">
                <a:solidFill>
                  <a:srgbClr val="4C5D69"/>
                </a:solidFill>
              </a:rPr>
              <a:t>proving</a:t>
            </a:r>
          </a:p>
        </p:txBody>
      </p:sp>
      <p:sp>
        <p:nvSpPr>
          <p:cNvPr id="8" name="TextBox 7"/>
          <p:cNvSpPr txBox="1"/>
          <p:nvPr/>
        </p:nvSpPr>
        <p:spPr>
          <a:xfrm>
            <a:off x="559841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The first promotion, with the seven proofs</a:t>
            </a:r>
          </a:p>
          <a:p>
            <a:pPr algn="l">
              <a:spcAft>
                <a:spcPts val="600"/>
              </a:spcAft>
            </a:pPr>
            <a:r>
              <a:rPr sz="1600" b="0">
                <a:solidFill>
                  <a:srgbClr val="F5EFE9"/>
                </a:solidFill>
              </a:rPr>
              <a:t>The offering is executed end to end before any client sees it</a:t>
            </a:r>
          </a:p>
        </p:txBody>
      </p:sp>
      <p:sp>
        <p:nvSpPr>
          <p:cNvPr id="9" name="Chevron 8"/>
          <p:cNvSpPr/>
          <p:nvPr/>
        </p:nvSpPr>
        <p:spPr>
          <a:xfrm>
            <a:off x="990752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test org</a:t>
            </a:r>
          </a:p>
          <a:p>
            <a:pPr algn="ctr">
              <a:spcAft>
                <a:spcPts val="600"/>
              </a:spcAft>
            </a:pPr>
            <a:r>
              <a:rPr sz="1400" b="0">
                <a:solidFill>
                  <a:srgbClr val="4C5D69"/>
                </a:solidFill>
              </a:rPr>
              <a:t>the client's own data</a:t>
            </a:r>
          </a:p>
        </p:txBody>
      </p:sp>
      <p:sp>
        <p:nvSpPr>
          <p:cNvPr id="10" name="TextBox 9"/>
          <p:cNvSpPr txBox="1"/>
          <p:nvPr/>
        </p:nvSpPr>
        <p:spPr>
          <a:xfrm>
            <a:off x="1018184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Datasource switched to the client's test database</a:t>
            </a:r>
          </a:p>
          <a:p>
            <a:pPr algn="l">
              <a:spcAft>
                <a:spcPts val="600"/>
              </a:spcAft>
            </a:pPr>
            <a:r>
              <a:rPr sz="1600" b="0">
                <a:solidFill>
                  <a:srgbClr val="F5EFE9"/>
                </a:solidFill>
              </a:rPr>
              <a:t>Sweep and sign-off on the client's own numbers</a:t>
            </a:r>
          </a:p>
        </p:txBody>
      </p:sp>
      <p:sp>
        <p:nvSpPr>
          <p:cNvPr id="11" name="Chevron 10"/>
          <p:cNvSpPr/>
          <p:nvPr/>
        </p:nvSpPr>
        <p:spPr>
          <a:xfrm>
            <a:off x="14490954" y="2834640"/>
            <a:ext cx="4903470" cy="1645920"/>
          </a:xfrm>
          <a:prstGeom prst="chevron">
            <a:avLst>
              <a:gd name="adj" fmla="val 32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prod org</a:t>
            </a:r>
          </a:p>
          <a:p>
            <a:pPr algn="ctr">
              <a:spcAft>
                <a:spcPts val="600"/>
              </a:spcAft>
            </a:pPr>
            <a:r>
              <a:rPr sz="1400" b="0">
                <a:solidFill>
                  <a:srgbClr val="0B3D7A"/>
                </a:solidFill>
              </a:rPr>
              <a:t>explicit prod flag</a:t>
            </a:r>
          </a:p>
        </p:txBody>
      </p:sp>
      <p:sp>
        <p:nvSpPr>
          <p:cNvPr id="12" name="TextBox 11"/>
          <p:cNvSpPr txBox="1"/>
          <p:nvPr/>
        </p:nvSpPr>
        <p:spPr>
          <a:xfrm>
            <a:off x="1476527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Same tool, same proofs, a prod write flag required</a:t>
            </a:r>
          </a:p>
          <a:p>
            <a:pPr algn="l">
              <a:spcAft>
                <a:spcPts val="600"/>
              </a:spcAft>
            </a:pPr>
            <a:r>
              <a:rPr sz="1600" b="0">
                <a:solidFill>
                  <a:srgbClr val="F5EFE9"/>
                </a:solidFill>
              </a:rPr>
              <a:t>Inventory before and diff after: the rollback record</a:t>
            </a:r>
          </a:p>
        </p:txBody>
      </p:sp>
      <p:sp>
        <p:nvSpPr>
          <p:cNvPr id="13" name="Rounded Rectangle 12"/>
          <p:cNvSpPr/>
          <p:nvPr/>
        </p:nvSpPr>
        <p:spPr>
          <a:xfrm>
            <a:off x="74066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datasource changes at every hop</a:t>
            </a:r>
          </a:p>
          <a:p>
            <a:pPr algn="l">
              <a:spcAft>
                <a:spcPts val="600"/>
              </a:spcAft>
            </a:pPr>
            <a:r>
              <a:rPr sz="1500" b="0">
                <a:solidFill>
                  <a:srgbClr val="4C5D69"/>
                </a:solidFill>
              </a:rPr>
              <a:t>the package carries the target's own datasource export, never an edited copy</a:t>
            </a:r>
          </a:p>
        </p:txBody>
      </p:sp>
      <p:sp>
        <p:nvSpPr>
          <p:cNvPr id="14" name="Rounded Rectangle 13"/>
          <p:cNvSpPr/>
          <p:nvPr/>
        </p:nvSpPr>
        <p:spPr>
          <a:xfrm>
            <a:off x="7080503"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same tool at every hop</a:t>
            </a:r>
          </a:p>
          <a:p>
            <a:pPr algn="l">
              <a:spcAft>
                <a:spcPts val="600"/>
              </a:spcAft>
            </a:pPr>
            <a:r>
              <a:rPr sz="1500" b="0">
                <a:solidFill>
                  <a:srgbClr val="4C5D69"/>
                </a:solidFill>
              </a:rPr>
              <a:t>one promotion path from authoring to prod, so every hop is proven the same way</a:t>
            </a:r>
          </a:p>
        </p:txBody>
      </p:sp>
      <p:sp>
        <p:nvSpPr>
          <p:cNvPr id="15" name="Rounded Rectangle 14"/>
          <p:cNvSpPr/>
          <p:nvPr/>
        </p:nvSpPr>
        <p:spPr>
          <a:xfrm>
            <a:off x="1342034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Nothing edited by hand after Origin_DEV</a:t>
            </a:r>
          </a:p>
          <a:p>
            <a:pPr algn="l">
              <a:spcAft>
                <a:spcPts val="600"/>
              </a:spcAft>
            </a:pPr>
            <a:r>
              <a:rPr sz="1500" b="0">
                <a:solidFill>
                  <a:srgbClr val="4C5D69"/>
                </a:solidFill>
              </a:rPr>
              <a:t>every change downstream is a promotion or an additive patch with a rollback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Standard Offering In Jaspersoft, Step By Step</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41832" y="2029968"/>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1</a:t>
            </a:r>
          </a:p>
        </p:txBody>
      </p:sp>
      <p:sp>
        <p:nvSpPr>
          <p:cNvPr id="7" name="TextBox 6"/>
          <p:cNvSpPr txBox="1"/>
          <p:nvPr/>
        </p:nvSpPr>
        <p:spPr>
          <a:xfrm>
            <a:off x="1517904" y="1920240"/>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Author on Origin_DEV</a:t>
            </a:r>
          </a:p>
          <a:p>
            <a:pPr algn="l">
              <a:spcAft>
                <a:spcPts val="600"/>
              </a:spcAft>
            </a:pPr>
            <a:r>
              <a:rPr sz="1500" b="0">
                <a:solidFill>
                  <a:srgbClr val="4C5D69"/>
                </a:solidFill>
              </a:rPr>
              <a:t>Every domain, Ad Hoc view, report and dashboard is built in the Workstreams tree on the internal server: the only place anything is edited by hand.</a:t>
            </a:r>
          </a:p>
        </p:txBody>
      </p:sp>
      <p:sp>
        <p:nvSpPr>
          <p:cNvPr id="8" name="Rounded Rectangle 7"/>
          <p:cNvSpPr/>
          <p:nvPr/>
        </p:nvSpPr>
        <p:spPr>
          <a:xfrm>
            <a:off x="740664" y="3493008"/>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3694176"/>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2</a:t>
            </a:r>
          </a:p>
        </p:txBody>
      </p:sp>
      <p:sp>
        <p:nvSpPr>
          <p:cNvPr id="10" name="TextBox 9"/>
          <p:cNvSpPr txBox="1"/>
          <p:nvPr/>
        </p:nvSpPr>
        <p:spPr>
          <a:xfrm>
            <a:off x="1517904" y="3584448"/>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Inventory and classify the export</a:t>
            </a:r>
          </a:p>
          <a:p>
            <a:pPr algn="l">
              <a:spcAft>
                <a:spcPts val="600"/>
              </a:spcAft>
            </a:pPr>
            <a:r>
              <a:rPr sz="1500" b="0">
                <a:solidFill>
                  <a:srgbClr val="4C5D69"/>
                </a:solidFill>
              </a:rPr>
              <a:t>The org export is scanned for domains, Ad Hoc views, report units, dashboards and the datasource. Matching uses the business-facing labels, never the generic internal ids.</a:t>
            </a:r>
          </a:p>
        </p:txBody>
      </p:sp>
      <p:sp>
        <p:nvSpPr>
          <p:cNvPr id="11" name="Rounded Rectangle 10"/>
          <p:cNvSpPr/>
          <p:nvPr/>
        </p:nvSpPr>
        <p:spPr>
          <a:xfrm>
            <a:off x="740664" y="5157216"/>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5358383"/>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3</a:t>
            </a:r>
          </a:p>
        </p:txBody>
      </p:sp>
      <p:sp>
        <p:nvSpPr>
          <p:cNvPr id="13" name="TextBox 12"/>
          <p:cNvSpPr txBox="1"/>
          <p:nvPr/>
        </p:nvSpPr>
        <p:spPr>
          <a:xfrm>
            <a:off x="1517904" y="5248655"/>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Select the offering</a:t>
            </a:r>
          </a:p>
          <a:p>
            <a:pPr algn="l">
              <a:spcAft>
                <a:spcPts val="600"/>
              </a:spcAft>
            </a:pPr>
            <a:r>
              <a:rPr sz="1500" b="0">
                <a:solidFill>
                  <a:srgbClr val="4C5D69"/>
                </a:solidFill>
              </a:rPr>
              <a:t>Only the Standard Offering list is kept, remapped into nine workstream folders by business process. The Workstreams tree is left untouched: a curated copy, not a move.</a:t>
            </a:r>
          </a:p>
        </p:txBody>
      </p:sp>
      <p:sp>
        <p:nvSpPr>
          <p:cNvPr id="14" name="Rounded Rectangle 13"/>
          <p:cNvSpPr/>
          <p:nvPr/>
        </p:nvSpPr>
        <p:spPr>
          <a:xfrm>
            <a:off x="740664" y="6821423"/>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1832" y="7022591"/>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4</a:t>
            </a:r>
          </a:p>
        </p:txBody>
      </p:sp>
      <p:sp>
        <p:nvSpPr>
          <p:cNvPr id="16" name="TextBox 15"/>
          <p:cNvSpPr txBox="1"/>
          <p:nvPr/>
        </p:nvSpPr>
        <p:spPr>
          <a:xfrm>
            <a:off x="1517904" y="6912863"/>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Carry only what it needs</a:t>
            </a:r>
          </a:p>
          <a:p>
            <a:pPr algn="l">
              <a:spcAft>
                <a:spcPts val="600"/>
              </a:spcAft>
            </a:pPr>
            <a:r>
              <a:rPr sz="1500" b="0">
                <a:solidFill>
                  <a:srgbClr val="4C5D69"/>
                </a:solidFill>
              </a:rPr>
              <a:t>One packaged copy of each domain (53 today) in one business-process home, every report and view reference rewritten to that copy, and the datasource resource carried because the domains reference it.</a:t>
            </a:r>
          </a:p>
        </p:txBody>
      </p:sp>
      <p:sp>
        <p:nvSpPr>
          <p:cNvPr id="17" name="Rounded Rectangle 16"/>
          <p:cNvSpPr/>
          <p:nvPr/>
        </p:nvSpPr>
        <p:spPr>
          <a:xfrm>
            <a:off x="740664" y="8485632"/>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41832" y="8686800"/>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5</a:t>
            </a:r>
          </a:p>
        </p:txBody>
      </p:sp>
      <p:sp>
        <p:nvSpPr>
          <p:cNvPr id="19" name="TextBox 18"/>
          <p:cNvSpPr txBox="1"/>
          <p:nvPr/>
        </p:nvSpPr>
        <p:spPr>
          <a:xfrm>
            <a:off x="1517904" y="8577072"/>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Clean the package</a:t>
            </a:r>
          </a:p>
          <a:p>
            <a:pPr algn="l">
              <a:spcAft>
                <a:spcPts val="600"/>
              </a:spcAft>
            </a:pPr>
            <a:r>
              <a:rPr sz="1500" b="0">
                <a:solidFill>
                  <a:srgbClr val="4C5D69"/>
                </a:solidFill>
              </a:rPr>
              <a:t>Print-wrapper reports stripped from saved Ad Hoc views, dashboards tied to public templates left out, folder metadata generated, the import index narrowed to the offering folder plus the datasource.</a:t>
            </a:r>
          </a:p>
        </p:txBody>
      </p:sp>
      <p:sp>
        <p:nvSpPr>
          <p:cNvPr id="20" name="Rounded Rectangle 19"/>
          <p:cNvSpPr/>
          <p:nvPr/>
        </p:nvSpPr>
        <p:spPr>
          <a:xfrm>
            <a:off x="10181844" y="1828800"/>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383012" y="2029968"/>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6</a:t>
            </a:r>
          </a:p>
        </p:txBody>
      </p:sp>
      <p:sp>
        <p:nvSpPr>
          <p:cNvPr id="22" name="TextBox 21"/>
          <p:cNvSpPr txBox="1"/>
          <p:nvPr/>
        </p:nvSpPr>
        <p:spPr>
          <a:xfrm>
            <a:off x="10959084" y="1920240"/>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Prove on Origin_TEST</a:t>
            </a:r>
          </a:p>
          <a:p>
            <a:pPr algn="l">
              <a:spcAft>
                <a:spcPts val="600"/>
              </a:spcAft>
            </a:pPr>
            <a:r>
              <a:rPr sz="1500" b="0">
                <a:solidFill>
                  <a:srgbClr val="4C5D69"/>
                </a:solidFill>
              </a:rPr>
              <a:t>The first promotion, with the seven proofs: import without warnings, re-export byte-equal inside the scope, every resource executed, datasource connection unchanged.</a:t>
            </a:r>
          </a:p>
        </p:txBody>
      </p:sp>
      <p:sp>
        <p:nvSpPr>
          <p:cNvPr id="23" name="Rounded Rectangle 22"/>
          <p:cNvSpPr/>
          <p:nvPr/>
        </p:nvSpPr>
        <p:spPr>
          <a:xfrm>
            <a:off x="10181844" y="3493008"/>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83012" y="3694176"/>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7</a:t>
            </a:r>
          </a:p>
        </p:txBody>
      </p:sp>
      <p:sp>
        <p:nvSpPr>
          <p:cNvPr id="25" name="TextBox 24"/>
          <p:cNvSpPr txBox="1"/>
          <p:nvPr/>
        </p:nvSpPr>
        <p:spPr>
          <a:xfrm>
            <a:off x="10959084" y="3584448"/>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Client test org</a:t>
            </a:r>
          </a:p>
          <a:p>
            <a:pPr algn="l">
              <a:spcAft>
                <a:spcPts val="600"/>
              </a:spcAft>
            </a:pPr>
            <a:r>
              <a:rPr sz="1500" b="0">
                <a:solidFill>
                  <a:srgbClr val="4C5D69"/>
                </a:solidFill>
              </a:rPr>
              <a:t>The datasource switched to the client's test database by carrying the target's own datasource export byte for byte; org path, folder, alias and tenant root rewritten; verified before import.</a:t>
            </a:r>
          </a:p>
        </p:txBody>
      </p:sp>
      <p:sp>
        <p:nvSpPr>
          <p:cNvPr id="26" name="Rounded Rectangle 25"/>
          <p:cNvSpPr/>
          <p:nvPr/>
        </p:nvSpPr>
        <p:spPr>
          <a:xfrm>
            <a:off x="10181844" y="5157216"/>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83012" y="5358383"/>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8</a:t>
            </a:r>
          </a:p>
        </p:txBody>
      </p:sp>
      <p:sp>
        <p:nvSpPr>
          <p:cNvPr id="28" name="TextBox 27"/>
          <p:cNvSpPr txBox="1"/>
          <p:nvPr/>
        </p:nvSpPr>
        <p:spPr>
          <a:xfrm>
            <a:off x="10959084" y="5248655"/>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Sweep and sign off</a:t>
            </a:r>
          </a:p>
          <a:p>
            <a:pPr algn="l">
              <a:spcAft>
                <a:spcPts val="600"/>
              </a:spcAft>
            </a:pPr>
            <a:r>
              <a:rPr sz="1500" b="0">
                <a:solidFill>
                  <a:srgbClr val="4C5D69"/>
                </a:solidFill>
              </a:rPr>
              <a:t>Every view queried, every report rendered, every domain probed on the client's own numbers. PASS, EMPTY, SLOW or FAIL per resource with its timing; one sign-off document per org.</a:t>
            </a:r>
          </a:p>
        </p:txBody>
      </p:sp>
      <p:sp>
        <p:nvSpPr>
          <p:cNvPr id="29" name="Rounded Rectangle 28"/>
          <p:cNvSpPr/>
          <p:nvPr/>
        </p:nvSpPr>
        <p:spPr>
          <a:xfrm>
            <a:off x="10181844" y="6821423"/>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83012" y="7022591"/>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9</a:t>
            </a:r>
          </a:p>
        </p:txBody>
      </p:sp>
      <p:sp>
        <p:nvSpPr>
          <p:cNvPr id="31" name="TextBox 30"/>
          <p:cNvSpPr txBox="1"/>
          <p:nvPr/>
        </p:nvSpPr>
        <p:spPr>
          <a:xfrm>
            <a:off x="10959084" y="6912863"/>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Client prod org</a:t>
            </a:r>
          </a:p>
          <a:p>
            <a:pPr algn="l">
              <a:spcAft>
                <a:spcPts val="600"/>
              </a:spcAft>
            </a:pPr>
            <a:r>
              <a:rPr sz="1500" b="0">
                <a:solidFill>
                  <a:srgbClr val="4C5D69"/>
                </a:solidFill>
              </a:rPr>
              <a:t>The same tool and the same proofs with an explicit prod flag. A repository inventory snapshot before and a diff after are the rollback record.</a:t>
            </a:r>
          </a:p>
        </p:txBody>
      </p:sp>
      <p:sp>
        <p:nvSpPr>
          <p:cNvPr id="32" name="Rounded Rectangle 31"/>
          <p:cNvSpPr/>
          <p:nvPr/>
        </p:nvSpPr>
        <p:spPr>
          <a:xfrm>
            <a:off x="10181844" y="8485632"/>
            <a:ext cx="9212580" cy="1435607"/>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383012" y="8686800"/>
            <a:ext cx="457200" cy="45720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500" b="1">
                <a:solidFill>
                  <a:srgbClr val="0B3D7A"/>
                </a:solidFill>
              </a:rPr>
              <a:t>10</a:t>
            </a:r>
          </a:p>
        </p:txBody>
      </p:sp>
      <p:sp>
        <p:nvSpPr>
          <p:cNvPr id="34" name="TextBox 33"/>
          <p:cNvSpPr txBox="1"/>
          <p:nvPr/>
        </p:nvSpPr>
        <p:spPr>
          <a:xfrm>
            <a:off x="10959084" y="8577072"/>
            <a:ext cx="8252459" cy="1252728"/>
          </a:xfrm>
          <a:prstGeom prst="rect">
            <a:avLst/>
          </a:prstGeom>
          <a:noFill/>
        </p:spPr>
        <p:txBody>
          <a:bodyPr wrap="square" anchor="t" lIns="0" rIns="0" tIns="54864" bIns="54864">
            <a:spAutoFit/>
          </a:bodyPr>
          <a:lstStyle/>
          <a:p>
            <a:pPr algn="l">
              <a:spcAft>
                <a:spcPts val="600"/>
              </a:spcAft>
            </a:pPr>
            <a:r>
              <a:rPr sz="1900" b="1">
                <a:solidFill>
                  <a:srgbClr val="0B3D7A"/>
                </a:solidFill>
              </a:rPr>
              <a:t>Keep it current</a:t>
            </a:r>
          </a:p>
          <a:p>
            <a:pPr algn="l">
              <a:spcAft>
                <a:spcPts val="600"/>
              </a:spcAft>
            </a:pPr>
            <a:r>
              <a:rPr sz="1500" b="0">
                <a:solidFill>
                  <a:srgbClr val="4C5D69"/>
                </a:solidFill>
              </a:rPr>
              <a:t>Additive-only domain patches with seven proofs and a one-command restore, the Standardized Reports folder for scheduled SQL reports, and every change swept and re-signed.</a:t>
            </a:r>
          </a:p>
        </p:txBody>
      </p:sp>
      <p:sp>
        <p:nvSpPr>
          <p:cNvPr id="35" name="TextBox 34"/>
          <p:cNvSpPr txBox="1"/>
          <p:nvPr/>
        </p:nvSpPr>
        <p:spPr>
          <a:xfrm>
            <a:off x="740664" y="10012680"/>
            <a:ext cx="18288000" cy="457200"/>
          </a:xfrm>
          <a:prstGeom prst="rect">
            <a:avLst/>
          </a:prstGeom>
          <a:noFill/>
        </p:spPr>
        <p:txBody>
          <a:bodyPr wrap="square" anchor="t" lIns="0" rIns="0" tIns="54864" bIns="54864">
            <a:spAutoFit/>
          </a:bodyPr>
          <a:lstStyle/>
          <a:p>
            <a:pPr algn="l">
              <a:spcAft>
                <a:spcPts val="600"/>
              </a:spcAft>
            </a:pPr>
            <a:r>
              <a:rPr sz="1400" b="0">
                <a:solidFill>
                  <a:srgbClr val="F5EFE9"/>
                </a:solidFill>
              </a:rPr>
              <a:t>Steps 1 to 5 build the package once; steps 6 to 9 repeat per client org; step 10 is every change after go-live.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Jaspersoft REST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a:t>
            </a:r>
          </a:p>
          <a:p>
            <a:pPr algn="l">
              <a:spcAft>
                <a:spcPts val="600"/>
              </a:spcAft>
            </a:pPr>
            <a:r>
              <a:rPr sz="1600" b="0">
                <a:solidFill>
                  <a:srgbClr val="4C5D69"/>
                </a:solidFill>
              </a:rPr>
              <a:t>an export task on the source server, polled, downloaded as a package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2. Rebuild the package</a:t>
            </a:r>
          </a:p>
          <a:p>
            <a:pPr algn="l">
              <a:spcAft>
                <a:spcPts val="600"/>
              </a:spcAft>
            </a:pPr>
            <a:r>
              <a:rPr sz="2000" b="0">
                <a:solidFill>
                  <a:srgbClr val="4C5D69"/>
                </a:solidFill>
              </a:rPr>
              <a:t>target datasource carried in; every file in scope rewritten</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Verify</a:t>
            </a:r>
          </a:p>
          <a:p>
            <a:pPr algn="l">
              <a:spcAft>
                <a:spcPts val="600"/>
              </a:spcAft>
            </a:pPr>
            <a:r>
              <a:rPr sz="1600" b="0">
                <a:solidFill>
                  <a:srgbClr val="4C5D69"/>
                </a:solidFill>
              </a:rPr>
              <a:t>no source host or datasource name survives; references exist; fields resolve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Import</a:t>
            </a:r>
          </a:p>
          <a:p>
            <a:pPr algn="l">
              <a:spcAft>
                <a:spcPts val="600"/>
              </a:spcAft>
            </a:pPr>
            <a:r>
              <a:rPr sz="2000" b="0">
                <a:solidFill>
                  <a:srgbClr val="4C5D69"/>
                </a:solidFill>
              </a:rPr>
              <a:t>update in place, polled; a warning counts as a failure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Re-export and compare</a:t>
            </a:r>
          </a:p>
          <a:p>
            <a:pPr algn="l">
              <a:spcAft>
                <a:spcPts val="600"/>
              </a:spcAft>
            </a:pPr>
            <a:r>
              <a:rPr sz="2000" b="0">
                <a:solidFill>
                  <a:srgbClr val="4C5D69"/>
                </a:solidFill>
              </a:rPr>
              <a:t>byte-equal inside the scope, importer stamps ignored</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a:t>
            </a:r>
          </a:p>
          <a:p>
            <a:pPr algn="l">
              <a:spcAft>
                <a:spcPts val="600"/>
              </a:spcAft>
            </a:pPr>
            <a:r>
              <a:rPr sz="1600" b="0">
                <a:solidFill>
                  <a:srgbClr val="4C5D69"/>
                </a:solidFill>
              </a:rPr>
              <a:t>views by query, reports as PDF, domains by metadata and probe</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Sweep and sign-off</a:t>
            </a:r>
          </a:p>
          <a:p>
            <a:pPr algn="l">
              <a:spcAft>
                <a:spcPts val="600"/>
              </a:spcAft>
            </a:pPr>
            <a:r>
              <a:rPr sz="2000" b="0">
                <a:solidFill>
                  <a:srgbClr val="4C5D69"/>
                </a:solidFill>
              </a:rPr>
              <a:t>everything in the folder executed, then the document</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Inventory first</a:t>
            </a:r>
          </a:p>
          <a:p>
            <a:pPr algn="l">
              <a:spcAft>
                <a:spcPts val="600"/>
              </a:spcAft>
            </a:pPr>
            <a:r>
              <a:rPr sz="1600" b="0">
                <a:solidFill>
                  <a:srgbClr val="4C5D69"/>
                </a:solidFill>
              </a:rPr>
              <a:t>a snapshot of the org before, a diff after: the rollback record</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What gets switched on the way</a:t>
            </a:r>
          </a:p>
          <a:p>
            <a:pPr algn="l">
              <a:spcAft>
                <a:spcPts val="600"/>
              </a:spcAft>
            </a:pPr>
            <a:r>
              <a:rPr sz="1600" b="0">
                <a:solidFill>
                  <a:srgbClr val="4C5D69"/>
                </a:solidFill>
              </a:rPr>
              <a:t>The datasource reference, its alias and the schema's datasource id. The organization path and the destination folder. The tenant root the importer resolves against. Permissions are left to inherit from the folder. When the server version changed, the Ad Hoc topics were repaired by the same path.</a:t>
            </a:r>
          </a:p>
        </p:txBody>
      </p:sp>
      <p:sp>
        <p:nvSpPr>
          <p:cNvPr id="14" name="Rounded Rectangle 13"/>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Root login on every server; prod writes need an explicit prod flag</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2" name="Rounded Rectangle 21"/>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3" name="Rounded Rectangle 22"/>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4" name="Rounded Rectangle 23"/>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5" name="Rounded Rectangle 24"/>
          <p:cNvSpPr/>
          <p:nvPr/>
        </p:nvSpPr>
        <p:spPr>
          <a:xfrm>
            <a:off x="10506456" y="8503920"/>
            <a:ext cx="348843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connection unchanged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rewritten</a:t>
            </a:r>
          </a:p>
          <a:p>
            <a:pPr algn="l">
              <a:spcAft>
                <a:spcPts val="600"/>
              </a:spcAft>
            </a:pPr>
            <a:r>
              <a:rPr sz="2100" b="0">
                <a:solidFill>
                  <a:srgbClr val="4C5D69"/>
                </a:solidFill>
              </a:rPr>
              <a:t>•  Every absolute repository path from the source org to the target org, longest path first so a folder never clips a file</a:t>
            </a:r>
          </a:p>
          <a:p>
            <a:pPr algn="l">
              <a:spcAft>
                <a:spcPts val="600"/>
              </a:spcAft>
            </a:pPr>
            <a:r>
              <a:rPr sz="2100" b="0">
                <a:solidFill>
                  <a:srgbClr val="4C5D69"/>
                </a:solidFill>
              </a:rPr>
              <a:t>•  The destination folder, so a resource can land somewhere other than where it came from</a:t>
            </a:r>
          </a:p>
          <a:p>
            <a:pPr algn="l">
              <a:spcAft>
                <a:spcPts val="600"/>
              </a:spcAft>
            </a:pPr>
            <a:r>
              <a:rPr sz="2100" b="0">
                <a:solidFill>
                  <a:srgbClr val="4C5D69"/>
                </a:solidFill>
              </a:rPr>
              <a:t>•  The datasource reference in every report, view and domain, plus the alias and schema id inside the domain XML</a:t>
            </a:r>
          </a:p>
          <a:p>
            <a:pPr algn="l">
              <a:spcAft>
                <a:spcPts val="600"/>
              </a:spcAft>
            </a:pPr>
            <a:r>
              <a:rPr sz="2100" b="0">
                <a:solidFill>
                  <a:srgbClr val="4C5D69"/>
                </a:solidFill>
              </a:rPr>
              <a:t>•  The tenant root in the package index so the importer resolves references against the right org</a:t>
            </a:r>
          </a:p>
          <a:p>
            <a:pPr algn="l">
              <a:spcAft>
                <a:spcPts val="600"/>
              </a:spcAft>
            </a:pPr>
            <a:r>
              <a:rPr sz="2100" b="0">
                <a:solidFill>
                  <a:srgbClr val="4C5D69"/>
                </a:solidFill>
              </a:rPr>
              <a:t>•  Nothing else: the rewrite is a list of tested replacements, not a free-text edit</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verified</a:t>
            </a:r>
          </a:p>
          <a:p>
            <a:pPr algn="l">
              <a:spcAft>
                <a:spcPts val="600"/>
              </a:spcAft>
            </a:pPr>
            <a:r>
              <a:rPr sz="2100" b="0">
                <a:solidFill>
                  <a:srgbClr val="4C5D69"/>
                </a:solidFill>
              </a:rPr>
              <a:t>•  No string from the source server, source org or source datasource remains anywhere in the package</a:t>
            </a:r>
          </a:p>
          <a:p>
            <a:pPr algn="l">
              <a:spcAft>
                <a:spcPts val="600"/>
              </a:spcAft>
            </a:pPr>
            <a:r>
              <a:rPr sz="2100" b="0">
                <a:solidFill>
                  <a:srgbClr val="4C5D69"/>
                </a:solidFill>
              </a:rPr>
              <a:t>•  Every reference a resource makes to something outside the package already exists on the target</a:t>
            </a:r>
          </a:p>
          <a:p>
            <a:pPr algn="l">
              <a:spcAft>
                <a:spcPts val="600"/>
              </a:spcAft>
            </a:pPr>
            <a:r>
              <a:rPr sz="2100" b="0">
                <a:solidFill>
                  <a:srgbClr val="4C5D69"/>
                </a:solidFill>
              </a:rPr>
              <a:t>•  Every field an Ad Hoc view uses resolves to an item in its domain, at any nesting depth</a:t>
            </a:r>
          </a:p>
          <a:p>
            <a:pPr algn="l">
              <a:spcAft>
                <a:spcPts val="600"/>
              </a:spcAft>
            </a:pPr>
            <a:r>
              <a:rPr sz="2100" b="0">
                <a:solidFill>
                  <a:srgbClr val="4C5D69"/>
                </a:solidFill>
              </a:rPr>
              <a:t>•  The target datasource in the package is byte-identical to the target's own export of it</a:t>
            </a:r>
          </a:p>
          <a:p>
            <a:pPr algn="l">
              <a:spcAft>
                <a:spcPts val="600"/>
              </a:spcAft>
            </a:pPr>
            <a:r>
              <a:rPr sz="2100" b="0">
                <a:solidFill>
                  <a:srgbClr val="4C5D69"/>
                </a:solidFill>
              </a:rPr>
              <a:t>•  The org path guard only fires when the two roots differ, so the same org on two servers is allowed</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executed</a:t>
            </a:r>
          </a:p>
          <a:p>
            <a:pPr algn="l">
              <a:spcAft>
                <a:spcPts val="600"/>
              </a:spcAft>
            </a:pPr>
            <a:r>
              <a:rPr sz="2100" b="0">
                <a:solidFill>
                  <a:srgbClr val="4C5D69"/>
                </a:solidFill>
              </a:rPr>
              <a:t>•  Each Ad Hoc view is run through the query engine and must return without error</a:t>
            </a:r>
          </a:p>
          <a:p>
            <a:pPr algn="l">
              <a:spcAft>
                <a:spcPts val="600"/>
              </a:spcAft>
            </a:pPr>
            <a:r>
              <a:rPr sz="2100" b="0">
                <a:solidFill>
                  <a:srgbClr val="4C5D69"/>
                </a:solidFill>
              </a:rPr>
              <a:t>•  Each report is rendered to PDF with its default parameters</a:t>
            </a:r>
          </a:p>
          <a:p>
            <a:pPr algn="l">
              <a:spcAft>
                <a:spcPts val="600"/>
              </a:spcAft>
            </a:pPr>
            <a:r>
              <a:rPr sz="2100" b="0">
                <a:solidFill>
                  <a:srgbClr val="4C5D69"/>
                </a:solidFill>
              </a:rPr>
              <a:t>•  Each domain is read for its metadata and probed with a query on its root set</a:t>
            </a:r>
          </a:p>
          <a:p>
            <a:pPr algn="l">
              <a:spcAft>
                <a:spcPts val="600"/>
              </a:spcAft>
            </a:pPr>
            <a:r>
              <a:rPr sz="2100" b="0">
                <a:solidFill>
                  <a:srgbClr val="4C5D69"/>
                </a:solidFill>
              </a:rPr>
              <a:t>•  The sweep classifies every resource PASS, EMPTY, SLOW or FAIL with its timing</a:t>
            </a:r>
          </a:p>
          <a:p>
            <a:pPr algn="l">
              <a:spcAft>
                <a:spcPts val="600"/>
              </a:spcAft>
            </a:pPr>
            <a:r>
              <a:rPr sz="2100" b="0">
                <a:solidFill>
                  <a:srgbClr val="4C5D69"/>
                </a:solidFill>
              </a:rPr>
              <a:t>•  The re-export after import is compared to the package byte for byte, stamps excluded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Automations</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4" name="Table 3"/>
          <p:cNvGraphicFramePr>
            <a:graphicFrameLocks noGrp="1"/>
          </p:cNvGraphicFramePr>
          <p:nvPr/>
        </p:nvGraphicFramePr>
        <p:xfrm>
          <a:off x="740664" y="1828800"/>
          <a:ext cx="18653760" cy="7772400"/>
        </p:xfrm>
        <a:graphic>
          <a:graphicData uri="http://schemas.openxmlformats.org/drawingml/2006/table">
            <a:tbl>
              <a:tblPr firstRow="1" bandRow="1">
                <a:tableStyleId>{5C22544A-7EE6-4342-B048-85BDC9FD1C3A}</a:tableStyleId>
              </a:tblPr>
              <a:tblGrid>
                <a:gridCol w="4206240"/>
                <a:gridCol w="8595360"/>
                <a:gridCol w="5852160"/>
              </a:tblGrid>
              <a:tr h="777240">
                <a:tc>
                  <a:txBody>
                    <a:bodyPr wrap="square" anchor="ctr" lIns="137160" rIns="137160" tIns="54864" bIns="54864"/>
                    <a:lstStyle/>
                    <a:p>
                      <a:pPr algn="l">
                        <a:spcAft>
                          <a:spcPts val="600"/>
                        </a:spcAft>
                      </a:pPr>
                      <a:r>
                        <a:rPr sz="2200" b="1">
                          <a:solidFill>
                            <a:srgbClr val="F5EFE9"/>
                          </a:solidFill>
                        </a:rPr>
                        <a:t>Automation</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does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proves</a:t>
                      </a:r>
                    </a:p>
                  </a:txBody>
                  <a:tcPr>
                    <a:solidFill>
                      <a:srgbClr val="0B3D7A"/>
                    </a:solidFill>
                  </a:tcPr>
                </a:tc>
              </a:tr>
              <a:tr h="777240">
                <a:tc>
                  <a:txBody>
                    <a:bodyPr wrap="square" anchor="ctr" lIns="137160" rIns="137160" tIns="54864" bIns="54864"/>
                    <a:lstStyle/>
                    <a:p>
                      <a:pPr algn="l">
                        <a:spcAft>
                          <a:spcPts val="600"/>
                        </a:spcAft>
                      </a:pPr>
                      <a:r>
                        <a:rPr sz="1900" b="1">
                          <a:solidFill>
                            <a:srgbClr val="0B3D7A"/>
                          </a:solidFill>
                        </a:rPr>
                        <a:t>Snapshot runner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one deployment step for one client as the deploy user, logging every statement; compound steps pair a stage with its validation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Every step has a log and a gate; nothing moves on unvalidated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Prod rollout wrapper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the whole prod sequence, steps 1 to 8, and stops at the first failed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client is deployed the same way every time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Baseline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Polls the database scheduler until every baseline job reports SUCCEEDED</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No table is used before its load finished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Install and parity gates</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Row counts, monthly totals, duplicate keys, aged-balance buckets against the source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The tables match CISADM before they are scheduled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Repository inventory</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Snapshots every resource on an org before a change and diffs after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rollback record and proof nothing else moved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Promotion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Exports, rewrites, verifies, imports, re-exports, executes any resource from any org to any org</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Seven proofs, and prod only with an explicit flag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Domain patch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Applies an additive change to a domain on many orgs, refusing any change that alters what is there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Read-back byte-equal, bound views run, rows tie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Sweep</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Executes every view, report and dashboard in a folder and classifies each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PASS, EMPTY, SLOW or FAIL per resource with timing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Sign-off builder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Turns the sweep evidence into the validation document</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One document per org, identical structure every time</a:t>
                      </a:r>
                    </a:p>
                  </a:txBody>
                  <a:tcPr>
                    <a:solidFill>
                      <a:srgbClr val="F5EFE9"/>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Runs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Instruction</a:t>
            </a:r>
          </a:p>
          <a:p>
            <a:pPr algn="l">
              <a:spcAft>
                <a:spcPts val="600"/>
              </a:spcAft>
            </a:pPr>
            <a:r>
              <a:rPr sz="2000" b="0">
                <a:solidFill>
                  <a:srgbClr val="4C5D69"/>
                </a:solidFill>
              </a:rPr>
              <a:t>Chase names the org, the change and the environment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Skills load</a:t>
            </a:r>
          </a:p>
          <a:p>
            <a:pPr algn="l">
              <a:spcAft>
                <a:spcPts val="600"/>
              </a:spcAft>
            </a:pPr>
            <a:r>
              <a:rPr sz="2000" b="0">
                <a:solidFill>
                  <a:srgbClr val="4C5D69"/>
                </a:solidFill>
              </a:rPr>
              <a:t>runbooks, measured facts and dated lessons for that task</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Tool runs</a:t>
            </a:r>
          </a:p>
          <a:p>
            <a:pPr algn="l">
              <a:spcAft>
                <a:spcPts val="600"/>
              </a:spcAft>
            </a:pPr>
            <a:r>
              <a:rPr sz="2000" b="0">
                <a:solidFill>
                  <a:srgbClr val="4C5D69"/>
                </a:solidFill>
              </a:rPr>
              <a:t>export, patch, build, promote, sweep, with a dry run first</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Proof printed</a:t>
            </a:r>
          </a:p>
          <a:p>
            <a:pPr algn="l">
              <a:spcAft>
                <a:spcPts val="600"/>
              </a:spcAft>
            </a:pPr>
            <a:r>
              <a:rPr sz="2000" b="0">
                <a:solidFill>
                  <a:srgbClr val="4C5D69"/>
                </a:solidFill>
              </a:rPr>
              <a:t>or the step stops and names the rollback</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updated</a:t>
            </a:r>
          </a:p>
          <a:p>
            <a:pPr algn="l">
              <a:spcAft>
                <a:spcPts val="600"/>
              </a:spcAft>
            </a:pPr>
            <a:r>
              <a:rPr sz="2000" b="0">
                <a:solidFill>
                  <a:srgbClr val="4C5D69"/>
                </a:solidFill>
              </a:rPr>
              <a:t>the new fact, with its number, in the same session</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runs</a:t>
            </a:r>
          </a:p>
          <a:p>
            <a:pPr algn="l">
              <a:spcAft>
                <a:spcPts val="600"/>
              </a:spcAft>
            </a:pPr>
            <a:r>
              <a:rPr sz="1600" b="0">
                <a:solidFill>
                  <a:srgbClr val="4C5D69"/>
                </a:solidFill>
              </a:rPr>
              <a:t>builds, promotions, domain patches, sweeps, sign-off documents, diagnostics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knows</a:t>
            </a:r>
          </a:p>
          <a:p>
            <a:pPr algn="l">
              <a:spcAft>
                <a:spcPts val="600"/>
              </a:spcAft>
            </a:pPr>
            <a:r>
              <a:rPr sz="1600" b="0">
                <a:solidFill>
                  <a:srgbClr val="4C5D69"/>
                </a:solidFill>
              </a:rPr>
              <a:t>C2M joins and cardinalities, the server estate, every dated lesson</a:t>
            </a:r>
          </a:p>
        </p:txBody>
      </p:sp>
      <p:sp>
        <p:nvSpPr>
          <p:cNvPr id="12" name="Rounded Rectangle 11"/>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never does</a:t>
            </a:r>
          </a:p>
          <a:p>
            <a:pPr algn="l">
              <a:spcAft>
                <a:spcPts val="600"/>
              </a:spcAft>
            </a:pPr>
            <a:r>
              <a:rPr sz="1600" b="0">
                <a:solidFill>
                  <a:srgbClr val="4C5D69"/>
                </a:solidFill>
              </a:rPr>
              <a:t>write to prod unasked, print a credential, guess a client code</a:t>
            </a:r>
          </a:p>
        </p:txBody>
      </p:sp>
      <p:sp>
        <p:nvSpPr>
          <p:cNvPr id="13" name="Rounded Rectangle 12"/>
          <p:cNvSpPr/>
          <p:nvPr/>
        </p:nvSpPr>
        <p:spPr>
          <a:xfrm>
            <a:off x="13286232" y="3502152"/>
            <a:ext cx="109728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guardrail</a:t>
            </a:r>
          </a:p>
        </p:txBody>
      </p:sp>
      <p:sp>
        <p:nvSpPr>
          <p:cNvPr id="14" name="Rounded Rectangle 13"/>
          <p:cNvSpPr/>
          <p:nvPr/>
        </p:nvSpPr>
        <p:spPr>
          <a:xfrm>
            <a:off x="740664" y="5806440"/>
            <a:ext cx="13716000" cy="11887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Guardrails live in the tools, not in the conversation</a:t>
            </a:r>
          </a:p>
          <a:p>
            <a:pPr algn="l">
              <a:spcAft>
                <a:spcPts val="600"/>
              </a:spcAft>
            </a:pPr>
            <a:r>
              <a:rPr sz="1600" b="0">
                <a:solidFill>
                  <a:srgbClr val="4C5D69"/>
                </a:solidFill>
              </a:rPr>
              <a:t>An explicit confirm on every write. A separate flag before any prod write. Oracle access read-only, with prod disabled. Domain changes additive only. Credentials resolved from the environment and never printed. Each rule is enforced by the tool, so it holds no matter who runs it.</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303 of 379 commits in one repo, 255 of 351 in the other</a:t>
            </a:r>
          </a:p>
        </p:txBody>
      </p:sp>
      <p:sp>
        <p:nvSpPr>
          <p:cNvPr id="16" name="Rounded Rectangle 15"/>
          <p:cNvSpPr/>
          <p:nvPr/>
        </p:nvSpPr>
        <p:spPr>
          <a:xfrm>
            <a:off x="15435072" y="7132320"/>
            <a:ext cx="3931920" cy="109728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Human-only today</a:t>
            </a:r>
          </a:p>
          <a:p>
            <a:pPr algn="l">
              <a:spcAft>
                <a:spcPts val="600"/>
              </a:spcAft>
            </a:pPr>
            <a:r>
              <a:rPr sz="2000" b="0">
                <a:solidFill>
                  <a:srgbClr val="4C5D69"/>
                </a:solidFill>
              </a:rPr>
              <a:t>Ad Hoc designer checks, users, themes, server config</a:t>
            </a:r>
          </a:p>
        </p:txBody>
      </p:sp>
      <p:sp>
        <p:nvSpPr>
          <p:cNvPr id="17" name="Rounded Rectangle 16"/>
          <p:cNvSpPr/>
          <p:nvPr/>
        </p:nvSpPr>
        <p:spPr>
          <a:xfrm>
            <a:off x="18544031" y="674827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human</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607808" y="1810512"/>
            <a:ext cx="12234672"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07808"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loop: what a session learns goes back into the skills the next session loads.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Results, Measured</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4" name="Rounded Rectangle 3"/>
          <p:cNvSpPr/>
          <p:nvPr/>
        </p:nvSpPr>
        <p:spPr>
          <a:xfrm>
            <a:off x="740664"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100%</a:t>
            </a:r>
          </a:p>
          <a:p>
            <a:pPr algn="l">
              <a:spcAft>
                <a:spcPts val="600"/>
              </a:spcAft>
            </a:pPr>
            <a:r>
              <a:rPr sz="1800" b="0">
                <a:solidFill>
                  <a:srgbClr val="4C5D69"/>
                </a:solidFill>
              </a:rPr>
              <a:t>138,086 of 138,086 SA balances tie to the cent</a:t>
            </a:r>
          </a:p>
          <a:p>
            <a:pPr algn="l">
              <a:spcAft>
                <a:spcPts val="600"/>
              </a:spcAft>
            </a:pPr>
            <a:r>
              <a:rPr sz="3000" b="1">
                <a:solidFill>
                  <a:srgbClr val="0B3D7A"/>
                </a:solidFill>
              </a:rPr>
              <a:t>Snapshots on prod</a:t>
            </a:r>
          </a:p>
          <a:p>
            <a:pPr algn="l">
              <a:spcAft>
                <a:spcPts val="600"/>
              </a:spcAft>
            </a:pPr>
            <a:r>
              <a:rPr sz="2200" b="0">
                <a:solidFill>
                  <a:srgbClr val="4C5D69"/>
                </a:solidFill>
              </a:rPr>
              <a:t>Ellensburg, CityCorp, College Station, Newark refreshed twice daily</a:t>
            </a:r>
          </a:p>
          <a:p>
            <a:pPr algn="l">
              <a:spcAft>
                <a:spcPts val="600"/>
              </a:spcAft>
            </a:pPr>
            <a:r>
              <a:rPr sz="2200" b="0">
                <a:solidFill>
                  <a:srgbClr val="4C5D69"/>
                </a:solidFill>
              </a:rPr>
              <a:t>Baselines run as parallel jobs, gated, unattended</a:t>
            </a:r>
          </a:p>
        </p:txBody>
      </p:sp>
      <p:sp>
        <p:nvSpPr>
          <p:cNvPr id="5" name="Rounded Rectangle 4"/>
          <p:cNvSpPr/>
          <p:nvPr/>
        </p:nvSpPr>
        <p:spPr>
          <a:xfrm>
            <a:off x="711098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11 min</a:t>
            </a:r>
          </a:p>
          <a:p>
            <a:pPr algn="l">
              <a:spcAft>
                <a:spcPts val="600"/>
              </a:spcAft>
            </a:pPr>
            <a:r>
              <a:rPr sz="1800" b="0">
                <a:solidFill>
                  <a:srgbClr val="4C5D69"/>
                </a:solidFill>
              </a:rPr>
              <a:t>Ellensburg, test org to prod org, 0 errors</a:t>
            </a:r>
          </a:p>
          <a:p>
            <a:pPr algn="l">
              <a:spcAft>
                <a:spcPts val="600"/>
              </a:spcAft>
            </a:pPr>
            <a:r>
              <a:rPr sz="3000" b="1">
                <a:solidFill>
                  <a:srgbClr val="0B3D7A"/>
                </a:solidFill>
              </a:rPr>
              <a:t>Standard Offering to prod</a:t>
            </a:r>
          </a:p>
          <a:p>
            <a:pPr algn="l">
              <a:spcAft>
                <a:spcPts val="600"/>
              </a:spcAft>
            </a:pPr>
            <a:r>
              <a:rPr sz="2200" b="0">
                <a:solidFill>
                  <a:srgbClr val="4C5D69"/>
                </a:solidFill>
              </a:rPr>
              <a:t>Newark 21 minutes, 0 errors</a:t>
            </a:r>
          </a:p>
          <a:p>
            <a:pPr algn="l">
              <a:spcAft>
                <a:spcPts val="600"/>
              </a:spcAft>
            </a:pPr>
            <a:r>
              <a:rPr sz="2200" b="0">
                <a:solidFill>
                  <a:srgbClr val="4C5D69"/>
                </a:solidFill>
              </a:rPr>
              <a:t>116 ok, 7 empty, 27 slow on the first sweep</a:t>
            </a:r>
          </a:p>
          <a:p>
            <a:pPr algn="l">
              <a:spcAft>
                <a:spcPts val="600"/>
              </a:spcAft>
            </a:pPr>
            <a:r>
              <a:rPr sz="2200" b="0">
                <a:solidFill>
                  <a:srgbClr val="4C5D69"/>
                </a:solidFill>
              </a:rPr>
              <a:t>596 report units kept loading through the server upgrade</a:t>
            </a:r>
          </a:p>
        </p:txBody>
      </p:sp>
      <p:sp>
        <p:nvSpPr>
          <p:cNvPr id="6" name="Rounded Rectangle 5"/>
          <p:cNvSpPr/>
          <p:nvPr/>
        </p:nvSpPr>
        <p:spPr>
          <a:xfrm>
            <a:off x="1348130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6 orgs</a:t>
            </a:r>
          </a:p>
          <a:p>
            <a:pPr algn="l">
              <a:spcAft>
                <a:spcPts val="600"/>
              </a:spcAft>
            </a:pPr>
            <a:r>
              <a:rPr sz="1800" b="0">
                <a:solidFill>
                  <a:srgbClr val="4C5D69"/>
                </a:solidFill>
              </a:rPr>
              <a:t>one domain change, seven proofs each, in an afternoon</a:t>
            </a:r>
          </a:p>
          <a:p>
            <a:pPr algn="l">
              <a:spcAft>
                <a:spcPts val="600"/>
              </a:spcAft>
            </a:pPr>
            <a:r>
              <a:rPr sz="3000" b="1">
                <a:solidFill>
                  <a:srgbClr val="0B3D7A"/>
                </a:solidFill>
              </a:rPr>
              <a:t>Day-to-day changes</a:t>
            </a:r>
          </a:p>
          <a:p>
            <a:pPr algn="l">
              <a:spcAft>
                <a:spcPts val="600"/>
              </a:spcAft>
            </a:pPr>
            <a:r>
              <a:rPr sz="2200" b="0">
                <a:solidFill>
                  <a:srgbClr val="4C5D69"/>
                </a:solidFill>
              </a:rPr>
              <a:t>21 College Station reports prod to test in a morning</a:t>
            </a:r>
          </a:p>
          <a:p>
            <a:pPr algn="l">
              <a:spcAft>
                <a:spcPts val="600"/>
              </a:spcAft>
            </a:pPr>
            <a:r>
              <a:rPr sz="2200" b="0">
                <a:solidFill>
                  <a:srgbClr val="4C5D69"/>
                </a:solidFill>
              </a:rPr>
              <a:t>111 views repaired the morning prod went to 10.0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One Sweep, Read Closely</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Chart 4"/>
          <p:cNvGraphicFramePr>
            <a:graphicFrameLocks noGrp="1"/>
          </p:cNvGraphicFramePr>
          <p:nvPr/>
        </p:nvGraphicFramePr>
        <p:xfrm>
          <a:off x="740664" y="1828800"/>
          <a:ext cx="8595360" cy="8229600"/>
        </p:xfrm>
        <a:graphic>
          <a:graphicData uri="http://schemas.openxmlformats.org/drawingml/2006/chart">
            <c:chart xmlns:c="http://schemas.openxmlformats.org/drawingml/2006/chart" r:id="rId2"/>
          </a:graphicData>
        </a:graphic>
      </p:graphicFrame>
      <p:sp>
        <p:nvSpPr>
          <p:cNvPr id="6" name="Rounded Rectangle 5"/>
          <p:cNvSpPr/>
          <p:nvPr/>
        </p:nvSpPr>
        <p:spPr>
          <a:xfrm>
            <a:off x="9875520" y="2103120"/>
            <a:ext cx="2377440" cy="502920"/>
          </a:xfrm>
          <a:prstGeom prst="roundRect">
            <a:avLst>
              <a:gd name="adj" fmla="val 35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OK  116</a:t>
            </a:r>
          </a:p>
        </p:txBody>
      </p:sp>
      <p:sp>
        <p:nvSpPr>
          <p:cNvPr id="7" name="TextBox 6"/>
          <p:cNvSpPr txBox="1"/>
          <p:nvPr/>
        </p:nvSpPr>
        <p:spPr>
          <a:xfrm>
            <a:off x="12435840" y="2103120"/>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inside the time limit</a:t>
            </a:r>
          </a:p>
        </p:txBody>
      </p:sp>
      <p:sp>
        <p:nvSpPr>
          <p:cNvPr id="8" name="Rounded Rectangle 7"/>
          <p:cNvSpPr/>
          <p:nvPr/>
        </p:nvSpPr>
        <p:spPr>
          <a:xfrm>
            <a:off x="9875520" y="2834639"/>
            <a:ext cx="2377440" cy="502920"/>
          </a:xfrm>
          <a:prstGeom prst="roundRect">
            <a:avLst>
              <a:gd name="adj" fmla="val 35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Slow  27</a:t>
            </a:r>
          </a:p>
        </p:txBody>
      </p:sp>
      <p:sp>
        <p:nvSpPr>
          <p:cNvPr id="9" name="TextBox 8"/>
          <p:cNvSpPr txBox="1"/>
          <p:nvPr/>
        </p:nvSpPr>
        <p:spPr>
          <a:xfrm>
            <a:off x="12435840" y="283463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but took over a minute: a tuning list, not a failure</a:t>
            </a:r>
          </a:p>
        </p:txBody>
      </p:sp>
      <p:sp>
        <p:nvSpPr>
          <p:cNvPr id="10" name="Rounded Rectangle 9"/>
          <p:cNvSpPr/>
          <p:nvPr/>
        </p:nvSpPr>
        <p:spPr>
          <a:xfrm>
            <a:off x="9875520" y="3566159"/>
            <a:ext cx="23774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Empty  7</a:t>
            </a:r>
          </a:p>
        </p:txBody>
      </p:sp>
      <p:sp>
        <p:nvSpPr>
          <p:cNvPr id="11" name="TextBox 10"/>
          <p:cNvSpPr txBox="1"/>
          <p:nvPr/>
        </p:nvSpPr>
        <p:spPr>
          <a:xfrm>
            <a:off x="12435840" y="356615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without error and returned no rows: the client has no data there yet</a:t>
            </a:r>
          </a:p>
        </p:txBody>
      </p:sp>
      <p:sp>
        <p:nvSpPr>
          <p:cNvPr id="12" name="Rounded Rectangle 11"/>
          <p:cNvSpPr/>
          <p:nvPr/>
        </p:nvSpPr>
        <p:spPr>
          <a:xfrm>
            <a:off x="9875520" y="4297679"/>
            <a:ext cx="2377440" cy="502920"/>
          </a:xfrm>
          <a:prstGeom prst="roundRect">
            <a:avLst>
              <a:gd name="adj" fmla="val 35000"/>
            </a:avLst>
          </a:prstGeom>
          <a:solidFill>
            <a:srgbClr val="1D6F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F5EFE9"/>
                </a:solidFill>
              </a:rPr>
              <a:t>Failed  0</a:t>
            </a:r>
          </a:p>
        </p:txBody>
      </p:sp>
      <p:sp>
        <p:nvSpPr>
          <p:cNvPr id="13" name="TextBox 12"/>
          <p:cNvSpPr txBox="1"/>
          <p:nvPr/>
        </p:nvSpPr>
        <p:spPr>
          <a:xfrm>
            <a:off x="12435840" y="429767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did not run; there were none</a:t>
            </a:r>
          </a:p>
        </p:txBody>
      </p:sp>
      <p:sp>
        <p:nvSpPr>
          <p:cNvPr id="14" name="Rounded Rectangle 13"/>
          <p:cNvSpPr/>
          <p:nvPr/>
        </p:nvSpPr>
        <p:spPr>
          <a:xfrm>
            <a:off x="9875520" y="5394959"/>
            <a:ext cx="9509760" cy="23774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54864" bIns="54864"/>
          <a:lstStyle/>
          <a:p>
            <a:pPr algn="l">
              <a:spcAft>
                <a:spcPts val="600"/>
              </a:spcAft>
            </a:pPr>
            <a:r>
              <a:rPr sz="4800" b="1">
                <a:solidFill>
                  <a:srgbClr val="0B3D7A"/>
                </a:solidFill>
              </a:rPr>
              <a:t>150 resources, 0 failures</a:t>
            </a:r>
          </a:p>
          <a:p>
            <a:pPr algn="l">
              <a:spcAft>
                <a:spcPts val="600"/>
              </a:spcAft>
            </a:pPr>
            <a:r>
              <a:rPr sz="1800" b="0">
                <a:solidFill>
                  <a:srgbClr val="4C5D69"/>
                </a:solidFill>
              </a:rPr>
              <a:t>Ellensburg prod, the Standard Offering, 11 minutes end to end; the same sweep runs after every promotion and every domain patch</a:t>
            </a:r>
          </a:p>
        </p:txBody>
      </p:sp>
      <p:sp>
        <p:nvSpPr>
          <p:cNvPr id="15" name="TextBox 14"/>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Every sweep is classified the same way, so two sweeps of the same org can be compared row by row.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Constraint Today, And What Replaces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Manual QA now</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Next: Playwright, and agents on the network (Shankar)</a:t>
            </a:r>
          </a:p>
        </p:txBody>
      </p:sp>
      <p:sp>
        <p:nvSpPr>
          <p:cNvPr id="7" name="Rounded Rectangle 6"/>
          <p:cNvSpPr/>
          <p:nvPr/>
        </p:nvSpPr>
        <p:spPr>
          <a:xfrm>
            <a:off x="740664"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Opening each Ad Hoc view in the designer by hand: the API says 'ok' but only the editor shows a broken topic</a:t>
            </a:r>
          </a:p>
        </p:txBody>
      </p:sp>
      <p:sp>
        <p:nvSpPr>
          <p:cNvPr id="8" name="Rounded Rectangle 7"/>
          <p:cNvSpPr/>
          <p:nvPr/>
        </p:nvSpPr>
        <p:spPr>
          <a:xfrm>
            <a:off x="10607040"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signs in, opens every view and dashboard, screenshots it and asserts no error in the page or console</a:t>
            </a:r>
          </a:p>
          <a:p>
            <a:pPr algn="l">
              <a:spcAft>
                <a:spcPts val="600"/>
              </a:spcAft>
            </a:pPr>
            <a:r>
              <a:rPr sz="1500" b="0">
                <a:solidFill>
                  <a:srgbClr val="4C5D69"/>
                </a:solidFill>
              </a:rPr>
              <a:t>a pass list per org after every promotion</a:t>
            </a:r>
          </a:p>
        </p:txBody>
      </p:sp>
      <p:cxnSp>
        <p:nvCxnSpPr>
          <p:cNvPr id="9" name="Connector 8"/>
          <p:cNvCxnSpPr/>
          <p:nvPr/>
        </p:nvCxnSpPr>
        <p:spPr>
          <a:xfrm>
            <a:off x="9646920" y="32232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Dashboards and themes checked by eye after formatting changes</a:t>
            </a:r>
          </a:p>
        </p:txBody>
      </p:sp>
      <p:sp>
        <p:nvSpPr>
          <p:cNvPr id="11" name="Rounded Rectangle 10"/>
          <p:cNvSpPr/>
          <p:nvPr/>
        </p:nvSpPr>
        <p:spPr>
          <a:xfrm>
            <a:off x="10607040"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reads computed styles and element positions and diffs them against the last good render</a:t>
            </a:r>
          </a:p>
          <a:p>
            <a:pPr algn="l">
              <a:spcAft>
                <a:spcPts val="600"/>
              </a:spcAft>
            </a:pPr>
            <a:r>
              <a:rPr sz="1500" b="0">
                <a:solidFill>
                  <a:srgbClr val="4C5D69"/>
                </a:solidFill>
              </a:rPr>
              <a:t>measured, not eyeballed</a:t>
            </a:r>
          </a:p>
        </p:txBody>
      </p:sp>
      <p:cxnSp>
        <p:nvCxnSpPr>
          <p:cNvPr id="12" name="Connector 11"/>
          <p:cNvCxnSpPr/>
          <p:nvPr/>
        </p:nvCxnSpPr>
        <p:spPr>
          <a:xfrm>
            <a:off x="9646920" y="48234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Nightly builds and sweeps skip when the laptop is off the network: 93% of runs in the last 30 days</a:t>
            </a:r>
          </a:p>
        </p:txBody>
      </p:sp>
      <p:sp>
        <p:nvSpPr>
          <p:cNvPr id="14" name="Rounded Rectangle 13"/>
          <p:cNvSpPr/>
          <p:nvPr/>
        </p:nvSpPr>
        <p:spPr>
          <a:xfrm>
            <a:off x="10607040"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AI agents hosted in the cloud on the same network run the nightlies, the sweeps and the parity checks continuously; the hosting is Shankar's</a:t>
            </a:r>
          </a:p>
          <a:p>
            <a:pPr algn="l">
              <a:spcAft>
                <a:spcPts val="600"/>
              </a:spcAft>
            </a:pPr>
            <a:r>
              <a:rPr sz="1500" b="0">
                <a:solidFill>
                  <a:srgbClr val="4C5D69"/>
                </a:solidFill>
              </a:rPr>
              <a:t>no run depends on a person being connected</a:t>
            </a:r>
          </a:p>
        </p:txBody>
      </p:sp>
      <p:cxnSp>
        <p:nvCxnSpPr>
          <p:cNvPr id="15" name="Connector 14"/>
          <p:cNvCxnSpPr/>
          <p:nvPr/>
        </p:nvCxnSpPr>
        <p:spPr>
          <a:xfrm>
            <a:off x="9646920" y="64236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Sign-off documents assembled when someone asks</a:t>
            </a:r>
          </a:p>
        </p:txBody>
      </p:sp>
      <p:sp>
        <p:nvSpPr>
          <p:cNvPr id="17" name="Rounded Rectangle 16"/>
          <p:cNvSpPr/>
          <p:nvPr/>
        </p:nvSpPr>
        <p:spPr>
          <a:xfrm>
            <a:off x="10607040"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Continual monitoring: every change swept, every org validated, an alert on the first red row</a:t>
            </a:r>
          </a:p>
          <a:p>
            <a:pPr algn="l">
              <a:spcAft>
                <a:spcPts val="600"/>
              </a:spcAft>
            </a:pPr>
            <a:r>
              <a:rPr sz="1500" b="0">
                <a:solidFill>
                  <a:srgbClr val="4C5D69"/>
                </a:solidFill>
              </a:rPr>
              <a:t>the sign-off is always current</a:t>
            </a:r>
          </a:p>
        </p:txBody>
      </p:sp>
      <p:cxnSp>
        <p:nvCxnSpPr>
          <p:cNvPr id="18" name="Connector 17"/>
          <p:cNvCxnSpPr/>
          <p:nvPr/>
        </p:nvCxnSpPr>
        <p:spPr>
          <a:xfrm>
            <a:off x="9646920" y="80238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Roadmap</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6099048"/>
            <a:ext cx="3465576" cy="2834640"/>
          </a:xfrm>
          <a:prstGeom prst="roundRect">
            <a:avLst>
              <a:gd name="adj" fmla="val 1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Fond du Lac and College Station prod</a:t>
            </a:r>
          </a:p>
          <a:p>
            <a:pPr algn="l">
              <a:spcAft>
                <a:spcPts val="600"/>
              </a:spcAft>
            </a:pPr>
            <a:r>
              <a:rPr sz="1800" b="0">
                <a:solidFill>
                  <a:srgbClr val="0B3D7A"/>
                </a:solidFill>
              </a:rPr>
              <a:t>Chase, with the clients</a:t>
            </a:r>
          </a:p>
          <a:p>
            <a:pPr algn="l">
              <a:spcAft>
                <a:spcPts val="600"/>
              </a:spcAft>
            </a:pPr>
            <a:r>
              <a:rPr sz="1800" b="0">
                <a:solidFill>
                  <a:srgbClr val="0B3D7A"/>
                </a:solidFill>
              </a:rPr>
              <a:t>the Standard Offering on every prod org, in the coming weeks</a:t>
            </a:r>
          </a:p>
        </p:txBody>
      </p:sp>
      <p:sp>
        <p:nvSpPr>
          <p:cNvPr id="6" name="Oval 5"/>
          <p:cNvSpPr/>
          <p:nvPr/>
        </p:nvSpPr>
        <p:spPr>
          <a:xfrm>
            <a:off x="2061972" y="4864608"/>
            <a:ext cx="822960" cy="822960"/>
          </a:xfrm>
          <a:prstGeom prst="ellipse">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1</a:t>
            </a:r>
          </a:p>
        </p:txBody>
      </p:sp>
      <p:sp>
        <p:nvSpPr>
          <p:cNvPr id="7" name="Rounded Rectangle 6"/>
          <p:cNvSpPr/>
          <p:nvPr/>
        </p:nvSpPr>
        <p:spPr>
          <a:xfrm>
            <a:off x="453542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Playwright UI QA</a:t>
            </a:r>
          </a:p>
          <a:p>
            <a:pPr algn="l">
              <a:spcAft>
                <a:spcPts val="600"/>
              </a:spcAft>
            </a:pPr>
            <a:r>
              <a:rPr sz="1800" b="0">
                <a:solidFill>
                  <a:srgbClr val="4C5D69"/>
                </a:solidFill>
              </a:rPr>
              <a:t>Chase</a:t>
            </a:r>
          </a:p>
          <a:p>
            <a:pPr algn="l">
              <a:spcAft>
                <a:spcPts val="600"/>
              </a:spcAft>
            </a:pPr>
            <a:r>
              <a:rPr sz="1800" b="0">
                <a:solidFill>
                  <a:srgbClr val="4C5D69"/>
                </a:solidFill>
              </a:rPr>
              <a:t>designer and dashboard checks on Origin_DEV first</a:t>
            </a:r>
          </a:p>
        </p:txBody>
      </p:sp>
      <p:sp>
        <p:nvSpPr>
          <p:cNvPr id="8" name="Oval 7"/>
          <p:cNvSpPr/>
          <p:nvPr/>
        </p:nvSpPr>
        <p:spPr>
          <a:xfrm>
            <a:off x="585673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2</a:t>
            </a:r>
          </a:p>
        </p:txBody>
      </p:sp>
      <p:sp>
        <p:nvSpPr>
          <p:cNvPr id="9" name="Rounded Rectangle 8"/>
          <p:cNvSpPr/>
          <p:nvPr/>
        </p:nvSpPr>
        <p:spPr>
          <a:xfrm>
            <a:off x="833018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Agents on the network</a:t>
            </a:r>
          </a:p>
          <a:p>
            <a:pPr algn="l">
              <a:spcAft>
                <a:spcPts val="600"/>
              </a:spcAft>
            </a:pPr>
            <a:r>
              <a:rPr sz="1800" b="0">
                <a:solidFill>
                  <a:srgbClr val="4C5D69"/>
                </a:solidFill>
              </a:rPr>
              <a:t>Shankar (infrastructure)</a:t>
            </a:r>
          </a:p>
          <a:p>
            <a:pPr algn="l">
              <a:spcAft>
                <a:spcPts val="600"/>
              </a:spcAft>
            </a:pPr>
            <a:r>
              <a:rPr sz="1800" b="0">
                <a:solidFill>
                  <a:srgbClr val="4C5D69"/>
                </a:solidFill>
              </a:rPr>
              <a:t>cloud-hosted, continual sweeps and nightlies</a:t>
            </a:r>
          </a:p>
        </p:txBody>
      </p:sp>
      <p:sp>
        <p:nvSpPr>
          <p:cNvPr id="10" name="Oval 9"/>
          <p:cNvSpPr/>
          <p:nvPr/>
        </p:nvSpPr>
        <p:spPr>
          <a:xfrm>
            <a:off x="965149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3</a:t>
            </a:r>
          </a:p>
        </p:txBody>
      </p:sp>
      <p:sp>
        <p:nvSpPr>
          <p:cNvPr id="11" name="Rounded Rectangle 10"/>
          <p:cNvSpPr/>
          <p:nvPr/>
        </p:nvSpPr>
        <p:spPr>
          <a:xfrm>
            <a:off x="1212494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Schedulable reports</a:t>
            </a:r>
          </a:p>
          <a:p>
            <a:pPr algn="l">
              <a:spcAft>
                <a:spcPts val="600"/>
              </a:spcAft>
            </a:pPr>
            <a:r>
              <a:rPr sz="1800" b="0">
                <a:solidFill>
                  <a:srgbClr val="4C5D69"/>
                </a:solidFill>
              </a:rPr>
              <a:t>Chase</a:t>
            </a:r>
          </a:p>
          <a:p>
            <a:pPr algn="l">
              <a:spcAft>
                <a:spcPts val="600"/>
              </a:spcAft>
            </a:pPr>
            <a:r>
              <a:rPr sz="1800" b="0">
                <a:solidFill>
                  <a:srgbClr val="4C5D69"/>
                </a:solidFill>
              </a:rPr>
              <a:t>interactive tables, as-of dates, relative windows</a:t>
            </a:r>
          </a:p>
        </p:txBody>
      </p:sp>
      <p:sp>
        <p:nvSpPr>
          <p:cNvPr id="12" name="Oval 11"/>
          <p:cNvSpPr/>
          <p:nvPr/>
        </p:nvSpPr>
        <p:spPr>
          <a:xfrm>
            <a:off x="1344625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4</a:t>
            </a:r>
          </a:p>
        </p:txBody>
      </p:sp>
      <p:sp>
        <p:nvSpPr>
          <p:cNvPr id="13" name="Rounded Rectangle 12"/>
          <p:cNvSpPr/>
          <p:nvPr/>
        </p:nvSpPr>
        <p:spPr>
          <a:xfrm>
            <a:off x="1591970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Origin BA app and dbt</a:t>
            </a:r>
          </a:p>
          <a:p>
            <a:pPr algn="l">
              <a:spcAft>
                <a:spcPts val="600"/>
              </a:spcAft>
            </a:pPr>
            <a:r>
              <a:rPr sz="1800" b="0">
                <a:solidFill>
                  <a:srgbClr val="4C5D69"/>
                </a:solidFill>
              </a:rPr>
              <a:t>Chase</a:t>
            </a:r>
          </a:p>
          <a:p>
            <a:pPr algn="l">
              <a:spcAft>
                <a:spcPts val="600"/>
              </a:spcAft>
            </a:pPr>
            <a:r>
              <a:rPr sz="1800" b="0">
                <a:solidFill>
                  <a:srgbClr val="4C5D69"/>
                </a:solidFill>
              </a:rPr>
              <a:t>the warehouse layer inside the app, after the deployments</a:t>
            </a:r>
          </a:p>
        </p:txBody>
      </p:sp>
      <p:sp>
        <p:nvSpPr>
          <p:cNvPr id="14" name="Oval 13"/>
          <p:cNvSpPr/>
          <p:nvPr/>
        </p:nvSpPr>
        <p:spPr>
          <a:xfrm>
            <a:off x="1724101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5</a:t>
            </a:r>
          </a:p>
        </p:txBody>
      </p:sp>
      <p:sp>
        <p:nvSpPr>
          <p:cNvPr id="15" name="TextBox 14"/>
          <p:cNvSpPr txBox="1"/>
          <p:nvPr/>
        </p:nvSpPr>
        <p:spPr>
          <a:xfrm>
            <a:off x="740664" y="2103120"/>
            <a:ext cx="18288000" cy="2377440"/>
          </a:xfrm>
          <a:prstGeom prst="rect">
            <a:avLst/>
          </a:prstGeom>
          <a:noFill/>
        </p:spPr>
        <p:txBody>
          <a:bodyPr wrap="square" anchor="t" lIns="0" rIns="0" tIns="54864" bIns="54864">
            <a:spAutoFit/>
          </a:bodyPr>
          <a:lstStyle/>
          <a:p>
            <a:pPr algn="l">
              <a:spcAft>
                <a:spcPts val="600"/>
              </a:spcAft>
            </a:pPr>
            <a:r>
              <a:rPr sz="2400" b="0">
                <a:solidFill>
                  <a:srgbClr val="F5EFE9"/>
                </a:solidFill>
              </a:rPr>
              <a:t>In the order that removes the most manual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Next: The Origin BA App And dbt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The app today</a:t>
            </a:r>
          </a:p>
          <a:p>
            <a:pPr algn="l">
              <a:spcAft>
                <a:spcPts val="600"/>
              </a:spcAft>
            </a:pPr>
            <a:r>
              <a:rPr sz="2200" b="0">
                <a:solidFill>
                  <a:srgbClr val="4C5D69"/>
                </a:solidFill>
              </a:rPr>
              <a:t>A web portal over the reporting layer: workstream pages, explore views, a build page and a data-quality page per client</a:t>
            </a:r>
          </a:p>
          <a:p>
            <a:pPr algn="l">
              <a:spcAft>
                <a:spcPts val="600"/>
              </a:spcAft>
            </a:pPr>
            <a:r>
              <a:rPr sz="2200" b="0">
                <a:solidFill>
                  <a:srgbClr val="4C5D69"/>
                </a:solidFill>
              </a:rPr>
              <a:t>Each client isolated to its own org and warehouse connection; admin scope settled and audited</a:t>
            </a:r>
          </a:p>
          <a:p>
            <a:pPr algn="l">
              <a:spcAft>
                <a:spcPts val="600"/>
              </a:spcAft>
            </a:pPr>
            <a:r>
              <a:rPr sz="2200" b="0">
                <a:solidFill>
                  <a:srgbClr val="4C5D69"/>
                </a:solidFill>
              </a:rPr>
              <a:t>An analytics assistant that answers questions from the canvases with tool calls, fenced to the client's data</a:t>
            </a:r>
          </a:p>
        </p:txBody>
      </p:sp>
      <p:sp>
        <p:nvSpPr>
          <p:cNvPr id="6" name="Rounded Rectangle 5"/>
          <p:cNvSpPr/>
          <p:nvPr/>
        </p:nvSpPr>
        <p:spPr>
          <a:xfrm>
            <a:off x="7110983"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dbt inside the app</a:t>
            </a:r>
          </a:p>
          <a:p>
            <a:pPr algn="l">
              <a:spcAft>
                <a:spcPts val="600"/>
              </a:spcAft>
            </a:pPr>
            <a:r>
              <a:rPr sz="2200" b="0">
                <a:solidFill>
                  <a:srgbClr val="4C5D69"/>
                </a:solidFill>
              </a:rPr>
              <a:t>The dbt project turns CISADM into 38 reporting canvases with a data dictionary and enforced contracts</a:t>
            </a:r>
          </a:p>
          <a:p>
            <a:pPr algn="l">
              <a:spcAft>
                <a:spcPts val="600"/>
              </a:spcAft>
            </a:pPr>
            <a:r>
              <a:rPr sz="2200" b="0">
                <a:solidFill>
                  <a:srgbClr val="4C5D69"/>
                </a:solidFill>
              </a:rPr>
              <a:t>The same models build natively inside a client's Oracle instance: three schemas beside CISADM, read-only grants, no CDC</a:t>
            </a:r>
          </a:p>
          <a:p>
            <a:pPr algn="l">
              <a:spcAft>
                <a:spcPts val="600"/>
              </a:spcAft>
            </a:pPr>
            <a:r>
              <a:rPr sz="2200" b="0">
                <a:solidFill>
                  <a:srgbClr val="4C5D69"/>
                </a:solidFill>
              </a:rPr>
              <a:t>The app reads that in-database reporting layer directly, so one transformation layer serves the portal, the assistant and Jaspersoft</a:t>
            </a:r>
          </a:p>
        </p:txBody>
      </p:sp>
      <p:sp>
        <p:nvSpPr>
          <p:cNvPr id="7" name="Rounded Rectangle 6"/>
          <p:cNvSpPr/>
          <p:nvPr/>
        </p:nvSpPr>
        <p:spPr>
          <a:xfrm>
            <a:off x="13481303" y="3003803"/>
            <a:ext cx="5913119" cy="5788152"/>
          </a:xfrm>
          <a:prstGeom prst="roundRect">
            <a:avLst>
              <a:gd name="adj" fmla="val 8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comes next</a:t>
            </a:r>
          </a:p>
          <a:p>
            <a:pPr algn="l">
              <a:spcAft>
                <a:spcPts val="600"/>
              </a:spcAft>
            </a:pPr>
            <a:r>
              <a:rPr sz="2200" b="0">
                <a:solidFill>
                  <a:srgbClr val="0B3D7A"/>
                </a:solidFill>
              </a:rPr>
              <a:t>Taken up after the Fond du Lac and College Station deployments finish in the coming weeks</a:t>
            </a:r>
          </a:p>
          <a:p>
            <a:pPr algn="l">
              <a:spcAft>
                <a:spcPts val="600"/>
              </a:spcAft>
            </a:pPr>
            <a:r>
              <a:rPr sz="2200" b="0">
                <a:solidFill>
                  <a:srgbClr val="0B3D7A"/>
                </a:solidFill>
              </a:rPr>
              <a:t>Jaspersoft domains generated from the dbt contracts, so the snapshot tables are replaced rather than maintained</a:t>
            </a:r>
          </a:p>
          <a:p>
            <a:pPr algn="l">
              <a:spcAft>
                <a:spcPts val="600"/>
              </a:spcAft>
            </a:pPr>
            <a:r>
              <a:rPr sz="2200" b="0">
                <a:solidFill>
                  <a:srgbClr val="0B3D7A"/>
                </a:solidFill>
              </a:rPr>
              <a:t>Data-quality rules, nightly parity against the snapshots, and the assistant proven with real client questions</a:t>
            </a:r>
          </a:p>
        </p:txBody>
      </p:sp>
    </p:spTree>
  </p:cSld>
  <p:clrMapOvr>
    <a:masterClrMapping/>
  </p:clrMapOvr>
</p:sld>
</file>

<file path=ppt/theme/theme1.xml><?xml version="1.0" encoding="utf-8"?>
<a:theme xmlns:a="http://schemas.openxmlformats.org/drawingml/2006/main" name="Office Theme">
  <a:themeElements>
    <a:clrScheme name="Origin Utility 2025">
      <a:dk1>
        <a:srgbClr val="006DA7"/>
      </a:dk1>
      <a:lt1>
        <a:srgbClr val="F5EFE9"/>
      </a:lt1>
      <a:dk2>
        <a:srgbClr val="006DA7"/>
      </a:dk2>
      <a:lt2>
        <a:srgbClr val="F4EFE9"/>
      </a:lt2>
      <a:accent1>
        <a:srgbClr val="FFA418"/>
      </a:accent1>
      <a:accent2>
        <a:srgbClr val="E9860D"/>
      </a:accent2>
      <a:accent3>
        <a:srgbClr val="BD5720"/>
      </a:accent3>
      <a:accent4>
        <a:srgbClr val="DBD3CC"/>
      </a:accent4>
      <a:accent5>
        <a:srgbClr val="BDB2AC"/>
      </a:accent5>
      <a:accent6>
        <a:srgbClr val="8E837E"/>
      </a:accent6>
      <a:hlink>
        <a:srgbClr val="FFA418"/>
      </a:hlink>
      <a:folHlink>
        <a:srgbClr val="BD572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RG-Deck Template-V1.1.0" id="{543EA141-4271-724E-B203-433C213E4E47}" vid="{7CB0B064-B97B-A240-BD28-B45B388501E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0EC55FE308B3F479D76AF450841754E" ma:contentTypeVersion="12" ma:contentTypeDescription="Create a new document." ma:contentTypeScope="" ma:versionID="e790027c7c34249bb98666c8c9119eaa">
  <xsd:schema xmlns:xsd="http://www.w3.org/2001/XMLSchema" xmlns:xs="http://www.w3.org/2001/XMLSchema" xmlns:p="http://schemas.microsoft.com/office/2006/metadata/properties" xmlns:ns2="12ca6ba9-4514-42dd-bdc3-b6324cc23e5f" xmlns:ns3="d357c37f-953d-43f0-9d5c-41b6999fc31b" targetNamespace="http://schemas.microsoft.com/office/2006/metadata/properties" ma:root="true" ma:fieldsID="bd009a1edaaf9ab5d6f665727a0fec8b" ns2:_="" ns3:_="">
    <xsd:import namespace="12ca6ba9-4514-42dd-bdc3-b6324cc23e5f"/>
    <xsd:import namespace="d357c37f-953d-43f0-9d5c-41b6999fc31b"/>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2ca6ba9-4514-42dd-bdc3-b6324cc23e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357c37f-953d-43f0-9d5c-41b6999fc31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5F15CB5-6569-4BED-87D8-DF74EBB45C96}">
  <ds:schemaRefs>
    <ds:schemaRef ds:uri="http://schemas.microsoft.com/sharepoint/v3/contenttype/forms"/>
  </ds:schemaRefs>
</ds:datastoreItem>
</file>

<file path=customXml/itemProps2.xml><?xml version="1.0" encoding="utf-8"?>
<ds:datastoreItem xmlns:ds="http://schemas.openxmlformats.org/officeDocument/2006/customXml" ds:itemID="{3A4E750B-86ED-4509-BE57-275555DF1C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2ca6ba9-4514-42dd-bdc3-b6324cc23e5f"/>
    <ds:schemaRef ds:uri="d357c37f-953d-43f0-9d5c-41b6999fc3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67C8049-9568-4DE9-AB0C-6845984CADEA}">
  <ds:schemaRefs>
    <ds:schemaRef ds:uri="http://purl.org/dc/terms/"/>
    <ds:schemaRef ds:uri="http://schemas.microsoft.com/office/2006/metadata/properties"/>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d357c37f-953d-43f0-9d5c-41b6999fc31b"/>
    <ds:schemaRef ds:uri="http://www.w3.org/XML/1998/namespace"/>
    <ds:schemaRef ds:uri="12ca6ba9-4514-42dd-bdc3-b6324cc23e5f"/>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ORG-Deck Template-V1.1.0</Template>
  <TotalTime>574</TotalTime>
  <Words>528</Words>
  <Application>Microsoft Office PowerPoint</Application>
  <PresentationFormat>Custom</PresentationFormat>
  <Paragraphs>95</Paragraphs>
  <Slides>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Delight Semi Bold</vt:lpstr>
      <vt:lpstr>Delight Regular</vt:lpstr>
      <vt:lpstr>Arial</vt:lpstr>
      <vt:lpstr>Aptos</vt:lpstr>
      <vt:lpstr>Delight Medium</vt:lpstr>
      <vt:lpstr>Office Theme</vt:lpstr>
      <vt:lpstr>DataVergence App</vt:lpstr>
      <vt:lpstr>PowerPoint Presentation</vt:lpstr>
      <vt:lpstr>PowerPoint Presentation</vt:lpstr>
      <vt:lpstr>What is being solved?</vt:lpstr>
      <vt:lpstr>PowerPoint Presentation</vt:lpstr>
      <vt:lpstr>Roadmap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Geraldine Roddie</dc:creator>
  <cp:lastModifiedBy>Reed Navara</cp:lastModifiedBy>
  <cp:revision>4</cp:revision>
  <dcterms:created xsi:type="dcterms:W3CDTF">2025-11-19T15:32:52Z</dcterms:created>
  <dcterms:modified xsi:type="dcterms:W3CDTF">2026-09-25T00:07:49Z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2025-09-02T00:00:00Z</vt:filetime>
  </property>
  <property fmtid="{D5CDD505-2E9C-101B-9397-08002B2CF9AE}" pid="3" name="Creator">
    <vt:lpwstr>Adobe InDesign 20.5 (Macintosh)</vt:lpwstr>
  </property>
  <property fmtid="{D5CDD505-2E9C-101B-9397-08002B2CF9AE}" pid="4" name="LastSaved">
    <vt:filetime>2025-09-02T00:00:00Z</vt:filetime>
  </property>
  <property fmtid="{D5CDD505-2E9C-101B-9397-08002B2CF9AE}" pid="5" name="Producer">
    <vt:lpwstr>Adobe PDF Library 17.0</vt:lpwstr>
  </property>
  <property fmtid="{D5CDD505-2E9C-101B-9397-08002B2CF9AE}" pid="6" name="ContentTypeId">
    <vt:lpwstr>0x01010000EC55FE308B3F479D76AF450841754E</vt:lpwstr>
  </property>
  <property fmtid="{D5CDD505-2E9C-101B-9397-08002B2CF9AE}" pid="7" name="MediaServiceImageTags">
    <vt:lpwstr/>
  </property>
</Properties>
</file>