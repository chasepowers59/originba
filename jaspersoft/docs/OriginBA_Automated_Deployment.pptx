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F5EFE9"/>
              </a:solidFill>
              <a:ln>
                <a:noFill/>
              </a:ln>
            </c:spPr>
          </c:dPt>
          <c:dPt>
            <c:idx val="1"/>
            <c:spPr>
              <a:solidFill>
                <a:srgbClr val="FFA418"/>
              </a:solidFill>
              <a:ln>
                <a:noFill/>
              </a:ln>
            </c:spPr>
          </c:dPt>
          <c:dPt>
            <c:idx val="2"/>
            <c:spPr>
              <a:solidFill>
                <a:srgbClr val="FFFFFF"/>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dLbls>
          <c:txPr>
            <a:bodyPr/>
            <a:lstStyle/>
            <a:p>
              <a:pPr>
                <a:defRPr sz="2000" b="1">
                  <a:solidFill>
                    <a:srgbClr val="0B3D7A"/>
                  </a:solidFill>
                </a:defRPr>
              </a:pPr>
            </a:p>
          </c:txPr>
          <c:showLegendKey val="0"/>
          <c:showVal val="1"/>
          <c:showCatName val="0"/>
          <c:showSerName val="0"/>
          <c:showPercent val="0"/>
          <c:showBubbleSize val="0"/>
          <c:showLeaderLines val="1"/>
        </c:dLbls>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full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full history for the baseline,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Time Per Client, To Scale</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F5EFE9"/>
                </a:solidFill>
              </a:rPr>
              <a:t>Working days by hand (cream) against hours now (orange), drawn to the same scale</a:t>
            </a:r>
          </a:p>
        </p:txBody>
      </p:sp>
      <p:sp>
        <p:nvSpPr>
          <p:cNvPr id="6" name="TextBox 5"/>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Standard Offering to a client org</a:t>
            </a:r>
          </a:p>
          <a:p>
            <a:pPr algn="l">
              <a:spcAft>
                <a:spcPts val="600"/>
              </a:spcAft>
            </a:pPr>
            <a:r>
              <a:rPr sz="1400" b="0">
                <a:solidFill>
                  <a:srgbClr val="F5EFE9"/>
                </a:solidFill>
              </a:rPr>
              <a:t>export, rewrite, datasource, import, verify, execute, sign off</a:t>
            </a:r>
          </a:p>
        </p:txBody>
      </p:sp>
      <p:sp>
        <p:nvSpPr>
          <p:cNvPr id="7" name="Rounded Rectangle 6"/>
          <p:cNvSpPr/>
          <p:nvPr/>
        </p:nvSpPr>
        <p:spPr>
          <a:xfrm>
            <a:off x="5852160" y="2514600"/>
            <a:ext cx="1207008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one to two weeks</a:t>
            </a:r>
          </a:p>
        </p:txBody>
      </p:sp>
      <p:sp>
        <p:nvSpPr>
          <p:cNvPr id="8" name="Rounded Rectangle 7"/>
          <p:cNvSpPr/>
          <p:nvPr/>
        </p:nvSpPr>
        <p:spPr>
          <a:xfrm>
            <a:off x="5852160" y="310530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11 minutes at Ellensburg, 21 at Newark</a:t>
            </a:r>
          </a:p>
        </p:txBody>
      </p:sp>
      <p:sp>
        <p:nvSpPr>
          <p:cNvPr id="10" name="TextBox 9"/>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Snapshot layer to a client</a:t>
            </a:r>
          </a:p>
          <a:p>
            <a:pPr algn="l">
              <a:spcAft>
                <a:spcPts val="600"/>
              </a:spcAft>
            </a:pPr>
            <a:r>
              <a:rPr sz="1400" b="0">
                <a:solidFill>
                  <a:srgbClr val="F5EFE9"/>
                </a:solidFill>
              </a:rPr>
              <a:t>tables, procedures, baselines, gates, schedule</a:t>
            </a:r>
          </a:p>
        </p:txBody>
      </p:sp>
      <p:sp>
        <p:nvSpPr>
          <p:cNvPr id="11" name="Rounded Rectangle 10"/>
          <p:cNvSpPr/>
          <p:nvPr/>
        </p:nvSpPr>
        <p:spPr>
          <a:xfrm>
            <a:off x="5852160" y="3977640"/>
            <a:ext cx="603504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a working week</a:t>
            </a:r>
          </a:p>
        </p:txBody>
      </p:sp>
      <p:sp>
        <p:nvSpPr>
          <p:cNvPr id="12" name="Rounded Rectangle 11"/>
          <p:cNvSpPr/>
          <p:nvPr/>
        </p:nvSpPr>
        <p:spPr>
          <a:xfrm>
            <a:off x="5852160" y="456834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morning, then the baselines load unattended</a:t>
            </a:r>
          </a:p>
        </p:txBody>
      </p:sp>
      <p:sp>
        <p:nvSpPr>
          <p:cNvPr id="14" name="TextBox 13"/>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domain change on every client</a:t>
            </a:r>
          </a:p>
          <a:p>
            <a:pPr algn="l">
              <a:spcAft>
                <a:spcPts val="600"/>
              </a:spcAft>
            </a:pPr>
            <a:r>
              <a:rPr sz="1400" b="0">
                <a:solidFill>
                  <a:srgbClr val="F5EFE9"/>
                </a:solidFill>
              </a:rPr>
              <a:t>one patch, additive-only, six orgs</a:t>
            </a:r>
          </a:p>
        </p:txBody>
      </p:sp>
      <p:sp>
        <p:nvSpPr>
          <p:cNvPr id="15" name="Rounded Rectangle 14"/>
          <p:cNvSpPr/>
          <p:nvPr/>
        </p:nvSpPr>
        <p:spPr>
          <a:xfrm>
            <a:off x="5852160" y="5440680"/>
            <a:ext cx="3621023"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days, one org at a time</a:t>
            </a:r>
          </a:p>
        </p:txBody>
      </p:sp>
      <p:sp>
        <p:nvSpPr>
          <p:cNvPr id="16" name="Rounded Rectangle 15"/>
          <p:cNvSpPr/>
          <p:nvPr/>
        </p:nvSpPr>
        <p:spPr>
          <a:xfrm>
            <a:off x="5852160" y="603138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an afternoon for six orgs, seven proofs each</a:t>
            </a:r>
          </a:p>
        </p:txBody>
      </p:sp>
      <p:sp>
        <p:nvSpPr>
          <p:cNvPr id="18" name="TextBox 17"/>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batch of reports between environments</a:t>
            </a:r>
          </a:p>
          <a:p>
            <a:pPr algn="l">
              <a:spcAft>
                <a:spcPts val="600"/>
              </a:spcAft>
            </a:pPr>
            <a:r>
              <a:rPr sz="1400" b="0">
                <a:solidFill>
                  <a:srgbClr val="F5EFE9"/>
                </a:solidFill>
              </a:rPr>
              <a:t>21 reports and their 13 domains</a:t>
            </a:r>
          </a:p>
        </p:txBody>
      </p:sp>
      <p:sp>
        <p:nvSpPr>
          <p:cNvPr id="19" name="Rounded Rectangle 18"/>
          <p:cNvSpPr/>
          <p:nvPr/>
        </p:nvSpPr>
        <p:spPr>
          <a:xfrm>
            <a:off x="5852160" y="6903720"/>
            <a:ext cx="1207007"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day per batch</a:t>
            </a:r>
          </a:p>
        </p:txBody>
      </p:sp>
      <p:sp>
        <p:nvSpPr>
          <p:cNvPr id="21" name="Rounded Rectangle 20"/>
          <p:cNvSpPr/>
          <p:nvPr/>
        </p:nvSpPr>
        <p:spPr>
          <a:xfrm>
            <a:off x="5852160" y="7494422"/>
            <a:ext cx="452627"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one morning, byte-equal</a:t>
            </a:r>
          </a:p>
        </p:txBody>
      </p:sp>
      <p:sp>
        <p:nvSpPr>
          <p:cNvPr id="23" name="TextBox 22"/>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Validation sign-off</a:t>
            </a:r>
          </a:p>
          <a:p>
            <a:pPr algn="l">
              <a:spcAft>
                <a:spcPts val="600"/>
              </a:spcAft>
            </a:pPr>
            <a:r>
              <a:rPr sz="1400" b="0">
                <a:solidFill>
                  <a:srgbClr val="F5EFE9"/>
                </a:solidFill>
              </a:rPr>
              <a:t>one document per org</a:t>
            </a:r>
          </a:p>
        </p:txBody>
      </p:sp>
      <p:sp>
        <p:nvSpPr>
          <p:cNvPr id="24" name="Rounded Rectangle 23"/>
          <p:cNvSpPr/>
          <p:nvPr/>
        </p:nvSpPr>
        <p:spPr>
          <a:xfrm>
            <a:off x="5852160" y="8366760"/>
            <a:ext cx="2414015"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days of screenshots</a:t>
            </a:r>
          </a:p>
        </p:txBody>
      </p:sp>
      <p:sp>
        <p:nvSpPr>
          <p:cNvPr id="26" name="Rounded Rectangle 25"/>
          <p:cNvSpPr/>
          <p:nvPr/>
        </p:nvSpPr>
        <p:spPr>
          <a:xfrm>
            <a:off x="5852160" y="895746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minutes, generated from the sweep</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8553176" y="350215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waits</a:t>
            </a:r>
          </a:p>
        </p:txBody>
      </p:sp>
      <p:sp>
        <p:nvSpPr>
          <p:cNvPr id="11" name="Rounded Rectangle 10"/>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5" name="Rounded Rectangle 24"/>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6" name="Rounded Rectangle 25"/>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7" name="Rounded Rectangle 26"/>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8" name="Rounded Rectangle 27"/>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Database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12262104" y="1965960"/>
            <a:ext cx="7132320" cy="150876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426696" y="2011679"/>
            <a:ext cx="68031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Submit 8 baselines as parallel scheduler jobs</a:t>
            </a:r>
          </a:p>
          <a:p>
            <a:pPr algn="l">
              <a:spcAft>
                <a:spcPts val="600"/>
              </a:spcAft>
            </a:pPr>
            <a:r>
              <a:rPr sz="1100" b="0">
                <a:solidFill>
                  <a:srgbClr val="F5EFE9"/>
                </a:solidFill>
              </a:rPr>
              <a:t>unattended; they survive a dropped connection</a:t>
            </a:r>
          </a:p>
        </p:txBody>
      </p:sp>
      <p:sp>
        <p:nvSpPr>
          <p:cNvPr id="7" name="Rounded Rectangle 6"/>
          <p:cNvSpPr/>
          <p:nvPr/>
        </p:nvSpPr>
        <p:spPr>
          <a:xfrm>
            <a:off x="740664" y="5760720"/>
            <a:ext cx="18653760" cy="411480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580644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What the domains read</a:t>
            </a:r>
          </a:p>
          <a:p>
            <a:pPr algn="l">
              <a:spcAft>
                <a:spcPts val="600"/>
              </a:spcAft>
            </a:pPr>
            <a:r>
              <a:rPr sz="1100" b="0">
                <a:solidFill>
                  <a:srgbClr val="F5EFE9"/>
                </a:solidFill>
              </a:rPr>
              <a:t>created in steps 2 and 3, validated and gated before anything is scheduled; each stack feeds the domain chip beneath it</a:t>
            </a:r>
          </a:p>
        </p:txBody>
      </p:sp>
      <p:sp>
        <p:nvSpPr>
          <p:cNvPr id="9" name="Rounded Rectangle 8"/>
          <p:cNvSpPr/>
          <p:nvPr/>
        </p:nvSpPr>
        <p:spPr>
          <a:xfrm>
            <a:off x="740664" y="2286000"/>
            <a:ext cx="22860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Preflight</a:t>
            </a:r>
          </a:p>
          <a:p>
            <a:pPr algn="l">
              <a:spcAft>
                <a:spcPts val="600"/>
              </a:spcAft>
            </a:pPr>
            <a:r>
              <a:rPr sz="1100" b="0">
                <a:solidFill>
                  <a:srgbClr val="4C5D69"/>
                </a:solidFill>
              </a:rPr>
              <a:t>the deploy user can read every source table and write the targets</a:t>
            </a:r>
          </a:p>
        </p:txBody>
      </p:sp>
      <p:sp>
        <p:nvSpPr>
          <p:cNvPr id="10" name="Rounded Rectangle 9"/>
          <p:cNvSpPr/>
          <p:nvPr/>
        </p:nvSpPr>
        <p:spPr>
          <a:xfrm>
            <a:off x="330098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7 snapshot tables</a:t>
            </a:r>
          </a:p>
          <a:p>
            <a:pPr algn="l">
              <a:spcAft>
                <a:spcPts val="600"/>
              </a:spcAft>
            </a:pPr>
            <a:r>
              <a:rPr sz="1100" b="0">
                <a:solidFill>
                  <a:srgbClr val="4C5D69"/>
                </a:solidFill>
              </a:rPr>
              <a:t>empty, with their keys</a:t>
            </a:r>
          </a:p>
        </p:txBody>
      </p:sp>
      <p:sp>
        <p:nvSpPr>
          <p:cNvPr id="11" name="Rounded Rectangle 10"/>
          <p:cNvSpPr/>
          <p:nvPr/>
        </p:nvSpPr>
        <p:spPr>
          <a:xfrm>
            <a:off x="6227064" y="2286000"/>
            <a:ext cx="283464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domain-support objects</a:t>
            </a:r>
          </a:p>
          <a:p>
            <a:pPr algn="l">
              <a:spcAft>
                <a:spcPts val="600"/>
              </a:spcAft>
            </a:pPr>
            <a:r>
              <a:rPr sz="1100" b="0">
                <a:solidFill>
                  <a:srgbClr val="4C5D69"/>
                </a:solidFill>
              </a:rPr>
              <a:t>SA snapshot table, lookup seed, 8 CMS views, grants, synonyms</a:t>
            </a:r>
          </a:p>
        </p:txBody>
      </p:sp>
      <p:sp>
        <p:nvSpPr>
          <p:cNvPr id="12" name="Rounded Rectangle 11"/>
          <p:cNvSpPr/>
          <p:nvPr/>
        </p:nvSpPr>
        <p:spPr>
          <a:xfrm>
            <a:off x="933602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Deploy the procedures</a:t>
            </a:r>
          </a:p>
          <a:p>
            <a:pPr algn="l">
              <a:spcAft>
                <a:spcPts val="600"/>
              </a:spcAft>
            </a:pPr>
            <a:r>
              <a:rPr sz="1100" b="0">
                <a:solidFill>
                  <a:srgbClr val="4C5D69"/>
                </a:solidFill>
              </a:rPr>
              <a:t>baseline (24 months, once) and operational per table; SA refresh</a:t>
            </a:r>
          </a:p>
        </p:txBody>
      </p:sp>
      <p:sp>
        <p:nvSpPr>
          <p:cNvPr id="13" name="Rounded Rectangle 12"/>
          <p:cNvSpPr/>
          <p:nvPr/>
        </p:nvSpPr>
        <p:spPr>
          <a:xfrm>
            <a:off x="12454128"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FT</a:t>
            </a:r>
          </a:p>
        </p:txBody>
      </p:sp>
      <p:sp>
        <p:nvSpPr>
          <p:cNvPr id="14" name="Rounded Rectangle 13"/>
          <p:cNvSpPr/>
          <p:nvPr/>
        </p:nvSpPr>
        <p:spPr>
          <a:xfrm>
            <a:off x="14209776"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Billed usage</a:t>
            </a:r>
          </a:p>
        </p:txBody>
      </p:sp>
      <p:sp>
        <p:nvSpPr>
          <p:cNvPr id="15" name="Rounded Rectangle 14"/>
          <p:cNvSpPr/>
          <p:nvPr/>
        </p:nvSpPr>
        <p:spPr>
          <a:xfrm>
            <a:off x="15965424"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SQ usage</a:t>
            </a:r>
          </a:p>
        </p:txBody>
      </p:sp>
      <p:sp>
        <p:nvSpPr>
          <p:cNvPr id="16" name="Rounded Rectangle 15"/>
          <p:cNvSpPr/>
          <p:nvPr/>
        </p:nvSpPr>
        <p:spPr>
          <a:xfrm>
            <a:off x="17721072"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GL distribution</a:t>
            </a:r>
          </a:p>
        </p:txBody>
      </p:sp>
      <p:sp>
        <p:nvSpPr>
          <p:cNvPr id="17" name="Rounded Rectangle 16"/>
          <p:cNvSpPr/>
          <p:nvPr/>
        </p:nvSpPr>
        <p:spPr>
          <a:xfrm>
            <a:off x="12454128"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Measurement</a:t>
            </a:r>
          </a:p>
        </p:txBody>
      </p:sp>
      <p:sp>
        <p:nvSpPr>
          <p:cNvPr id="18" name="Rounded Rectangle 17"/>
          <p:cNvSpPr/>
          <p:nvPr/>
        </p:nvSpPr>
        <p:spPr>
          <a:xfrm>
            <a:off x="14209776"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a:t>
            </a:r>
          </a:p>
        </p:txBody>
      </p:sp>
      <p:sp>
        <p:nvSpPr>
          <p:cNvPr id="19" name="Rounded Rectangle 18"/>
          <p:cNvSpPr/>
          <p:nvPr/>
        </p:nvSpPr>
        <p:spPr>
          <a:xfrm>
            <a:off x="15965424"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 scalar detail</a:t>
            </a:r>
          </a:p>
        </p:txBody>
      </p:sp>
      <p:sp>
        <p:nvSpPr>
          <p:cNvPr id="20" name="Rounded Rectangle 19"/>
          <p:cNvSpPr/>
          <p:nvPr/>
        </p:nvSpPr>
        <p:spPr>
          <a:xfrm>
            <a:off x="17721072"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SA snapshot refresh</a:t>
            </a:r>
          </a:p>
        </p:txBody>
      </p:sp>
      <p:sp>
        <p:nvSpPr>
          <p:cNvPr id="21" name="Diamond 20"/>
          <p:cNvSpPr/>
          <p:nvPr/>
        </p:nvSpPr>
        <p:spPr>
          <a:xfrm>
            <a:off x="17099280" y="4023360"/>
            <a:ext cx="210312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ready gate: every job SUCCEEDED?</a:t>
            </a:r>
          </a:p>
        </p:txBody>
      </p:sp>
      <p:sp>
        <p:nvSpPr>
          <p:cNvPr id="22" name="Diamond 21"/>
          <p:cNvSpPr/>
          <p:nvPr/>
        </p:nvSpPr>
        <p:spPr>
          <a:xfrm>
            <a:off x="14264640" y="4023360"/>
            <a:ext cx="237744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 and install gates pass?</a:t>
            </a:r>
          </a:p>
        </p:txBody>
      </p:sp>
      <p:sp>
        <p:nvSpPr>
          <p:cNvPr id="23" name="Rounded Rectangle 22"/>
          <p:cNvSpPr/>
          <p:nvPr/>
        </p:nvSpPr>
        <p:spPr>
          <a:xfrm>
            <a:off x="11612880" y="4114800"/>
            <a:ext cx="219456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Post-load indexes</a:t>
            </a:r>
          </a:p>
          <a:p>
            <a:pPr algn="l">
              <a:spcAft>
                <a:spcPts val="600"/>
              </a:spcAft>
            </a:pPr>
            <a:r>
              <a:rPr sz="1100" b="0">
                <a:solidFill>
                  <a:srgbClr val="4C5D69"/>
                </a:solidFill>
              </a:rPr>
              <a:t>keys and dates the domains filter on</a:t>
            </a:r>
          </a:p>
        </p:txBody>
      </p:sp>
      <p:sp>
        <p:nvSpPr>
          <p:cNvPr id="24" name="Rounded Rectangle 23"/>
          <p:cNvSpPr/>
          <p:nvPr/>
        </p:nvSpPr>
        <p:spPr>
          <a:xfrm>
            <a:off x="8412480" y="4069080"/>
            <a:ext cx="27432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Rolling procedures</a:t>
            </a:r>
          </a:p>
          <a:p>
            <a:pPr algn="l">
              <a:spcAft>
                <a:spcPts val="600"/>
              </a:spcAft>
            </a:pPr>
            <a:r>
              <a:rPr sz="1100" b="0">
                <a:solidFill>
                  <a:srgbClr val="4C5D69"/>
                </a:solidFill>
              </a:rPr>
              <a:t>3 months rebuilt, 24 kept; one operational refresh run by hand</a:t>
            </a:r>
          </a:p>
        </p:txBody>
      </p:sp>
      <p:sp>
        <p:nvSpPr>
          <p:cNvPr id="25" name="Diamond 24"/>
          <p:cNvSpPr/>
          <p:nvPr/>
        </p:nvSpPr>
        <p:spPr>
          <a:xfrm>
            <a:off x="5943600" y="4023360"/>
            <a:ext cx="201168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validated again?</a:t>
            </a:r>
          </a:p>
        </p:txBody>
      </p:sp>
      <p:sp>
        <p:nvSpPr>
          <p:cNvPr id="26" name="Rounded Rectangle 25"/>
          <p:cNvSpPr/>
          <p:nvPr/>
        </p:nvSpPr>
        <p:spPr>
          <a:xfrm>
            <a:off x="3063240" y="4069080"/>
            <a:ext cx="246888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Schedule</a:t>
            </a:r>
          </a:p>
          <a:p>
            <a:pPr algn="l">
              <a:spcAft>
                <a:spcPts val="600"/>
              </a:spcAft>
            </a:pPr>
            <a:r>
              <a:rPr sz="1100" b="0">
                <a:solidFill>
                  <a:srgbClr val="4C5D69"/>
                </a:solidFill>
              </a:rPr>
              <a:t>twice daily, 30-minute stagger, held on TEST until approved</a:t>
            </a:r>
          </a:p>
        </p:txBody>
      </p:sp>
      <p:sp>
        <p:nvSpPr>
          <p:cNvPr id="27" name="Rounded Rectangle 26"/>
          <p:cNvSpPr/>
          <p:nvPr/>
        </p:nvSpPr>
        <p:spPr>
          <a:xfrm>
            <a:off x="740664" y="4069080"/>
            <a:ext cx="192024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Capture runs, data quality</a:t>
            </a:r>
          </a:p>
          <a:p>
            <a:pPr algn="l">
              <a:spcAft>
                <a:spcPts val="600"/>
              </a:spcAft>
            </a:pPr>
            <a:r>
              <a:rPr sz="1100" b="0">
                <a:solidFill>
                  <a:srgbClr val="4C5D69"/>
                </a:solidFill>
              </a:rPr>
              <a:t>per client, kept with the log</a:t>
            </a:r>
          </a:p>
        </p:txBody>
      </p:sp>
      <p:sp>
        <p:nvSpPr>
          <p:cNvPr id="28" name="TextBox 27"/>
          <p:cNvSpPr txBox="1"/>
          <p:nvPr/>
        </p:nvSpPr>
        <p:spPr>
          <a:xfrm>
            <a:off x="868680" y="6327648"/>
            <a:ext cx="2103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Finance</a:t>
            </a:r>
          </a:p>
        </p:txBody>
      </p:sp>
      <p:sp>
        <p:nvSpPr>
          <p:cNvPr id="29" name="TextBox 28"/>
          <p:cNvSpPr txBox="1"/>
          <p:nvPr/>
        </p:nvSpPr>
        <p:spPr>
          <a:xfrm>
            <a:off x="3108960" y="6327648"/>
            <a:ext cx="2103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Billing and Rates</a:t>
            </a:r>
          </a:p>
        </p:txBody>
      </p:sp>
      <p:sp>
        <p:nvSpPr>
          <p:cNvPr id="30" name="TextBox 29"/>
          <p:cNvSpPr txBox="1"/>
          <p:nvPr/>
        </p:nvSpPr>
        <p:spPr>
          <a:xfrm>
            <a:off x="5349240" y="6327648"/>
            <a:ext cx="2103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Meter Operations</a:t>
            </a:r>
          </a:p>
        </p:txBody>
      </p:sp>
      <p:sp>
        <p:nvSpPr>
          <p:cNvPr id="31" name="TextBox 30"/>
          <p:cNvSpPr txBox="1"/>
          <p:nvPr/>
        </p:nvSpPr>
        <p:spPr>
          <a:xfrm>
            <a:off x="7863840" y="6327648"/>
            <a:ext cx="2377440" cy="320040"/>
          </a:xfrm>
          <a:prstGeom prst="rect">
            <a:avLst/>
          </a:prstGeom>
          <a:noFill/>
        </p:spPr>
        <p:txBody>
          <a:bodyPr wrap="square" anchor="t" lIns="0" rIns="0" tIns="54864" bIns="54864">
            <a:spAutoFit/>
          </a:bodyPr>
          <a:lstStyle/>
          <a:p>
            <a:pPr algn="l">
              <a:spcAft>
                <a:spcPts val="600"/>
              </a:spcAft>
            </a:pPr>
            <a:r>
              <a:rPr sz="1200" b="1">
                <a:solidFill>
                  <a:srgbClr val="F5EFE9"/>
                </a:solidFill>
              </a:rPr>
              <a:t>Debt Management</a:t>
            </a:r>
          </a:p>
        </p:txBody>
      </p:sp>
      <p:sp>
        <p:nvSpPr>
          <p:cNvPr id="32" name="TextBox 31"/>
          <p:cNvSpPr txBox="1"/>
          <p:nvPr/>
        </p:nvSpPr>
        <p:spPr>
          <a:xfrm>
            <a:off x="10515600" y="6327648"/>
            <a:ext cx="2971800" cy="320040"/>
          </a:xfrm>
          <a:prstGeom prst="rect">
            <a:avLst/>
          </a:prstGeom>
          <a:noFill/>
        </p:spPr>
        <p:txBody>
          <a:bodyPr wrap="square" anchor="t" lIns="0" rIns="0" tIns="54864" bIns="54864">
            <a:spAutoFit/>
          </a:bodyPr>
          <a:lstStyle/>
          <a:p>
            <a:pPr algn="l">
              <a:spcAft>
                <a:spcPts val="600"/>
              </a:spcAft>
            </a:pPr>
            <a:r>
              <a:rPr sz="1200" b="1">
                <a:solidFill>
                  <a:srgbClr val="F5EFE9"/>
                </a:solidFill>
              </a:rPr>
              <a:t>Meter Operations views</a:t>
            </a:r>
          </a:p>
        </p:txBody>
      </p:sp>
      <p:sp>
        <p:nvSpPr>
          <p:cNvPr id="33" name="TextBox 32"/>
          <p:cNvSpPr txBox="1"/>
          <p:nvPr/>
        </p:nvSpPr>
        <p:spPr>
          <a:xfrm>
            <a:off x="13716000" y="6327648"/>
            <a:ext cx="3063240" cy="320040"/>
          </a:xfrm>
          <a:prstGeom prst="rect">
            <a:avLst/>
          </a:prstGeom>
          <a:noFill/>
        </p:spPr>
        <p:txBody>
          <a:bodyPr wrap="square" anchor="t" lIns="0" rIns="0" tIns="54864" bIns="54864">
            <a:spAutoFit/>
          </a:bodyPr>
          <a:lstStyle/>
          <a:p>
            <a:pPr algn="l">
              <a:spcAft>
                <a:spcPts val="600"/>
              </a:spcAft>
            </a:pPr>
            <a:r>
              <a:rPr sz="1200" b="1">
                <a:solidFill>
                  <a:srgbClr val="F5EFE9"/>
                </a:solidFill>
              </a:rPr>
              <a:t>Field Operations views</a:t>
            </a:r>
          </a:p>
        </p:txBody>
      </p:sp>
      <p:sp>
        <p:nvSpPr>
          <p:cNvPr id="34" name="TextBox 33"/>
          <p:cNvSpPr txBox="1"/>
          <p:nvPr/>
        </p:nvSpPr>
        <p:spPr>
          <a:xfrm>
            <a:off x="17007840" y="6327648"/>
            <a:ext cx="2194560" cy="320040"/>
          </a:xfrm>
          <a:prstGeom prst="rect">
            <a:avLst/>
          </a:prstGeom>
          <a:noFill/>
        </p:spPr>
        <p:txBody>
          <a:bodyPr wrap="square" anchor="t" lIns="0" rIns="0" tIns="54864" bIns="54864">
            <a:spAutoFit/>
          </a:bodyPr>
          <a:lstStyle/>
          <a:p>
            <a:pPr algn="l">
              <a:spcAft>
                <a:spcPts val="600"/>
              </a:spcAft>
            </a:pPr>
            <a:r>
              <a:rPr sz="1200" b="1">
                <a:solidFill>
                  <a:srgbClr val="F5EFE9"/>
                </a:solidFill>
              </a:rPr>
              <a:t>Customer Operations views</a:t>
            </a:r>
          </a:p>
        </p:txBody>
      </p:sp>
      <p:sp>
        <p:nvSpPr>
          <p:cNvPr id="35" name="Can 34"/>
          <p:cNvSpPr/>
          <p:nvPr/>
        </p:nvSpPr>
        <p:spPr>
          <a:xfrm>
            <a:off x="868680" y="6675120"/>
            <a:ext cx="2103120" cy="82296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100" b="1">
                <a:solidFill>
                  <a:srgbClr val="0B3D7A"/>
                </a:solidFill>
              </a:rPr>
              <a:t>FT_RPT_CURR</a:t>
            </a:r>
          </a:p>
          <a:p>
            <a:pPr algn="ctr">
              <a:spcAft>
                <a:spcPts val="600"/>
              </a:spcAft>
            </a:pPr>
            <a:r>
              <a:rPr sz="950" b="0">
                <a:solidFill>
                  <a:srgbClr val="4C5D69"/>
                </a:solidFill>
              </a:rPr>
              <a:t>financial transactions</a:t>
            </a:r>
          </a:p>
        </p:txBody>
      </p:sp>
      <p:sp>
        <p:nvSpPr>
          <p:cNvPr id="36" name="Can 35"/>
          <p:cNvSpPr/>
          <p:nvPr/>
        </p:nvSpPr>
        <p:spPr>
          <a:xfrm>
            <a:off x="868680" y="7635240"/>
            <a:ext cx="2103120" cy="82296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FT_GL_DISTRIBUTION_RPT_CURR</a:t>
            </a:r>
          </a:p>
          <a:p>
            <a:pPr algn="ctr">
              <a:spcAft>
                <a:spcPts val="600"/>
              </a:spcAft>
            </a:pPr>
            <a:r>
              <a:rPr sz="950" b="0">
                <a:solidFill>
                  <a:srgbClr val="4C5D69"/>
                </a:solidFill>
              </a:rPr>
              <a:t>GL distribution</a:t>
            </a:r>
          </a:p>
        </p:txBody>
      </p:sp>
      <p:sp>
        <p:nvSpPr>
          <p:cNvPr id="37" name="Can 36"/>
          <p:cNvSpPr/>
          <p:nvPr/>
        </p:nvSpPr>
        <p:spPr>
          <a:xfrm>
            <a:off x="3108960" y="6675120"/>
            <a:ext cx="2103120" cy="82296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BSEG_BILLED_USAGE_RPT_CURR</a:t>
            </a:r>
          </a:p>
          <a:p>
            <a:pPr algn="ctr">
              <a:spcAft>
                <a:spcPts val="600"/>
              </a:spcAft>
            </a:pPr>
            <a:r>
              <a:rPr sz="950" b="0">
                <a:solidFill>
                  <a:srgbClr val="4C5D69"/>
                </a:solidFill>
              </a:rPr>
              <a:t>billed usage per segment</a:t>
            </a:r>
          </a:p>
        </p:txBody>
      </p:sp>
      <p:sp>
        <p:nvSpPr>
          <p:cNvPr id="38" name="Can 37"/>
          <p:cNvSpPr/>
          <p:nvPr/>
        </p:nvSpPr>
        <p:spPr>
          <a:xfrm>
            <a:off x="3108960" y="7635240"/>
            <a:ext cx="2103120" cy="82296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BSEG_SQ_USAGE_RPT_CURR</a:t>
            </a:r>
          </a:p>
          <a:p>
            <a:pPr algn="ctr">
              <a:spcAft>
                <a:spcPts val="600"/>
              </a:spcAft>
            </a:pPr>
            <a:r>
              <a:rPr sz="950" b="0">
                <a:solidFill>
                  <a:srgbClr val="4C5D69"/>
                </a:solidFill>
              </a:rPr>
              <a:t>service quantities</a:t>
            </a:r>
          </a:p>
        </p:txBody>
      </p:sp>
      <p:sp>
        <p:nvSpPr>
          <p:cNvPr id="39" name="Can 38"/>
          <p:cNvSpPr/>
          <p:nvPr/>
        </p:nvSpPr>
        <p:spPr>
          <a:xfrm>
            <a:off x="5349240" y="6675120"/>
            <a:ext cx="2103120" cy="59436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D1_MSRMT_RPT_CURR</a:t>
            </a:r>
          </a:p>
          <a:p>
            <a:pPr algn="ctr">
              <a:spcAft>
                <a:spcPts val="600"/>
              </a:spcAft>
            </a:pPr>
            <a:r>
              <a:rPr sz="950" b="0">
                <a:solidFill>
                  <a:srgbClr val="4C5D69"/>
                </a:solidFill>
              </a:rPr>
              <a:t>measurements</a:t>
            </a:r>
          </a:p>
        </p:txBody>
      </p:sp>
      <p:sp>
        <p:nvSpPr>
          <p:cNvPr id="40" name="Can 39"/>
          <p:cNvSpPr/>
          <p:nvPr/>
        </p:nvSpPr>
        <p:spPr>
          <a:xfrm>
            <a:off x="5349240" y="7360920"/>
            <a:ext cx="2103120" cy="59436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D1_USAGE_RPT_CURR</a:t>
            </a:r>
          </a:p>
          <a:p>
            <a:pPr algn="ctr">
              <a:spcAft>
                <a:spcPts val="600"/>
              </a:spcAft>
            </a:pPr>
            <a:r>
              <a:rPr sz="950" b="0">
                <a:solidFill>
                  <a:srgbClr val="4C5D69"/>
                </a:solidFill>
              </a:rPr>
              <a:t>usage transactions</a:t>
            </a:r>
          </a:p>
        </p:txBody>
      </p:sp>
      <p:sp>
        <p:nvSpPr>
          <p:cNvPr id="41" name="Can 40"/>
          <p:cNvSpPr/>
          <p:nvPr/>
        </p:nvSpPr>
        <p:spPr>
          <a:xfrm>
            <a:off x="5349240" y="8046720"/>
            <a:ext cx="2103120" cy="59436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D1_USAGE_SCALAR_DTL_RPT_CURR</a:t>
            </a:r>
          </a:p>
          <a:p>
            <a:pPr algn="ctr">
              <a:spcAft>
                <a:spcPts val="600"/>
              </a:spcAft>
            </a:pPr>
            <a:r>
              <a:rPr sz="950" b="0">
                <a:solidFill>
                  <a:srgbClr val="4C5D69"/>
                </a:solidFill>
              </a:rPr>
              <a:t>usage scalar detail</a:t>
            </a:r>
          </a:p>
        </p:txBody>
      </p:sp>
      <p:sp>
        <p:nvSpPr>
          <p:cNvPr id="42" name="Rounded Rectangle 41"/>
          <p:cNvSpPr/>
          <p:nvPr/>
        </p:nvSpPr>
        <p:spPr>
          <a:xfrm>
            <a:off x="86868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Finance domains</a:t>
            </a:r>
          </a:p>
        </p:txBody>
      </p:sp>
      <p:sp>
        <p:nvSpPr>
          <p:cNvPr id="43" name="Rounded Rectangle 42"/>
          <p:cNvSpPr/>
          <p:nvPr/>
        </p:nvSpPr>
        <p:spPr>
          <a:xfrm>
            <a:off x="310896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Billing and Rates domains</a:t>
            </a:r>
          </a:p>
        </p:txBody>
      </p:sp>
      <p:sp>
        <p:nvSpPr>
          <p:cNvPr id="44" name="Rounded Rectangle 43"/>
          <p:cNvSpPr/>
          <p:nvPr/>
        </p:nvSpPr>
        <p:spPr>
          <a:xfrm>
            <a:off x="534924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Usage and measurement domains</a:t>
            </a:r>
          </a:p>
        </p:txBody>
      </p:sp>
      <p:sp>
        <p:nvSpPr>
          <p:cNvPr id="45" name="Can 44"/>
          <p:cNvSpPr/>
          <p:nvPr/>
        </p:nvSpPr>
        <p:spPr>
          <a:xfrm>
            <a:off x="7863840" y="6675120"/>
            <a:ext cx="2377440" cy="868680"/>
          </a:xfrm>
          <a:prstGeom prst="can">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000" b="1">
                <a:solidFill>
                  <a:srgbClr val="0B3D7A"/>
                </a:solidFill>
              </a:rPr>
              <a:t>CMS_SA_SNAPSHOT</a:t>
            </a:r>
          </a:p>
          <a:p>
            <a:pPr algn="ctr">
              <a:spcAft>
                <a:spcPts val="600"/>
              </a:spcAft>
            </a:pPr>
            <a:r>
              <a:rPr sz="950" b="0">
                <a:solidFill>
                  <a:srgbClr val="4C5D69"/>
                </a:solidFill>
              </a:rPr>
              <a:t>aged balance per SA, refreshed by procedure</a:t>
            </a:r>
          </a:p>
        </p:txBody>
      </p:sp>
      <p:sp>
        <p:nvSpPr>
          <p:cNvPr id="46" name="Rounded Rectangle 45"/>
          <p:cNvSpPr/>
          <p:nvPr/>
        </p:nvSpPr>
        <p:spPr>
          <a:xfrm>
            <a:off x="7863840" y="7726679"/>
            <a:ext cx="2377440" cy="6400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CM_SNAPSHOT_TYPE_FLG</a:t>
            </a:r>
          </a:p>
          <a:p>
            <a:pPr algn="ctr">
              <a:spcAft>
                <a:spcPts val="600"/>
              </a:spcAft>
            </a:pPr>
            <a:r>
              <a:rPr sz="950" b="0">
                <a:solidFill>
                  <a:srgbClr val="4C5D69"/>
                </a:solidFill>
              </a:rPr>
              <a:t>lookup seed: LDAY, EMON, ARCH, LEMN</a:t>
            </a:r>
          </a:p>
        </p:txBody>
      </p:sp>
      <p:sp>
        <p:nvSpPr>
          <p:cNvPr id="47" name="Rounded Rectangle 46"/>
          <p:cNvSpPr/>
          <p:nvPr/>
        </p:nvSpPr>
        <p:spPr>
          <a:xfrm>
            <a:off x="7863840" y="9006840"/>
            <a:ext cx="23774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SA Snapshot Aged Balance domain</a:t>
            </a:r>
          </a:p>
        </p:txBody>
      </p:sp>
      <p:sp>
        <p:nvSpPr>
          <p:cNvPr id="48" name="Rounded Rectangle 47"/>
          <p:cNvSpPr/>
          <p:nvPr/>
        </p:nvSpPr>
        <p:spPr>
          <a:xfrm>
            <a:off x="10515600" y="6675120"/>
            <a:ext cx="29718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CMS_D1_DVC_IDENTIFIER_VW</a:t>
            </a:r>
          </a:p>
        </p:txBody>
      </p:sp>
      <p:sp>
        <p:nvSpPr>
          <p:cNvPr id="49" name="Rounded Rectangle 48"/>
          <p:cNvSpPr/>
          <p:nvPr/>
        </p:nvSpPr>
        <p:spPr>
          <a:xfrm>
            <a:off x="10515600" y="7223760"/>
            <a:ext cx="29718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CMS_D1_DVC_BODA_VW</a:t>
            </a:r>
          </a:p>
        </p:txBody>
      </p:sp>
      <p:sp>
        <p:nvSpPr>
          <p:cNvPr id="50" name="Rounded Rectangle 49"/>
          <p:cNvSpPr/>
          <p:nvPr/>
        </p:nvSpPr>
        <p:spPr>
          <a:xfrm>
            <a:off x="10515600" y="7772400"/>
            <a:ext cx="29718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CMS_W1_ASSET_IDENTIFIER_VW</a:t>
            </a:r>
          </a:p>
        </p:txBody>
      </p:sp>
      <p:sp>
        <p:nvSpPr>
          <p:cNvPr id="51" name="Rounded Rectangle 50"/>
          <p:cNvSpPr/>
          <p:nvPr/>
        </p:nvSpPr>
        <p:spPr>
          <a:xfrm>
            <a:off x="1051560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Device domain</a:t>
            </a:r>
          </a:p>
        </p:txBody>
      </p:sp>
      <p:sp>
        <p:nvSpPr>
          <p:cNvPr id="52" name="Rounded Rectangle 51"/>
          <p:cNvSpPr/>
          <p:nvPr/>
        </p:nvSpPr>
        <p:spPr>
          <a:xfrm>
            <a:off x="1207008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Asset domain</a:t>
            </a:r>
          </a:p>
        </p:txBody>
      </p:sp>
      <p:sp>
        <p:nvSpPr>
          <p:cNvPr id="53" name="Rounded Rectangle 52"/>
          <p:cNvSpPr/>
          <p:nvPr/>
        </p:nvSpPr>
        <p:spPr>
          <a:xfrm>
            <a:off x="13716000" y="6675120"/>
            <a:ext cx="306324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CMS_C1_REPRESENTATIVE_BODA_VW</a:t>
            </a:r>
          </a:p>
        </p:txBody>
      </p:sp>
      <p:sp>
        <p:nvSpPr>
          <p:cNvPr id="54" name="Rounded Rectangle 53"/>
          <p:cNvSpPr/>
          <p:nvPr/>
        </p:nvSpPr>
        <p:spPr>
          <a:xfrm>
            <a:off x="13716000" y="7223760"/>
            <a:ext cx="306324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CMS_D1_ACTIVITY_CHAR_VW</a:t>
            </a:r>
          </a:p>
        </p:txBody>
      </p:sp>
      <p:sp>
        <p:nvSpPr>
          <p:cNvPr id="55" name="Rounded Rectangle 54"/>
          <p:cNvSpPr/>
          <p:nvPr/>
        </p:nvSpPr>
        <p:spPr>
          <a:xfrm>
            <a:off x="13716000" y="7772400"/>
            <a:ext cx="306324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CMS_D1_ACTIVITY_D1FA_BODA_VW</a:t>
            </a:r>
          </a:p>
        </p:txBody>
      </p:sp>
      <p:sp>
        <p:nvSpPr>
          <p:cNvPr id="56" name="Rounded Rectangle 55"/>
          <p:cNvSpPr/>
          <p:nvPr/>
        </p:nvSpPr>
        <p:spPr>
          <a:xfrm>
            <a:off x="137160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Crew domain</a:t>
            </a:r>
          </a:p>
        </p:txBody>
      </p:sp>
      <p:sp>
        <p:nvSpPr>
          <p:cNvPr id="57" name="Rounded Rectangle 56"/>
          <p:cNvSpPr/>
          <p:nvPr/>
        </p:nvSpPr>
        <p:spPr>
          <a:xfrm>
            <a:off x="153162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Field Activity domain</a:t>
            </a:r>
          </a:p>
        </p:txBody>
      </p:sp>
      <p:sp>
        <p:nvSpPr>
          <p:cNvPr id="58" name="Rounded Rectangle 57"/>
          <p:cNvSpPr/>
          <p:nvPr/>
        </p:nvSpPr>
        <p:spPr>
          <a:xfrm>
            <a:off x="17007840" y="6675120"/>
            <a:ext cx="21945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CMS_CI_CASE_VW</a:t>
            </a:r>
          </a:p>
        </p:txBody>
      </p:sp>
      <p:sp>
        <p:nvSpPr>
          <p:cNvPr id="59" name="Rounded Rectangle 58"/>
          <p:cNvSpPr/>
          <p:nvPr/>
        </p:nvSpPr>
        <p:spPr>
          <a:xfrm>
            <a:off x="17007840" y="7223760"/>
            <a:ext cx="21945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CMS_CI_CASE_LOG_VW</a:t>
            </a:r>
          </a:p>
        </p:txBody>
      </p:sp>
      <p:sp>
        <p:nvSpPr>
          <p:cNvPr id="60" name="Rounded Rectangle 59"/>
          <p:cNvSpPr/>
          <p:nvPr/>
        </p:nvSpPr>
        <p:spPr>
          <a:xfrm>
            <a:off x="17007840" y="9006840"/>
            <a:ext cx="21945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Case domain</a:t>
            </a:r>
          </a:p>
        </p:txBody>
      </p:sp>
      <p:cxnSp>
        <p:nvCxnSpPr>
          <p:cNvPr id="61" name="Connector 60"/>
          <p:cNvCxnSpPr/>
          <p:nvPr/>
        </p:nvCxnSpPr>
        <p:spPr>
          <a:xfrm>
            <a:off x="302666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95274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06170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11987784" y="2720339"/>
            <a:ext cx="274320" cy="2286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5828263" y="3474720"/>
            <a:ext cx="2322577" cy="2286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8150839" y="3703320"/>
            <a:ext cx="1" cy="3200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66420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380744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1556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7955279" y="4503420"/>
            <a:ext cx="457201"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5532120" y="4503420"/>
            <a:ext cx="41148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2660904" y="4503420"/>
            <a:ext cx="40233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297680" y="4937760"/>
            <a:ext cx="0" cy="41148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297680" y="5349240"/>
            <a:ext cx="54864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9784080" y="49377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4572000" y="5029200"/>
            <a:ext cx="5486400" cy="365760"/>
          </a:xfrm>
          <a:prstGeom prst="rect">
            <a:avLst/>
          </a:prstGeom>
          <a:noFill/>
        </p:spPr>
        <p:txBody>
          <a:bodyPr wrap="square" anchor="b" lIns="0" rIns="0" tIns="54864" bIns="54864">
            <a:spAutoFit/>
          </a:bodyPr>
          <a:lstStyle/>
          <a:p>
            <a:pPr algn="l">
              <a:spcAft>
                <a:spcPts val="600"/>
              </a:spcAft>
            </a:pPr>
            <a:r>
              <a:rPr sz="1100" b="1">
                <a:solidFill>
                  <a:srgbClr val="F5EFE9"/>
                </a:solidFill>
              </a:rPr>
              <a:t>every 12 hours: the newest 3 months rebuilt, older rows kept</a:t>
            </a:r>
          </a:p>
        </p:txBody>
      </p:sp>
      <p:cxnSp>
        <p:nvCxnSpPr>
          <p:cNvPr id="77" name="Connector 76"/>
          <p:cNvCxnSpPr/>
          <p:nvPr/>
        </p:nvCxnSpPr>
        <p:spPr>
          <a:xfrm>
            <a:off x="1920239" y="8458200"/>
            <a:ext cx="0" cy="5486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160520" y="8458200"/>
            <a:ext cx="0" cy="5486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400800" y="8641080"/>
            <a:ext cx="0" cy="3657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052560" y="8366759"/>
            <a:ext cx="0" cy="64008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332720" y="7452360"/>
            <a:ext cx="18288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332720" y="7452360"/>
            <a:ext cx="0" cy="1280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332720" y="8732520"/>
            <a:ext cx="886968"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1219688" y="8732520"/>
            <a:ext cx="4572"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11996928" y="8229600"/>
            <a:ext cx="4572" cy="50292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1996928" y="8732520"/>
            <a:ext cx="77724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2774168" y="8732520"/>
            <a:ext cx="4572"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247620" y="8229600"/>
            <a:ext cx="0" cy="3657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4447520" y="859536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4447520" y="85953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5247620" y="8229600"/>
            <a:ext cx="0" cy="3657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5247620" y="859536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6047720" y="85953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8105120" y="7680960"/>
            <a:ext cx="0" cy="1325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Cylinders are the tables the domains read; the boxes under the three view columns are the CMS views; orange diamonds are gates that stop the rollout. The loop under the second row is the twice-daily rolling refresh.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(1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CMS_SA_SNAPSHOT</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table + refresh procedure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the SA Snapshot Aged Balance domain, its account roll-up (a derived query over this table, not a second object), and every aged-debt view and dashboard on it</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CM_SNAPSHOT_TYPE_FLG</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lookup seed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four snapshot-type codes (LDAY, EMON, ARCH, LEMN) written into the C2M lookup tables. The domain inner-joins them, so a fresh database without the seed returns zero rows in every Ad Hoc 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SA Snapshot Aged Balance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device with its identifiers pivoted from rows into columns: asset id, badge number, serial number, internal meter number, external and MDM ids, NIC id and serial, name, utility device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 Daily Installations, Disconnected Service Points, Meters Not Recently Read</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device's business-object data area parsed out of its XML: business object code, latest status, retirement date and time. One row per device.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CMS_W1_ASSET_IDENTIFIER_VW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asset with its identifiers pivoted into columns, the asset-side twin of the device identifier view, so the Asset domain can join by badge, serial or external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Asset domain; In Storage, Distribution of Installed Assets, Non-Meter Assets</a:t>
                      </a:r>
                    </a:p>
                  </a:txBody>
                  <a:tcPr>
                    <a:solidFill>
                      <a:srgbClr val="F5EF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(2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CMS_C1_REPRESENTATIVE_BODA_VW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representative (crew member) mobile details parsed out of the representative's XML data area: the service areas they cover and their worker capabilities, one row per representative and area or capability.</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 and its views</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CMS_D1_ACTIVITY_CHAR_VW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Activity characteristics pivoted per field activity: internal field-activity status, priority, and the third-party representative code, so the domain filters on them as columns.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CMS_D1_ACTIVITY_D1FA_BODA_VW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field activity's business-object data parsed from XML: instructions and comments, the appointment window and who took it, expiration, requester, external references, and the customer and contact names and phone numbers.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and Field Activity domains; Upcoming Field Work, Cancelations, Average Days per Field Task</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case with its create and close timestamps derived from the case log (the case-created entry and the closing status entry) and the duration in minutes, measured to now while the case is open.</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and every case view</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CMS_CI_CASE_LOG_VW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case log as a timeline: every status change with the previous status, the previous log time, and how long the case sat in the previous and the current state.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(state durations and the case timeline views)</a:t>
                      </a:r>
                    </a:p>
                  </a:txBody>
                  <a:tcPr>
                    <a:solidFill>
                      <a:srgbClr val="F5EF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every year of history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nightly</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12 months; 6 at CityCorp and Odessa; 3 rolling with 24 kept at College Station and Newark</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4" name="Rounded Rectangle 23"/>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5" name="Rounded Rectangle 24"/>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3666744"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3" name="Rounded Rectangle 12"/>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4" name="Rounded Rectangle 13"/>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5" name="Rounded Rectangle 14"/>
          <p:cNvSpPr/>
          <p:nvPr/>
        </p:nvSpPr>
        <p:spPr>
          <a:xfrm>
            <a:off x="13469112"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6" name="Rounded Rectangle 15"/>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7" name="Rounded Rectangle 16"/>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7" name="Rounded Rectangle 26"/>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8" name="Rounded Rectangle 27"/>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9" name="Rounded Rectangle 28"/>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30" name="Rounded Rectangle 29"/>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31" name="TextBox 30"/>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Orange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Promotion Path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Pentagon 4"/>
          <p:cNvSpPr/>
          <p:nvPr/>
        </p:nvSpPr>
        <p:spPr>
          <a:xfrm>
            <a:off x="740664" y="2834640"/>
            <a:ext cx="4903470" cy="1645920"/>
          </a:xfrm>
          <a:prstGeom prst="homePlate">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Origin_DEV</a:t>
            </a:r>
          </a:p>
          <a:p>
            <a:pPr algn="ctr">
              <a:spcAft>
                <a:spcPts val="600"/>
              </a:spcAft>
            </a:pPr>
            <a:r>
              <a:rPr sz="1400" b="0">
                <a:solidFill>
                  <a:srgbClr val="4C5D69"/>
                </a:solidFill>
              </a:rPr>
              <a:t>authoring</a:t>
            </a:r>
          </a:p>
        </p:txBody>
      </p:sp>
      <p:sp>
        <p:nvSpPr>
          <p:cNvPr id="6" name="TextBox 5"/>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Every domain, view, report and dashboard is built here first</a:t>
            </a:r>
          </a:p>
          <a:p>
            <a:pPr algn="l">
              <a:spcAft>
                <a:spcPts val="600"/>
              </a:spcAft>
            </a:pPr>
            <a:r>
              <a:rPr sz="1600" b="0">
                <a:solidFill>
                  <a:srgbClr val="F5EFE9"/>
                </a:solidFill>
              </a:rPr>
              <a:t>The only place content is ever edited by hand</a:t>
            </a:r>
          </a:p>
        </p:txBody>
      </p:sp>
      <p:sp>
        <p:nvSpPr>
          <p:cNvPr id="7" name="Chevron 6"/>
          <p:cNvSpPr/>
          <p:nvPr/>
        </p:nvSpPr>
        <p:spPr>
          <a:xfrm>
            <a:off x="532409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Origin_TEST</a:t>
            </a:r>
          </a:p>
          <a:p>
            <a:pPr algn="ctr">
              <a:spcAft>
                <a:spcPts val="600"/>
              </a:spcAft>
            </a:pPr>
            <a:r>
              <a:rPr sz="1400" b="0">
                <a:solidFill>
                  <a:srgbClr val="4C5D69"/>
                </a:solidFill>
              </a:rPr>
              <a:t>proving</a:t>
            </a:r>
          </a:p>
        </p:txBody>
      </p:sp>
      <p:sp>
        <p:nvSpPr>
          <p:cNvPr id="8" name="TextBox 7"/>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The first promotion, with the seven proofs</a:t>
            </a:r>
          </a:p>
          <a:p>
            <a:pPr algn="l">
              <a:spcAft>
                <a:spcPts val="600"/>
              </a:spcAft>
            </a:pPr>
            <a:r>
              <a:rPr sz="1600" b="0">
                <a:solidFill>
                  <a:srgbClr val="F5EFE9"/>
                </a:solidFill>
              </a:rPr>
              <a:t>The offering is executed end to end before any client sees it</a:t>
            </a:r>
          </a:p>
        </p:txBody>
      </p:sp>
      <p:sp>
        <p:nvSpPr>
          <p:cNvPr id="9" name="Chevron 8"/>
          <p:cNvSpPr/>
          <p:nvPr/>
        </p:nvSpPr>
        <p:spPr>
          <a:xfrm>
            <a:off x="990752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test org</a:t>
            </a:r>
          </a:p>
          <a:p>
            <a:pPr algn="ctr">
              <a:spcAft>
                <a:spcPts val="600"/>
              </a:spcAft>
            </a:pPr>
            <a:r>
              <a:rPr sz="1400" b="0">
                <a:solidFill>
                  <a:srgbClr val="4C5D69"/>
                </a:solidFill>
              </a:rPr>
              <a:t>the client's own data</a:t>
            </a:r>
          </a:p>
        </p:txBody>
      </p:sp>
      <p:sp>
        <p:nvSpPr>
          <p:cNvPr id="10" name="TextBox 9"/>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Datasource switched to the client's test database</a:t>
            </a:r>
          </a:p>
          <a:p>
            <a:pPr algn="l">
              <a:spcAft>
                <a:spcPts val="600"/>
              </a:spcAft>
            </a:pPr>
            <a:r>
              <a:rPr sz="1600" b="0">
                <a:solidFill>
                  <a:srgbClr val="F5EFE9"/>
                </a:solidFill>
              </a:rPr>
              <a:t>Sweep and sign-off on the client's own numbers</a:t>
            </a:r>
          </a:p>
        </p:txBody>
      </p:sp>
      <p:sp>
        <p:nvSpPr>
          <p:cNvPr id="11" name="Chevron 10"/>
          <p:cNvSpPr/>
          <p:nvPr/>
        </p:nvSpPr>
        <p:spPr>
          <a:xfrm>
            <a:off x="14490954" y="2834640"/>
            <a:ext cx="4903470" cy="1645920"/>
          </a:xfrm>
          <a:prstGeom prst="chevron">
            <a:avLst>
              <a:gd name="adj" fmla="val 32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prod org</a:t>
            </a:r>
          </a:p>
          <a:p>
            <a:pPr algn="ctr">
              <a:spcAft>
                <a:spcPts val="600"/>
              </a:spcAft>
            </a:pPr>
            <a:r>
              <a:rPr sz="1400" b="0">
                <a:solidFill>
                  <a:srgbClr val="0B3D7A"/>
                </a:solidFill>
              </a:rPr>
              <a:t>explicit prod flag</a:t>
            </a:r>
          </a:p>
        </p:txBody>
      </p:sp>
      <p:sp>
        <p:nvSpPr>
          <p:cNvPr id="12" name="TextBox 11"/>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Same tool, same proofs, a prod write flag required</a:t>
            </a:r>
          </a:p>
          <a:p>
            <a:pPr algn="l">
              <a:spcAft>
                <a:spcPts val="600"/>
              </a:spcAft>
            </a:pPr>
            <a:r>
              <a:rPr sz="1600" b="0">
                <a:solidFill>
                  <a:srgbClr val="F5EFE9"/>
                </a:solidFill>
              </a:rPr>
              <a:t>Inventory before and diff after: the rollback record</a:t>
            </a:r>
          </a:p>
        </p:txBody>
      </p:sp>
      <p:sp>
        <p:nvSpPr>
          <p:cNvPr id="13" name="Rounded Rectangle 12"/>
          <p:cNvSpPr/>
          <p:nvPr/>
        </p:nvSpPr>
        <p:spPr>
          <a:xfrm>
            <a:off x="74066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datasource changes at every hop</a:t>
            </a:r>
          </a:p>
          <a:p>
            <a:pPr algn="l">
              <a:spcAft>
                <a:spcPts val="600"/>
              </a:spcAft>
            </a:pPr>
            <a:r>
              <a:rPr sz="1500" b="0">
                <a:solidFill>
                  <a:srgbClr val="4C5D69"/>
                </a:solidFill>
              </a:rPr>
              <a:t>the package carries the target's own datasource export, never an edited copy</a:t>
            </a:r>
          </a:p>
        </p:txBody>
      </p:sp>
      <p:sp>
        <p:nvSpPr>
          <p:cNvPr id="14" name="Rounded Rectangle 13"/>
          <p:cNvSpPr/>
          <p:nvPr/>
        </p:nvSpPr>
        <p:spPr>
          <a:xfrm>
            <a:off x="7080503"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same tool at every hop</a:t>
            </a:r>
          </a:p>
          <a:p>
            <a:pPr algn="l">
              <a:spcAft>
                <a:spcPts val="600"/>
              </a:spcAft>
            </a:pPr>
            <a:r>
              <a:rPr sz="1500" b="0">
                <a:solidFill>
                  <a:srgbClr val="4C5D69"/>
                </a:solidFill>
              </a:rPr>
              <a:t>one promotion path from authoring to prod, so every hop is proven the same way</a:t>
            </a:r>
          </a:p>
        </p:txBody>
      </p:sp>
      <p:sp>
        <p:nvSpPr>
          <p:cNvPr id="15" name="Rounded Rectangle 14"/>
          <p:cNvSpPr/>
          <p:nvPr/>
        </p:nvSpPr>
        <p:spPr>
          <a:xfrm>
            <a:off x="1342034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Nothing edited by hand after Origin_DEV</a:t>
            </a:r>
          </a:p>
          <a:p>
            <a:pPr algn="l">
              <a:spcAft>
                <a:spcPts val="600"/>
              </a:spcAft>
            </a:pPr>
            <a:r>
              <a:rPr sz="1500" b="0">
                <a:solidFill>
                  <a:srgbClr val="4C5D69"/>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Standard Offering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Origin_DEV</a:t>
            </a:r>
          </a:p>
          <a:p>
            <a:pPr algn="l">
              <a:spcAft>
                <a:spcPts val="600"/>
              </a:spcAft>
            </a:pPr>
            <a:r>
              <a:rPr sz="1100" b="0">
                <a:solidFill>
                  <a:srgbClr val="F5EFE9"/>
                </a:solidFill>
              </a:rPr>
              <a:t>authoring, the internal server</a:t>
            </a:r>
          </a:p>
        </p:txBody>
      </p:sp>
      <p:sp>
        <p:nvSpPr>
          <p:cNvPr id="7" name="Rounded Rectangle 6"/>
          <p:cNvSpPr/>
          <p:nvPr/>
        </p:nvSpPr>
        <p:spPr>
          <a:xfrm>
            <a:off x="5477256"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41848"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Origin_TEST</a:t>
            </a:r>
          </a:p>
          <a:p>
            <a:pPr algn="l">
              <a:spcAft>
                <a:spcPts val="600"/>
              </a:spcAft>
            </a:pPr>
            <a:r>
              <a:rPr sz="1100" b="0">
                <a:solidFill>
                  <a:srgbClr val="F5EFE9"/>
                </a:solidFill>
              </a:rPr>
              <a:t>proving, before any client</a:t>
            </a:r>
          </a:p>
        </p:txBody>
      </p:sp>
      <p:sp>
        <p:nvSpPr>
          <p:cNvPr id="9" name="Rounded Rectangle 8"/>
          <p:cNvSpPr/>
          <p:nvPr/>
        </p:nvSpPr>
        <p:spPr>
          <a:xfrm>
            <a:off x="10213848"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78440"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test org</a:t>
            </a:r>
          </a:p>
          <a:p>
            <a:pPr algn="l">
              <a:spcAft>
                <a:spcPts val="600"/>
              </a:spcAft>
            </a:pPr>
            <a:r>
              <a:rPr sz="1100" b="0">
                <a:solidFill>
                  <a:srgbClr val="F5EFE9"/>
                </a:solidFill>
              </a:rPr>
              <a:t>the client's own data</a:t>
            </a:r>
          </a:p>
        </p:txBody>
      </p:sp>
      <p:sp>
        <p:nvSpPr>
          <p:cNvPr id="11" name="Rounded Rectangle 10"/>
          <p:cNvSpPr/>
          <p:nvPr/>
        </p:nvSpPr>
        <p:spPr>
          <a:xfrm>
            <a:off x="14950440"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115032"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prod org</a:t>
            </a:r>
          </a:p>
          <a:p>
            <a:pPr algn="l">
              <a:spcAft>
                <a:spcPts val="600"/>
              </a:spcAft>
            </a:pPr>
            <a:r>
              <a:rPr sz="1100" b="0">
                <a:solidFill>
                  <a:srgbClr val="F5EFE9"/>
                </a:solidFill>
              </a:rPr>
              <a:t>read-only until the prod flag is given</a:t>
            </a:r>
          </a:p>
        </p:txBody>
      </p:sp>
      <p:sp>
        <p:nvSpPr>
          <p:cNvPr id="13" name="Rounded Rectangle 12"/>
          <p:cNvSpPr/>
          <p:nvPr/>
        </p:nvSpPr>
        <p:spPr>
          <a:xfrm>
            <a:off x="740664" y="8092440"/>
            <a:ext cx="18653760" cy="178308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813816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After go-live</a:t>
            </a:r>
          </a:p>
          <a:p>
            <a:pPr algn="l">
              <a:spcAft>
                <a:spcPts val="600"/>
              </a:spcAft>
            </a:pPr>
            <a:r>
              <a:rPr sz="1100" b="0">
                <a:solidFill>
                  <a:srgbClr val="F5EFE9"/>
                </a:solidFill>
              </a:rPr>
              <a:t>every change is a tool run with the same proofs, never a hand edit</a:t>
            </a:r>
          </a:p>
        </p:txBody>
      </p:sp>
      <p:sp>
        <p:nvSpPr>
          <p:cNvPr id="15" name="Rounded Rectangle 14"/>
          <p:cNvSpPr/>
          <p:nvPr/>
        </p:nvSpPr>
        <p:spPr>
          <a:xfrm>
            <a:off x="905256" y="251460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Workstreams tree</a:t>
            </a:r>
          </a:p>
          <a:p>
            <a:pPr algn="l">
              <a:spcAft>
                <a:spcPts val="600"/>
              </a:spcAft>
            </a:pPr>
            <a:r>
              <a:rPr sz="1100" b="0">
                <a:solidFill>
                  <a:srgbClr val="4C5D69"/>
                </a:solidFill>
              </a:rPr>
              <a:t>domains, Ad Hoc views, reports and dashboards: the only content edited by hand</a:t>
            </a:r>
          </a:p>
        </p:txBody>
      </p:sp>
      <p:sp>
        <p:nvSpPr>
          <p:cNvPr id="16" name="Rounded Rectangle 15"/>
          <p:cNvSpPr/>
          <p:nvPr/>
        </p:nvSpPr>
        <p:spPr>
          <a:xfrm>
            <a:off x="905256" y="35661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Export the org</a:t>
            </a:r>
          </a:p>
          <a:p>
            <a:pPr algn="l">
              <a:spcAft>
                <a:spcPts val="600"/>
              </a:spcAft>
            </a:pPr>
            <a:r>
              <a:rPr sz="1100" b="0">
                <a:solidFill>
                  <a:srgbClr val="4C5D69"/>
                </a:solidFill>
              </a:rPr>
              <a:t>one API export task, polled, downloaded</a:t>
            </a:r>
          </a:p>
        </p:txBody>
      </p:sp>
      <p:sp>
        <p:nvSpPr>
          <p:cNvPr id="17" name="Rounded Rectangle 16"/>
          <p:cNvSpPr/>
          <p:nvPr/>
        </p:nvSpPr>
        <p:spPr>
          <a:xfrm>
            <a:off x="905256" y="4434840"/>
            <a:ext cx="4114800" cy="14173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Build the package</a:t>
            </a:r>
          </a:p>
          <a:p>
            <a:pPr algn="l">
              <a:spcAft>
                <a:spcPts val="600"/>
              </a:spcAft>
            </a:pPr>
            <a:r>
              <a:rPr sz="1100" b="0">
                <a:solidFill>
                  <a:srgbClr val="4C5D69"/>
                </a:solidFill>
              </a:rPr>
              <a:t>inventory and classify the export; keep the offering list; one copy of each domain in one home; carry the datasource; rewrite every path; strip print wrappers; narrow the import index</a:t>
            </a:r>
          </a:p>
        </p:txBody>
      </p:sp>
      <p:sp>
        <p:nvSpPr>
          <p:cNvPr id="18" name="Diamond 17"/>
          <p:cNvSpPr/>
          <p:nvPr/>
        </p:nvSpPr>
        <p:spPr>
          <a:xfrm>
            <a:off x="2185415" y="612648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package verifies?</a:t>
            </a:r>
          </a:p>
        </p:txBody>
      </p:sp>
      <p:sp>
        <p:nvSpPr>
          <p:cNvPr id="19" name="Rounded Rectangle 18"/>
          <p:cNvSpPr/>
          <p:nvPr/>
        </p:nvSpPr>
        <p:spPr>
          <a:xfrm>
            <a:off x="5641848" y="25146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update in place</a:t>
            </a:r>
          </a:p>
          <a:p>
            <a:pPr algn="l">
              <a:spcAft>
                <a:spcPts val="600"/>
              </a:spcAft>
            </a:pPr>
            <a:r>
              <a:rPr sz="1100" b="0">
                <a:solidFill>
                  <a:srgbClr val="4C5D69"/>
                </a:solidFill>
              </a:rPr>
              <a:t>polled; an importer warning counts as a failure</a:t>
            </a:r>
          </a:p>
        </p:txBody>
      </p:sp>
      <p:sp>
        <p:nvSpPr>
          <p:cNvPr id="20" name="Rounded Rectangle 19"/>
          <p:cNvSpPr/>
          <p:nvPr/>
        </p:nvSpPr>
        <p:spPr>
          <a:xfrm>
            <a:off x="5641848" y="3429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Re-export and compare</a:t>
            </a:r>
          </a:p>
          <a:p>
            <a:pPr algn="l">
              <a:spcAft>
                <a:spcPts val="600"/>
              </a:spcAft>
            </a:pPr>
            <a:r>
              <a:rPr sz="1100" b="0">
                <a:solidFill>
                  <a:srgbClr val="4C5D69"/>
                </a:solidFill>
              </a:rPr>
              <a:t>byte-equal inside the scope, importer stamps ignored</a:t>
            </a:r>
          </a:p>
        </p:txBody>
      </p:sp>
      <p:sp>
        <p:nvSpPr>
          <p:cNvPr id="21" name="Rounded Rectangle 20"/>
          <p:cNvSpPr/>
          <p:nvPr/>
        </p:nvSpPr>
        <p:spPr>
          <a:xfrm>
            <a:off x="5641848" y="4343400"/>
            <a:ext cx="41148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Execute everything</a:t>
            </a:r>
          </a:p>
          <a:p>
            <a:pPr algn="l">
              <a:spcAft>
                <a:spcPts val="600"/>
              </a:spcAft>
            </a:pPr>
            <a:r>
              <a:rPr sz="1100" b="0">
                <a:solidFill>
                  <a:srgbClr val="4C5D69"/>
                </a:solidFill>
              </a:rPr>
              <a:t>views by query, reports as PDF, domains by metadata and probe</a:t>
            </a:r>
          </a:p>
        </p:txBody>
      </p:sp>
      <p:sp>
        <p:nvSpPr>
          <p:cNvPr id="22" name="Diamond 21"/>
          <p:cNvSpPr/>
          <p:nvPr/>
        </p:nvSpPr>
        <p:spPr>
          <a:xfrm>
            <a:off x="6922008" y="539496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23" name="Rounded Rectangle 22"/>
          <p:cNvSpPr/>
          <p:nvPr/>
        </p:nvSpPr>
        <p:spPr>
          <a:xfrm>
            <a:off x="5641848" y="64008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400" b="1">
                <a:solidFill>
                  <a:srgbClr val="0B3D7A"/>
                </a:solidFill>
              </a:rPr>
              <a:t>Proven offering</a:t>
            </a:r>
          </a:p>
          <a:p>
            <a:pPr algn="ctr">
              <a:spcAft>
                <a:spcPts val="600"/>
              </a:spcAft>
            </a:pPr>
            <a:r>
              <a:rPr sz="1100" b="0">
                <a:solidFill>
                  <a:srgbClr val="4C5D69"/>
                </a:solidFill>
              </a:rPr>
              <a:t>the package every client promotion starts from</a:t>
            </a:r>
          </a:p>
        </p:txBody>
      </p:sp>
      <p:sp>
        <p:nvSpPr>
          <p:cNvPr id="24" name="Rounded Rectangle 23"/>
          <p:cNvSpPr/>
          <p:nvPr/>
        </p:nvSpPr>
        <p:spPr>
          <a:xfrm>
            <a:off x="10378440" y="251460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every resource on the org before anything changes</a:t>
            </a:r>
          </a:p>
        </p:txBody>
      </p:sp>
      <p:sp>
        <p:nvSpPr>
          <p:cNvPr id="25" name="Rounded Rectangle 24"/>
          <p:cNvSpPr/>
          <p:nvPr/>
        </p:nvSpPr>
        <p:spPr>
          <a:xfrm>
            <a:off x="10378440" y="3383280"/>
            <a:ext cx="4114800" cy="10972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Rebuild for the client</a:t>
            </a:r>
          </a:p>
          <a:p>
            <a:pPr algn="l">
              <a:spcAft>
                <a:spcPts val="600"/>
              </a:spcAft>
            </a:pPr>
            <a:r>
              <a:rPr sz="1100" b="0">
                <a:solidFill>
                  <a:srgbClr val="4C5D69"/>
                </a:solidFill>
              </a:rPr>
              <a:t>the client's own datasource export carried byte for byte; org path, folder, alias and tenant root rewritten</a:t>
            </a:r>
          </a:p>
        </p:txBody>
      </p:sp>
      <p:sp>
        <p:nvSpPr>
          <p:cNvPr id="26" name="Diamond 25"/>
          <p:cNvSpPr/>
          <p:nvPr/>
        </p:nvSpPr>
        <p:spPr>
          <a:xfrm>
            <a:off x="11247119" y="4617720"/>
            <a:ext cx="237744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verified? no source strings, references exist, fields resolve</a:t>
            </a:r>
          </a:p>
        </p:txBody>
      </p:sp>
      <p:sp>
        <p:nvSpPr>
          <p:cNvPr id="27" name="Rounded Rectangle 26"/>
          <p:cNvSpPr/>
          <p:nvPr/>
        </p:nvSpPr>
        <p:spPr>
          <a:xfrm>
            <a:off x="10378440" y="571500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compare, execute</a:t>
            </a:r>
          </a:p>
          <a:p>
            <a:pPr algn="l">
              <a:spcAft>
                <a:spcPts val="600"/>
              </a:spcAft>
            </a:pPr>
            <a:r>
              <a:rPr sz="1100" b="0">
                <a:solidFill>
                  <a:srgbClr val="4C5D69"/>
                </a:solidFill>
              </a:rPr>
              <a:t>the same three proofs as Origin_TEST</a:t>
            </a:r>
          </a:p>
        </p:txBody>
      </p:sp>
      <p:sp>
        <p:nvSpPr>
          <p:cNvPr id="28" name="Rounded Rectangle 27"/>
          <p:cNvSpPr/>
          <p:nvPr/>
        </p:nvSpPr>
        <p:spPr>
          <a:xfrm>
            <a:off x="10378440" y="658368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PASS, EMPTY, SLOW or FAIL per resource with timing; one document per org</a:t>
            </a:r>
          </a:p>
        </p:txBody>
      </p:sp>
      <p:sp>
        <p:nvSpPr>
          <p:cNvPr id="29" name="Rounded Rectangle 28"/>
          <p:cNvSpPr/>
          <p:nvPr/>
        </p:nvSpPr>
        <p:spPr>
          <a:xfrm>
            <a:off x="15115032"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200" b="1">
                <a:solidFill>
                  <a:srgbClr val="0B3D7A"/>
                </a:solidFill>
              </a:rPr>
              <a:t>explicit prod flag required</a:t>
            </a:r>
          </a:p>
        </p:txBody>
      </p:sp>
      <p:sp>
        <p:nvSpPr>
          <p:cNvPr id="30" name="Rounded Rectangle 29"/>
          <p:cNvSpPr/>
          <p:nvPr/>
        </p:nvSpPr>
        <p:spPr>
          <a:xfrm>
            <a:off x="15115032" y="310896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the rollback baseline</a:t>
            </a:r>
          </a:p>
        </p:txBody>
      </p:sp>
      <p:sp>
        <p:nvSpPr>
          <p:cNvPr id="31" name="Rounded Rectangle 30"/>
          <p:cNvSpPr/>
          <p:nvPr/>
        </p:nvSpPr>
        <p:spPr>
          <a:xfrm>
            <a:off x="15115032" y="3931920"/>
            <a:ext cx="4114800" cy="10058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Same promotion, same proofs</a:t>
            </a:r>
          </a:p>
          <a:p>
            <a:pPr algn="l">
              <a:spcAft>
                <a:spcPts val="600"/>
              </a:spcAft>
            </a:pPr>
            <a:r>
              <a:rPr sz="1100" b="0">
                <a:solidFill>
                  <a:srgbClr val="4C5D69"/>
                </a:solidFill>
              </a:rPr>
              <a:t>target datasource carried; rewritten; verified; imported; compared; executed</a:t>
            </a:r>
          </a:p>
        </p:txBody>
      </p:sp>
      <p:sp>
        <p:nvSpPr>
          <p:cNvPr id="32" name="Diamond 31"/>
          <p:cNvSpPr/>
          <p:nvPr/>
        </p:nvSpPr>
        <p:spPr>
          <a:xfrm>
            <a:off x="16395192" y="507492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33" name="Rounded Rectangle 32"/>
          <p:cNvSpPr/>
          <p:nvPr/>
        </p:nvSpPr>
        <p:spPr>
          <a:xfrm>
            <a:off x="15115032" y="603504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on the client's prod numbers</a:t>
            </a:r>
          </a:p>
        </p:txBody>
      </p:sp>
      <p:sp>
        <p:nvSpPr>
          <p:cNvPr id="34" name="Rounded Rectangle 33"/>
          <p:cNvSpPr/>
          <p:nvPr/>
        </p:nvSpPr>
        <p:spPr>
          <a:xfrm>
            <a:off x="15115032" y="6858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Diff after = rollback record</a:t>
            </a:r>
          </a:p>
          <a:p>
            <a:pPr algn="l">
              <a:spcAft>
                <a:spcPts val="600"/>
              </a:spcAft>
            </a:pPr>
            <a:r>
              <a:rPr sz="1100" b="0">
                <a:solidFill>
                  <a:srgbClr val="4C5D69"/>
                </a:solidFill>
              </a:rPr>
              <a:t>inventory before against after: nothing else moved</a:t>
            </a:r>
          </a:p>
        </p:txBody>
      </p:sp>
      <p:sp>
        <p:nvSpPr>
          <p:cNvPr id="35" name="Rounded Rectangle 34"/>
          <p:cNvSpPr/>
          <p:nvPr/>
        </p:nvSpPr>
        <p:spPr>
          <a:xfrm>
            <a:off x="914400" y="8641080"/>
            <a:ext cx="5852160" cy="10515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Additive-only domain patch</a:t>
            </a:r>
          </a:p>
          <a:p>
            <a:pPr algn="l">
              <a:spcAft>
                <a:spcPts val="600"/>
              </a:spcAft>
            </a:pPr>
            <a:r>
              <a:rPr sz="1100" b="0">
                <a:solidFill>
                  <a:srgbClr val="4C5D69"/>
                </a:solidFill>
              </a:rPr>
              <a:t>the additions guard refuses any change to what is there; seven proofs per org; one-command restore</a:t>
            </a:r>
          </a:p>
        </p:txBody>
      </p:sp>
      <p:sp>
        <p:nvSpPr>
          <p:cNvPr id="36" name="Rounded Rectangle 35"/>
          <p:cNvSpPr/>
          <p:nvPr/>
        </p:nvSpPr>
        <p:spPr>
          <a:xfrm>
            <a:off x="7132320" y="8641080"/>
            <a:ext cx="5852160" cy="10515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Standardized Reports folder</a:t>
            </a:r>
          </a:p>
          <a:p>
            <a:pPr algn="l">
              <a:spcAft>
                <a:spcPts val="600"/>
              </a:spcAft>
            </a:pPr>
            <a:r>
              <a:rPr sz="1100" b="0">
                <a:solidFill>
                  <a:srgbClr val="4C5D69"/>
                </a:solidFill>
              </a:rPr>
              <a:t>scheduled SQL reports in one place on every org, promoted by the same tool</a:t>
            </a:r>
          </a:p>
        </p:txBody>
      </p:sp>
      <p:sp>
        <p:nvSpPr>
          <p:cNvPr id="37" name="Rounded Rectangle 36"/>
          <p:cNvSpPr/>
          <p:nvPr/>
        </p:nvSpPr>
        <p:spPr>
          <a:xfrm>
            <a:off x="13350240" y="8641080"/>
            <a:ext cx="5852160" cy="10515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after every change</a:t>
            </a:r>
          </a:p>
          <a:p>
            <a:pPr algn="l">
              <a:spcAft>
                <a:spcPts val="600"/>
              </a:spcAft>
            </a:pPr>
            <a:r>
              <a:rPr sz="1100" b="0">
                <a:solidFill>
                  <a:srgbClr val="4C5D69"/>
                </a:solidFill>
              </a:rPr>
              <a:t>the sign-off is regenerated; the first red row is the alert</a:t>
            </a:r>
          </a:p>
        </p:txBody>
      </p:sp>
      <p:cxnSp>
        <p:nvCxnSpPr>
          <p:cNvPr id="38" name="Connector 37"/>
          <p:cNvCxnSpPr/>
          <p:nvPr/>
        </p:nvCxnSpPr>
        <p:spPr>
          <a:xfrm>
            <a:off x="2962656" y="34290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962656" y="4297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962656" y="5852159"/>
            <a:ext cx="0" cy="27432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739896" y="6537960"/>
            <a:ext cx="159105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330952" y="2898648"/>
            <a:ext cx="0" cy="3639312"/>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330952" y="2898648"/>
            <a:ext cx="310896" cy="4572"/>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99248" y="3291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699248" y="42062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699248" y="521208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99248" y="621792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756648" y="6784848"/>
            <a:ext cx="310896" cy="4572"/>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067544" y="2880360"/>
            <a:ext cx="0" cy="3904488"/>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067544" y="288036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435840" y="324612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435840" y="44805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2435840" y="5577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2435840" y="644652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4493240" y="704088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4804136" y="2743200"/>
            <a:ext cx="0" cy="429768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4804136" y="274320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7172432"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7172432" y="3794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7172432" y="4937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7172432" y="58978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7172432" y="6720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7007840" y="7635240"/>
            <a:ext cx="164592" cy="301752"/>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6276320" y="7936992"/>
            <a:ext cx="73152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6276320" y="7936992"/>
            <a:ext cx="0" cy="704088"/>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Orange diamonds are gates: a failed gate stops the run and names the rollback. The Workstreams tree is never moved; the offering is a curated copy promoted org by 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13286232" y="3502152"/>
            <a:ext cx="109728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guardrail</a:t>
            </a:r>
          </a:p>
        </p:txBody>
      </p:sp>
      <p:sp>
        <p:nvSpPr>
          <p:cNvPr id="14" name="Rounded Rectangle 13"/>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6" name="Rounded Rectangle 15"/>
          <p:cNvSpPr/>
          <p:nvPr/>
        </p:nvSpPr>
        <p:spPr>
          <a:xfrm>
            <a:off x="15435072" y="7132320"/>
            <a:ext cx="3931920" cy="109728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sp>
        <p:nvSpPr>
          <p:cNvPr id="17" name="Rounded Rectangle 16"/>
          <p:cNvSpPr/>
          <p:nvPr/>
        </p:nvSpPr>
        <p:spPr>
          <a:xfrm>
            <a:off x="18544031" y="674827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human</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One Sweep, Read Closely</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Chart 4"/>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6" name="Rounded Rectangle 5"/>
          <p:cNvSpPr/>
          <p:nvPr/>
        </p:nvSpPr>
        <p:spPr>
          <a:xfrm>
            <a:off x="9875520" y="2103120"/>
            <a:ext cx="2377440" cy="502920"/>
          </a:xfrm>
          <a:prstGeom prst="roundRect">
            <a:avLst>
              <a:gd name="adj" fmla="val 35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OK  116</a:t>
            </a:r>
          </a:p>
        </p:txBody>
      </p:sp>
      <p:sp>
        <p:nvSpPr>
          <p:cNvPr id="7" name="TextBox 6"/>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inside the time limit</a:t>
            </a:r>
          </a:p>
        </p:txBody>
      </p:sp>
      <p:sp>
        <p:nvSpPr>
          <p:cNvPr id="8" name="Rounded Rectangle 7"/>
          <p:cNvSpPr/>
          <p:nvPr/>
        </p:nvSpPr>
        <p:spPr>
          <a:xfrm>
            <a:off x="9875520" y="2834639"/>
            <a:ext cx="2377440" cy="502920"/>
          </a:xfrm>
          <a:prstGeom prst="roundRect">
            <a:avLst>
              <a:gd name="adj" fmla="val 35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Slow  27</a:t>
            </a:r>
          </a:p>
        </p:txBody>
      </p:sp>
      <p:sp>
        <p:nvSpPr>
          <p:cNvPr id="9" name="TextBox 8"/>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but took over a minute: a tuning list, not a failure</a:t>
            </a:r>
          </a:p>
        </p:txBody>
      </p:sp>
      <p:sp>
        <p:nvSpPr>
          <p:cNvPr id="10" name="Rounded Rectangle 9"/>
          <p:cNvSpPr/>
          <p:nvPr/>
        </p:nvSpPr>
        <p:spPr>
          <a:xfrm>
            <a:off x="9875520" y="3566159"/>
            <a:ext cx="23774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Empty  7</a:t>
            </a:r>
          </a:p>
        </p:txBody>
      </p:sp>
      <p:sp>
        <p:nvSpPr>
          <p:cNvPr id="11" name="TextBox 10"/>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without error and returned no rows: the client has no data there yet</a:t>
            </a:r>
          </a:p>
        </p:txBody>
      </p:sp>
      <p:sp>
        <p:nvSpPr>
          <p:cNvPr id="12" name="Rounded Rectangle 11"/>
          <p:cNvSpPr/>
          <p:nvPr/>
        </p:nvSpPr>
        <p:spPr>
          <a:xfrm>
            <a:off x="9875520" y="4297679"/>
            <a:ext cx="2377440" cy="502920"/>
          </a:xfrm>
          <a:prstGeom prst="roundRect">
            <a:avLst>
              <a:gd name="adj" fmla="val 35000"/>
            </a:avLst>
          </a:prstGeom>
          <a:solidFill>
            <a:srgbClr val="1D6F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5EFE9"/>
                </a:solidFill>
              </a:rPr>
              <a:t>Failed  0</a:t>
            </a:r>
          </a:p>
        </p:txBody>
      </p:sp>
      <p:sp>
        <p:nvSpPr>
          <p:cNvPr id="13" name="TextBox 12"/>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did not run; there were none</a:t>
            </a:r>
          </a:p>
        </p:txBody>
      </p:sp>
      <p:sp>
        <p:nvSpPr>
          <p:cNvPr id="14" name="Rounded Rectangle 13"/>
          <p:cNvSpPr/>
          <p:nvPr/>
        </p:nvSpPr>
        <p:spPr>
          <a:xfrm>
            <a:off x="9875520" y="5394959"/>
            <a:ext cx="9509760" cy="23774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B3D7A"/>
                </a:solidFill>
              </a:rPr>
              <a:t>150 resources, 0 failures</a:t>
            </a:r>
          </a:p>
          <a:p>
            <a:pPr algn="l">
              <a:spcAft>
                <a:spcPts val="600"/>
              </a:spcAft>
            </a:pPr>
            <a:r>
              <a:rPr sz="1800" b="0">
                <a:solidFill>
                  <a:srgbClr val="4C5D69"/>
                </a:solidFill>
              </a:rPr>
              <a:t>Ellensburg prod, the Standard Offering, 11 minutes end to end; the same sweep runs after every promotion and every domain patch</a:t>
            </a:r>
          </a:p>
        </p:txBody>
      </p:sp>
      <p:sp>
        <p:nvSpPr>
          <p:cNvPr id="15" name="TextBox 14"/>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